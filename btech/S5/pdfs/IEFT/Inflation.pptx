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5" r:id="rId9"/>
    <p:sldId id="266" r:id="rId10"/>
    <p:sldId id="267" r:id="rId11"/>
    <p:sldId id="269" r:id="rId12"/>
    <p:sldId id="270" r:id="rId13"/>
    <p:sldId id="264" r:id="rId14"/>
    <p:sldId id="271" r:id="rId15"/>
    <p:sldId id="273" r:id="rId16"/>
    <p:sldId id="274" r:id="rId17"/>
    <p:sldId id="275" r:id="rId18"/>
    <p:sldId id="272"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2" r:id="rId35"/>
    <p:sldId id="293" r:id="rId36"/>
    <p:sldId id="294" r:id="rId37"/>
    <p:sldId id="291"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FF6600"/>
    <a:srgbClr val="2D64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5907" autoAdjust="0"/>
    <p:restoredTop sz="94660"/>
  </p:normalViewPr>
  <p:slideViewPr>
    <p:cSldViewPr>
      <p:cViewPr>
        <p:scale>
          <a:sx n="63" d="100"/>
          <a:sy n="63" d="100"/>
        </p:scale>
        <p:origin x="-16" y="-11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4CF713F-754A-4741-AD66-F134AC938799}" type="datetimeFigureOut">
              <a:rPr lang="en-US" smtClean="0"/>
              <a:pPr/>
              <a:t>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EEB536-7DAB-4D41-A48B-33F7252F36E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4CF713F-754A-4741-AD66-F134AC938799}" type="datetimeFigureOut">
              <a:rPr lang="en-US" smtClean="0"/>
              <a:pPr/>
              <a:t>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EEB536-7DAB-4D41-A48B-33F7252F36E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4CF713F-754A-4741-AD66-F134AC938799}" type="datetimeFigureOut">
              <a:rPr lang="en-US" smtClean="0"/>
              <a:pPr/>
              <a:t>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EEB536-7DAB-4D41-A48B-33F7252F36E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4CF713F-754A-4741-AD66-F134AC938799}" type="datetimeFigureOut">
              <a:rPr lang="en-US" smtClean="0"/>
              <a:pPr/>
              <a:t>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EEB536-7DAB-4D41-A48B-33F7252F36E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4CF713F-754A-4741-AD66-F134AC938799}" type="datetimeFigureOut">
              <a:rPr lang="en-US" smtClean="0"/>
              <a:pPr/>
              <a:t>2/4/2022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4EEB536-7DAB-4D41-A48B-33F7252F36E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4CF713F-754A-4741-AD66-F134AC938799}" type="datetimeFigureOut">
              <a:rPr lang="en-US" smtClean="0"/>
              <a:pPr/>
              <a:t>2/4/2022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4EEB536-7DAB-4D41-A48B-33F7252F36E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CF713F-754A-4741-AD66-F134AC938799}" type="datetimeFigureOut">
              <a:rPr lang="en-US" smtClean="0"/>
              <a:pPr/>
              <a:t>2/4/2022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4EEB536-7DAB-4D41-A48B-33F7252F36E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4CF713F-754A-4741-AD66-F134AC938799}" type="datetimeFigureOut">
              <a:rPr lang="en-US" smtClean="0"/>
              <a:pPr/>
              <a:t>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EEB536-7DAB-4D41-A48B-33F7252F36E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4CF713F-754A-4741-AD66-F134AC938799}" type="datetimeFigureOut">
              <a:rPr lang="en-US" smtClean="0"/>
              <a:pPr/>
              <a:t>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EEB536-7DAB-4D41-A48B-33F7252F36E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4CF713F-754A-4741-AD66-F134AC938799}" type="datetimeFigureOut">
              <a:rPr lang="en-US" smtClean="0"/>
              <a:pPr/>
              <a:t>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EEB536-7DAB-4D41-A48B-33F7252F36E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4CF713F-754A-4741-AD66-F134AC938799}" type="datetimeFigureOut">
              <a:rPr lang="en-US" smtClean="0"/>
              <a:pPr/>
              <a:t>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EEB536-7DAB-4D41-A48B-33F7252F36E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CF713F-754A-4741-AD66-F134AC938799}" type="datetimeFigureOut">
              <a:rPr lang="en-US" smtClean="0"/>
              <a:pPr/>
              <a:t>2/4/2022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EEB536-7DAB-4D41-A48B-33F7252F36E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u="sng" dirty="0" smtClean="0">
                <a:solidFill>
                  <a:srgbClr val="7030A0"/>
                </a:solidFill>
              </a:rPr>
              <a:t>INFLATION</a:t>
            </a:r>
            <a:br>
              <a:rPr lang="en-US" u="sng" dirty="0" smtClean="0">
                <a:solidFill>
                  <a:srgbClr val="7030A0"/>
                </a:solidFill>
              </a:rPr>
            </a:br>
            <a:r>
              <a:rPr lang="en-US" sz="3600" i="1" dirty="0" smtClean="0">
                <a:solidFill>
                  <a:srgbClr val="FF0000"/>
                </a:solidFill>
              </a:rPr>
              <a:t>5.6%(Economic Survey January 2022)</a:t>
            </a:r>
            <a:r>
              <a:rPr lang="en-US" sz="3600" i="1" dirty="0" smtClean="0">
                <a:solidFill>
                  <a:srgbClr val="0070C0"/>
                </a:solidFill>
              </a:rPr>
              <a:t>(</a:t>
            </a:r>
            <a:r>
              <a:rPr lang="en-US" sz="3600" i="1" dirty="0" smtClean="0"/>
              <a:t>CPI</a:t>
            </a:r>
            <a:r>
              <a:rPr lang="en-US" sz="3600" i="1" dirty="0" smtClean="0">
                <a:solidFill>
                  <a:srgbClr val="0070C0"/>
                </a:solidFill>
              </a:rPr>
              <a:t>)</a:t>
            </a:r>
            <a:endParaRPr lang="en-US" sz="3600" i="1" dirty="0">
              <a:solidFill>
                <a:srgbClr val="0070C0"/>
              </a:solidFill>
            </a:endParaRPr>
          </a:p>
        </p:txBody>
      </p:sp>
      <p:sp>
        <p:nvSpPr>
          <p:cNvPr id="3" name="Subtitle 2"/>
          <p:cNvSpPr>
            <a:spLocks noGrp="1"/>
          </p:cNvSpPr>
          <p:nvPr>
            <p:ph type="subTitle" idx="1"/>
          </p:nvPr>
        </p:nvSpPr>
        <p:spPr/>
        <p:txBody>
          <a:bodyPr/>
          <a:lstStyle/>
          <a:p>
            <a:r>
              <a:rPr lang="en-US" u="sng" dirty="0" smtClean="0">
                <a:solidFill>
                  <a:srgbClr val="00B050"/>
                </a:solidFill>
              </a:rPr>
              <a:t>Meaning and Types</a:t>
            </a:r>
            <a:endParaRPr lang="en-US" u="sng" dirty="0">
              <a:solidFill>
                <a:srgbClr val="00B05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algn="just"/>
            <a:r>
              <a:rPr lang="en-US" dirty="0" smtClean="0">
                <a:solidFill>
                  <a:srgbClr val="C00000"/>
                </a:solidFill>
              </a:rPr>
              <a:t>Inflation is a situation in which there is a persistent rise in the general price level.</a:t>
            </a:r>
          </a:p>
          <a:p>
            <a:pPr algn="just"/>
            <a:r>
              <a:rPr lang="en-US" dirty="0" smtClean="0">
                <a:solidFill>
                  <a:srgbClr val="FF0066"/>
                </a:solidFill>
              </a:rPr>
              <a:t>It’s a situation in which there is an upward movement in the average level of prices.</a:t>
            </a:r>
          </a:p>
          <a:p>
            <a:pPr algn="just"/>
            <a:r>
              <a:rPr lang="en-US" dirty="0" err="1" smtClean="0">
                <a:solidFill>
                  <a:srgbClr val="C00000"/>
                </a:solidFill>
              </a:rPr>
              <a:t>Prof.Coulborn</a:t>
            </a:r>
            <a:r>
              <a:rPr lang="en-US" dirty="0" smtClean="0">
                <a:solidFill>
                  <a:srgbClr val="C00000"/>
                </a:solidFill>
              </a:rPr>
              <a:t>- “too much money chasing too few goods.”</a:t>
            </a:r>
          </a:p>
          <a:p>
            <a:pPr algn="just"/>
            <a:r>
              <a:rPr lang="en-US" dirty="0" smtClean="0">
                <a:solidFill>
                  <a:srgbClr val="FF0066"/>
                </a:solidFill>
              </a:rPr>
              <a:t>Availability of goods is less when compared to the supply of money.</a:t>
            </a:r>
          </a:p>
          <a:p>
            <a:pPr algn="just"/>
            <a:r>
              <a:rPr lang="en-US" dirty="0" smtClean="0">
                <a:solidFill>
                  <a:srgbClr val="C00000"/>
                </a:solidFill>
              </a:rPr>
              <a:t>When there is inflation value of money decreases persistently. Value of money is the purchasing power of money or the quantity of goods and services that a unit of money can buy.</a:t>
            </a:r>
          </a:p>
          <a:p>
            <a:endParaRPr lang="en-US" dirty="0" smtClean="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u="sng" dirty="0" smtClean="0">
                <a:solidFill>
                  <a:srgbClr val="FF0000"/>
                </a:solidFill>
              </a:rPr>
              <a:t>Based on rate, Inflation can be classified in the following way</a:t>
            </a:r>
            <a:endParaRPr lang="en-US" u="sng" dirty="0">
              <a:solidFill>
                <a:srgbClr val="FF0000"/>
              </a:solidFill>
            </a:endParaRPr>
          </a:p>
        </p:txBody>
      </p:sp>
      <p:sp>
        <p:nvSpPr>
          <p:cNvPr id="3" name="Content Placeholder 2"/>
          <p:cNvSpPr>
            <a:spLocks noGrp="1"/>
          </p:cNvSpPr>
          <p:nvPr>
            <p:ph idx="1"/>
          </p:nvPr>
        </p:nvSpPr>
        <p:spPr/>
        <p:txBody>
          <a:bodyPr>
            <a:normAutofit fontScale="70000" lnSpcReduction="20000"/>
          </a:bodyPr>
          <a:lstStyle/>
          <a:p>
            <a:pPr marL="514350" indent="-514350" algn="just">
              <a:buAutoNum type="arabicPeriod"/>
            </a:pPr>
            <a:r>
              <a:rPr lang="en-US" u="sng" dirty="0" smtClean="0">
                <a:solidFill>
                  <a:srgbClr val="7030A0"/>
                </a:solidFill>
              </a:rPr>
              <a:t>Creeping Inflation</a:t>
            </a:r>
            <a:r>
              <a:rPr lang="en-US" dirty="0" smtClean="0"/>
              <a:t>:- When the rise in price is very slow, </a:t>
            </a:r>
            <a:r>
              <a:rPr lang="en-US" dirty="0" err="1" smtClean="0"/>
              <a:t>ie</a:t>
            </a:r>
            <a:r>
              <a:rPr lang="en-US" dirty="0" smtClean="0"/>
              <a:t>., less than 3% per annum, it is called creeping inflation. Mild inflation acts as a tonic for economic development and growth.</a:t>
            </a:r>
          </a:p>
          <a:p>
            <a:pPr marL="514350" indent="-514350" algn="just">
              <a:buAutoNum type="arabicPeriod"/>
            </a:pPr>
            <a:r>
              <a:rPr lang="en-US" u="sng" dirty="0" smtClean="0">
                <a:solidFill>
                  <a:srgbClr val="7030A0"/>
                </a:solidFill>
              </a:rPr>
              <a:t>Walking inflation</a:t>
            </a:r>
            <a:r>
              <a:rPr lang="en-US" dirty="0" smtClean="0"/>
              <a:t>:- When prices rise moderately and the annual inflation rate is 3% to 10%, it is called walking inflation. Inflation at this rate is a warning signal for the government.</a:t>
            </a:r>
          </a:p>
          <a:p>
            <a:pPr marL="514350" indent="-514350" algn="just">
              <a:buAutoNum type="arabicPeriod"/>
            </a:pPr>
            <a:r>
              <a:rPr lang="en-US" u="sng" dirty="0" smtClean="0">
                <a:solidFill>
                  <a:srgbClr val="7030A0"/>
                </a:solidFill>
              </a:rPr>
              <a:t>Running Inflation</a:t>
            </a:r>
            <a:r>
              <a:rPr lang="en-US" dirty="0" smtClean="0"/>
              <a:t>:- When prices rise rapidly and the rate of increase is 10% to20% per annum, it is called running inflation. Its control requires strong Monetary and Fiscal measures and it is a dangerous situation.</a:t>
            </a:r>
          </a:p>
          <a:p>
            <a:pPr marL="514350" indent="-514350" algn="just">
              <a:buAutoNum type="arabicPeriod"/>
            </a:pPr>
            <a:r>
              <a:rPr lang="en-US" u="sng" dirty="0" smtClean="0">
                <a:solidFill>
                  <a:srgbClr val="7030A0"/>
                </a:solidFill>
              </a:rPr>
              <a:t>Galloping or Hyper inflation</a:t>
            </a:r>
            <a:r>
              <a:rPr lang="en-US" dirty="0" smtClean="0"/>
              <a:t>:- When prices rise between 20% to 100% per annum or even more, it is called Galloping or Hyper Inflation. Such a </a:t>
            </a:r>
            <a:r>
              <a:rPr lang="en-US" dirty="0" err="1" smtClean="0"/>
              <a:t>situatuin</a:t>
            </a:r>
            <a:r>
              <a:rPr lang="en-US" dirty="0" smtClean="0"/>
              <a:t> brings a total collapse of the monetary system.</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solidFill>
                  <a:srgbClr val="FF0000"/>
                </a:solidFill>
              </a:rPr>
              <a:t>DEMAND PULL INFLATION</a:t>
            </a:r>
            <a:endParaRPr lang="en-US" u="sng" dirty="0">
              <a:solidFill>
                <a:srgbClr val="FF0000"/>
              </a:solidFill>
            </a:endParaRPr>
          </a:p>
        </p:txBody>
      </p:sp>
      <p:sp>
        <p:nvSpPr>
          <p:cNvPr id="3" name="Content Placeholder 2"/>
          <p:cNvSpPr>
            <a:spLocks noGrp="1"/>
          </p:cNvSpPr>
          <p:nvPr>
            <p:ph idx="1"/>
          </p:nvPr>
        </p:nvSpPr>
        <p:spPr/>
        <p:txBody>
          <a:bodyPr>
            <a:normAutofit fontScale="85000" lnSpcReduction="20000"/>
          </a:bodyPr>
          <a:lstStyle/>
          <a:p>
            <a:pPr algn="just">
              <a:buNone/>
            </a:pPr>
            <a:r>
              <a:rPr lang="en-US" dirty="0" smtClean="0"/>
              <a:t>		</a:t>
            </a:r>
            <a:r>
              <a:rPr lang="en-US" dirty="0" smtClean="0">
                <a:solidFill>
                  <a:srgbClr val="002060"/>
                </a:solidFill>
              </a:rPr>
              <a:t>Demand Pull inflation is the </a:t>
            </a:r>
            <a:r>
              <a:rPr lang="en-US" dirty="0" smtClean="0">
                <a:solidFill>
                  <a:srgbClr val="FF0066"/>
                </a:solidFill>
              </a:rPr>
              <a:t>result of an increase in the Aggregate Demand </a:t>
            </a:r>
            <a:r>
              <a:rPr lang="en-US" dirty="0" smtClean="0">
                <a:solidFill>
                  <a:srgbClr val="002060"/>
                </a:solidFill>
              </a:rPr>
              <a:t>in the absence of an increase in Aggregate Supply or  a relatively less increase in Aggregate Supply. Suppose the government is following </a:t>
            </a:r>
            <a:r>
              <a:rPr lang="en-US" b="1" dirty="0" smtClean="0">
                <a:solidFill>
                  <a:srgbClr val="FF6600"/>
                </a:solidFill>
              </a:rPr>
              <a:t>an expansionary fiscal policy and the government spends more money in the field of education, health etc. by printing more currency notes. In this situation, there will be a sudden increase in Aggregate Demand </a:t>
            </a:r>
            <a:r>
              <a:rPr lang="en-US" dirty="0" smtClean="0">
                <a:solidFill>
                  <a:srgbClr val="002060"/>
                </a:solidFill>
              </a:rPr>
              <a:t>in the economy but the Aggregate Supply will not increase to that extent. Therefore, the price level goes up. Once the economy reaches in full employment level any further increase in aggregate demand will lead to price rise without any increase in output. </a:t>
            </a:r>
            <a:endParaRPr lang="en-US" dirty="0">
              <a:solidFill>
                <a:srgbClr val="00206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u="sng" dirty="0" smtClean="0">
                <a:solidFill>
                  <a:srgbClr val="FF0000"/>
                </a:solidFill>
              </a:rPr>
              <a:t>DEMAND PULL INFLATION</a:t>
            </a:r>
            <a:r>
              <a:rPr lang="en-US" dirty="0" smtClean="0">
                <a:solidFill>
                  <a:srgbClr val="FF0000"/>
                </a:solidFill>
              </a:rPr>
              <a:t>….</a:t>
            </a:r>
            <a:r>
              <a:rPr lang="en-US" sz="2400" dirty="0" smtClean="0">
                <a:solidFill>
                  <a:srgbClr val="FF0000"/>
                </a:solidFill>
              </a:rPr>
              <a:t>continued</a:t>
            </a:r>
            <a:endParaRPr lang="en-US" dirty="0"/>
          </a:p>
        </p:txBody>
      </p:sp>
      <p:sp>
        <p:nvSpPr>
          <p:cNvPr id="5" name="Content Placeholder 4"/>
          <p:cNvSpPr>
            <a:spLocks noGrp="1"/>
          </p:cNvSpPr>
          <p:nvPr>
            <p:ph sz="half" idx="1"/>
          </p:nvPr>
        </p:nvSpPr>
        <p:spPr/>
        <p:txBody>
          <a:bodyPr>
            <a:normAutofit fontScale="62500" lnSpcReduction="20000"/>
          </a:bodyPr>
          <a:lstStyle/>
          <a:p>
            <a:pPr algn="just">
              <a:buNone/>
            </a:pPr>
            <a:r>
              <a:rPr lang="en-US" dirty="0" smtClean="0"/>
              <a:t>	In the diagram, AD is the Aggregate Demand Curve, AS is the Aggregate Supply Curve. Initially, the economy is in equilibrium at point ‘E’. Y is the equilibrium level of output and ‘</a:t>
            </a:r>
            <a:r>
              <a:rPr lang="en-US" dirty="0" err="1" smtClean="0"/>
              <a:t>P’is</a:t>
            </a:r>
            <a:r>
              <a:rPr lang="en-US" dirty="0" smtClean="0"/>
              <a:t> the price level. When aggregate demand increases, AD curve shifts upwards and the new AD</a:t>
            </a:r>
            <a:r>
              <a:rPr lang="en-US" sz="1900" dirty="0" smtClean="0"/>
              <a:t>1</a:t>
            </a:r>
            <a:r>
              <a:rPr lang="en-US" dirty="0" smtClean="0"/>
              <a:t> curve intersects the AS curve at point E</a:t>
            </a:r>
            <a:r>
              <a:rPr lang="en-US" sz="1900" dirty="0" smtClean="0"/>
              <a:t>1.</a:t>
            </a:r>
            <a:r>
              <a:rPr lang="en-US" sz="2900" dirty="0" smtClean="0"/>
              <a:t>Here</a:t>
            </a:r>
            <a:r>
              <a:rPr lang="en-US" sz="1900" dirty="0" smtClean="0"/>
              <a:t>, </a:t>
            </a:r>
            <a:r>
              <a:rPr lang="en-US" sz="2900" dirty="0" smtClean="0"/>
              <a:t>price level increases to P</a:t>
            </a:r>
            <a:r>
              <a:rPr lang="en-US" sz="1900" dirty="0" smtClean="0"/>
              <a:t>1</a:t>
            </a:r>
            <a:r>
              <a:rPr lang="en-US" sz="2900" dirty="0" smtClean="0"/>
              <a:t> and there is an increase in output from Y to YF. Beyond </a:t>
            </a:r>
            <a:r>
              <a:rPr lang="en-US" sz="2900" dirty="0" err="1" smtClean="0"/>
              <a:t>Yf</a:t>
            </a:r>
            <a:r>
              <a:rPr lang="en-US" sz="2900" dirty="0" smtClean="0"/>
              <a:t> level of output, AS curve becomes perfectly inelastic. Hence, </a:t>
            </a:r>
            <a:r>
              <a:rPr lang="en-US" sz="2900" dirty="0" err="1" smtClean="0"/>
              <a:t>Yf</a:t>
            </a:r>
            <a:r>
              <a:rPr lang="en-US" sz="2900" dirty="0" smtClean="0"/>
              <a:t> is the full employment level of output. Any increase in the aggregate demand beyond this level will push the price up without any change in output.</a:t>
            </a:r>
            <a:endParaRPr lang="en-US" sz="6400" dirty="0"/>
          </a:p>
        </p:txBody>
      </p:sp>
      <p:pic>
        <p:nvPicPr>
          <p:cNvPr id="1026" name="Picture 2"/>
          <p:cNvPicPr>
            <a:picLocks noGrp="1" noChangeAspect="1" noChangeArrowheads="1"/>
          </p:cNvPicPr>
          <p:nvPr>
            <p:ph sz="half" idx="2"/>
          </p:nvPr>
        </p:nvPicPr>
        <p:blipFill>
          <a:blip r:embed="rId2" cstate="print"/>
          <a:srcRect/>
          <a:stretch>
            <a:fillRect/>
          </a:stretch>
        </p:blipFill>
        <p:spPr bwMode="auto">
          <a:xfrm>
            <a:off x="4800154" y="1600200"/>
            <a:ext cx="3734692" cy="4525963"/>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solidFill>
                  <a:srgbClr val="FF0000"/>
                </a:solidFill>
              </a:rPr>
              <a:t>COST PUSH INFLATION</a:t>
            </a:r>
            <a:endParaRPr lang="en-US" u="sng" dirty="0">
              <a:solidFill>
                <a:srgbClr val="FF0000"/>
              </a:solidFill>
            </a:endParaRPr>
          </a:p>
        </p:txBody>
      </p:sp>
      <p:sp>
        <p:nvSpPr>
          <p:cNvPr id="3" name="Content Placeholder 2"/>
          <p:cNvSpPr>
            <a:spLocks noGrp="1"/>
          </p:cNvSpPr>
          <p:nvPr>
            <p:ph sz="half" idx="1"/>
          </p:nvPr>
        </p:nvSpPr>
        <p:spPr/>
        <p:txBody>
          <a:bodyPr>
            <a:normAutofit fontScale="25000" lnSpcReduction="20000"/>
          </a:bodyPr>
          <a:lstStyle/>
          <a:p>
            <a:pPr algn="just">
              <a:buNone/>
            </a:pPr>
            <a:r>
              <a:rPr lang="en-US" dirty="0" smtClean="0"/>
              <a:t>		</a:t>
            </a:r>
            <a:r>
              <a:rPr lang="en-US" sz="6400" dirty="0" smtClean="0"/>
              <a:t>It is the </a:t>
            </a:r>
            <a:r>
              <a:rPr lang="en-US" sz="6400" dirty="0" smtClean="0">
                <a:solidFill>
                  <a:srgbClr val="FF0066"/>
                </a:solidFill>
              </a:rPr>
              <a:t>result of increase in cost of production. </a:t>
            </a:r>
            <a:r>
              <a:rPr lang="en-US" sz="6400" dirty="0" smtClean="0"/>
              <a:t>Cost of production increases mainly due to increase in wages, increase in profit margin, or due to a sudden fall in supply. Increase in cost of production decreases the supply and when supply decreases the supply curve shifts leftwards. Therefore, the price level goes up.</a:t>
            </a:r>
          </a:p>
          <a:p>
            <a:pPr algn="just">
              <a:buNone/>
            </a:pPr>
            <a:r>
              <a:rPr lang="en-US" sz="6400" dirty="0" smtClean="0"/>
              <a:t>		In the diagram, initially the economy is in equilibrium at point E where the AS1 curve intersects with AD curve. This is full employment equilibrium where output is </a:t>
            </a:r>
            <a:r>
              <a:rPr lang="en-US" sz="6400" dirty="0" err="1" smtClean="0"/>
              <a:t>Yf</a:t>
            </a:r>
            <a:r>
              <a:rPr lang="en-US" sz="6400" dirty="0" smtClean="0"/>
              <a:t> and P is the price level. When aggregate supply decreases the AS curve shifts leftwards and the new supply curve is AS2 which intersects the Ad curve at E1. Therefore, the price level goes up to P1 and output decreases to Y</a:t>
            </a:r>
            <a:endParaRPr lang="en-US" sz="6400" dirty="0"/>
          </a:p>
        </p:txBody>
      </p:sp>
      <p:pic>
        <p:nvPicPr>
          <p:cNvPr id="2050" name="Picture 2"/>
          <p:cNvPicPr>
            <a:picLocks noGrp="1" noChangeAspect="1" noChangeArrowheads="1"/>
          </p:cNvPicPr>
          <p:nvPr>
            <p:ph sz="half" idx="2"/>
          </p:nvPr>
        </p:nvPicPr>
        <p:blipFill>
          <a:blip r:embed="rId2" cstate="print"/>
          <a:srcRect/>
          <a:stretch>
            <a:fillRect/>
          </a:stretch>
        </p:blipFill>
        <p:spPr bwMode="auto">
          <a:xfrm>
            <a:off x="4748001" y="1600200"/>
            <a:ext cx="3838998" cy="4525963"/>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solidFill>
                  <a:srgbClr val="002060"/>
                </a:solidFill>
              </a:rPr>
              <a:t>CAUSES OF INFLATION</a:t>
            </a:r>
            <a:endParaRPr lang="en-US" u="sng" dirty="0">
              <a:solidFill>
                <a:srgbClr val="002060"/>
              </a:solidFill>
            </a:endParaRPr>
          </a:p>
        </p:txBody>
      </p:sp>
      <p:sp>
        <p:nvSpPr>
          <p:cNvPr id="3" name="Content Placeholder 2"/>
          <p:cNvSpPr>
            <a:spLocks noGrp="1"/>
          </p:cNvSpPr>
          <p:nvPr>
            <p:ph sz="half" idx="1"/>
          </p:nvPr>
        </p:nvSpPr>
        <p:spPr/>
        <p:txBody>
          <a:bodyPr>
            <a:normAutofit lnSpcReduction="10000"/>
          </a:bodyPr>
          <a:lstStyle/>
          <a:p>
            <a:pPr>
              <a:buNone/>
            </a:pPr>
            <a:r>
              <a:rPr lang="en-US" u="sng" dirty="0" smtClean="0">
                <a:solidFill>
                  <a:srgbClr val="C00000"/>
                </a:solidFill>
              </a:rPr>
              <a:t>DMAND SIDE CAUSES</a:t>
            </a:r>
          </a:p>
          <a:p>
            <a:pPr>
              <a:buNone/>
            </a:pPr>
            <a:r>
              <a:rPr lang="en-US" dirty="0" smtClean="0">
                <a:solidFill>
                  <a:srgbClr val="C00000"/>
                </a:solidFill>
              </a:rPr>
              <a:t>1. Increase in Money Supply.</a:t>
            </a:r>
          </a:p>
          <a:p>
            <a:pPr>
              <a:buNone/>
            </a:pPr>
            <a:r>
              <a:rPr lang="en-US" dirty="0" smtClean="0">
                <a:solidFill>
                  <a:srgbClr val="C00000"/>
                </a:solidFill>
              </a:rPr>
              <a:t>2. Increase in Disposable Income.</a:t>
            </a:r>
          </a:p>
          <a:p>
            <a:pPr>
              <a:buNone/>
            </a:pPr>
            <a:r>
              <a:rPr lang="en-US" dirty="0" smtClean="0">
                <a:solidFill>
                  <a:srgbClr val="C00000"/>
                </a:solidFill>
              </a:rPr>
              <a:t>3. Increase in Govt. Expenditure.</a:t>
            </a:r>
          </a:p>
          <a:p>
            <a:pPr>
              <a:buNone/>
            </a:pPr>
            <a:r>
              <a:rPr lang="en-US" dirty="0" smtClean="0">
                <a:solidFill>
                  <a:srgbClr val="C00000"/>
                </a:solidFill>
              </a:rPr>
              <a:t>4. Deficit Financing.</a:t>
            </a:r>
          </a:p>
          <a:p>
            <a:pPr>
              <a:buNone/>
            </a:pPr>
            <a:r>
              <a:rPr lang="en-US" dirty="0" smtClean="0">
                <a:solidFill>
                  <a:srgbClr val="C00000"/>
                </a:solidFill>
              </a:rPr>
              <a:t>5. Cheap Money Policy.</a:t>
            </a:r>
          </a:p>
          <a:p>
            <a:pPr>
              <a:buNone/>
            </a:pPr>
            <a:r>
              <a:rPr lang="en-US" dirty="0" smtClean="0">
                <a:solidFill>
                  <a:srgbClr val="C00000"/>
                </a:solidFill>
              </a:rPr>
              <a:t>6. Increase in Population.</a:t>
            </a:r>
            <a:endParaRPr lang="en-US" dirty="0">
              <a:solidFill>
                <a:srgbClr val="C00000"/>
              </a:solidFill>
            </a:endParaRPr>
          </a:p>
        </p:txBody>
      </p:sp>
      <p:sp>
        <p:nvSpPr>
          <p:cNvPr id="4" name="Content Placeholder 3"/>
          <p:cNvSpPr>
            <a:spLocks noGrp="1"/>
          </p:cNvSpPr>
          <p:nvPr>
            <p:ph sz="half" idx="2"/>
          </p:nvPr>
        </p:nvSpPr>
        <p:spPr/>
        <p:txBody>
          <a:bodyPr>
            <a:normAutofit lnSpcReduction="10000"/>
          </a:bodyPr>
          <a:lstStyle/>
          <a:p>
            <a:pPr>
              <a:buNone/>
            </a:pPr>
            <a:r>
              <a:rPr lang="en-US" u="sng" dirty="0" smtClean="0">
                <a:solidFill>
                  <a:srgbClr val="FF0066"/>
                </a:solidFill>
              </a:rPr>
              <a:t>SUPPLY SIDE CAUSES</a:t>
            </a:r>
          </a:p>
          <a:p>
            <a:pPr marL="514350" indent="-514350">
              <a:buAutoNum type="arabicPeriod"/>
            </a:pPr>
            <a:r>
              <a:rPr lang="en-US" dirty="0" smtClean="0">
                <a:solidFill>
                  <a:srgbClr val="FF0066"/>
                </a:solidFill>
              </a:rPr>
              <a:t>Shortage of Capital and other complementary factors.</a:t>
            </a:r>
          </a:p>
          <a:p>
            <a:pPr marL="514350" indent="-514350">
              <a:buAutoNum type="arabicPeriod"/>
            </a:pPr>
            <a:r>
              <a:rPr lang="en-US" dirty="0" smtClean="0">
                <a:solidFill>
                  <a:srgbClr val="FF0066"/>
                </a:solidFill>
              </a:rPr>
              <a:t>Increase in wages.</a:t>
            </a:r>
          </a:p>
          <a:p>
            <a:pPr marL="514350" indent="-514350">
              <a:buAutoNum type="arabicPeriod"/>
            </a:pPr>
            <a:r>
              <a:rPr lang="en-US" dirty="0" smtClean="0">
                <a:solidFill>
                  <a:srgbClr val="FF0066"/>
                </a:solidFill>
              </a:rPr>
              <a:t>Speculative Hoarding.</a:t>
            </a:r>
          </a:p>
          <a:p>
            <a:pPr marL="514350" indent="-514350">
              <a:buAutoNum type="arabicPeriod"/>
            </a:pPr>
            <a:r>
              <a:rPr lang="en-US" dirty="0" smtClean="0">
                <a:solidFill>
                  <a:srgbClr val="FF0066"/>
                </a:solidFill>
              </a:rPr>
              <a:t>Natural Calamities.</a:t>
            </a:r>
          </a:p>
          <a:p>
            <a:pPr marL="514350" indent="-514350">
              <a:buAutoNum type="arabicPeriod"/>
            </a:pPr>
            <a:r>
              <a:rPr lang="en-US" dirty="0" smtClean="0">
                <a:solidFill>
                  <a:srgbClr val="FF0066"/>
                </a:solidFill>
              </a:rPr>
              <a:t>Increase in Exports.</a:t>
            </a:r>
          </a:p>
          <a:p>
            <a:pPr marL="514350" indent="-514350">
              <a:buAutoNum type="arabicPeriod"/>
            </a:pPr>
            <a:r>
              <a:rPr lang="en-US" dirty="0" smtClean="0">
                <a:solidFill>
                  <a:srgbClr val="FF0066"/>
                </a:solidFill>
              </a:rPr>
              <a:t>Industrial Disputes.</a:t>
            </a:r>
            <a:endParaRPr lang="en-US" dirty="0">
              <a:solidFill>
                <a:srgbClr val="FF0066"/>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u="sng" dirty="0" smtClean="0">
                <a:solidFill>
                  <a:srgbClr val="FF0000"/>
                </a:solidFill>
              </a:rPr>
              <a:t>Effects of Inflation</a:t>
            </a:r>
            <a:endParaRPr lang="en-IN" u="sng" dirty="0">
              <a:solidFill>
                <a:srgbClr val="FF0000"/>
              </a:solidFill>
            </a:endParaRPr>
          </a:p>
        </p:txBody>
      </p:sp>
      <p:sp>
        <p:nvSpPr>
          <p:cNvPr id="6" name="Content Placeholder 5"/>
          <p:cNvSpPr>
            <a:spLocks noGrp="1"/>
          </p:cNvSpPr>
          <p:nvPr>
            <p:ph idx="1"/>
          </p:nvPr>
        </p:nvSpPr>
        <p:spPr/>
        <p:txBody>
          <a:bodyPr>
            <a:normAutofit fontScale="92500" lnSpcReduction="20000"/>
          </a:bodyPr>
          <a:lstStyle/>
          <a:p>
            <a:pPr marL="0" indent="0">
              <a:buNone/>
            </a:pPr>
            <a:r>
              <a:rPr lang="en-US" u="sng" dirty="0" smtClean="0">
                <a:solidFill>
                  <a:srgbClr val="C00000"/>
                </a:solidFill>
              </a:rPr>
              <a:t>1.Effects on Distribution of Income</a:t>
            </a:r>
            <a:r>
              <a:rPr lang="en-US" dirty="0" smtClean="0"/>
              <a:t>:-</a:t>
            </a:r>
          </a:p>
          <a:p>
            <a:pPr marL="0" indent="0" algn="just">
              <a:buNone/>
            </a:pPr>
            <a:r>
              <a:rPr lang="en-US" dirty="0"/>
              <a:t>	</a:t>
            </a:r>
            <a:r>
              <a:rPr lang="en-US" dirty="0" smtClean="0">
                <a:solidFill>
                  <a:srgbClr val="002060"/>
                </a:solidFill>
              </a:rPr>
              <a:t>The effects of inflation on distribution of income and wealth can be viewed as the effects on fixed income group and flexible income group.  </a:t>
            </a:r>
            <a:r>
              <a:rPr lang="en-US" dirty="0" smtClean="0">
                <a:solidFill>
                  <a:srgbClr val="FF0066"/>
                </a:solidFill>
              </a:rPr>
              <a:t>When there is inflation </a:t>
            </a:r>
            <a:r>
              <a:rPr lang="en-US" b="1" dirty="0" smtClean="0">
                <a:solidFill>
                  <a:srgbClr val="FF0066"/>
                </a:solidFill>
              </a:rPr>
              <a:t>the poor and middle class </a:t>
            </a:r>
            <a:r>
              <a:rPr lang="en-US" dirty="0" smtClean="0">
                <a:solidFill>
                  <a:srgbClr val="FF0066"/>
                </a:solidFill>
              </a:rPr>
              <a:t>whose income is relatively fixed </a:t>
            </a:r>
            <a:r>
              <a:rPr lang="en-US" b="1" dirty="0" smtClean="0"/>
              <a:t>will lose </a:t>
            </a:r>
            <a:r>
              <a:rPr lang="en-US" dirty="0" smtClean="0">
                <a:solidFill>
                  <a:srgbClr val="002060"/>
                </a:solidFill>
              </a:rPr>
              <a:t>but</a:t>
            </a:r>
          </a:p>
          <a:p>
            <a:pPr marL="0" indent="0" algn="just">
              <a:buNone/>
            </a:pPr>
            <a:r>
              <a:rPr lang="en-US" dirty="0">
                <a:solidFill>
                  <a:srgbClr val="002060"/>
                </a:solidFill>
              </a:rPr>
              <a:t>	</a:t>
            </a:r>
            <a:r>
              <a:rPr lang="en-US" dirty="0" smtClean="0">
                <a:solidFill>
                  <a:srgbClr val="002060"/>
                </a:solidFill>
              </a:rPr>
              <a:t> </a:t>
            </a:r>
            <a:r>
              <a:rPr lang="en-US" dirty="0" smtClean="0">
                <a:solidFill>
                  <a:srgbClr val="2D641A"/>
                </a:solidFill>
              </a:rPr>
              <a:t>the flexible income group categories </a:t>
            </a:r>
            <a:r>
              <a:rPr lang="en-US" b="1" dirty="0" smtClean="0">
                <a:solidFill>
                  <a:srgbClr val="2D641A"/>
                </a:solidFill>
              </a:rPr>
              <a:t>businessmen, industrialists, traders, real estate holders and speculators </a:t>
            </a:r>
            <a:r>
              <a:rPr lang="en-US" b="1" dirty="0" smtClean="0"/>
              <a:t>gain</a:t>
            </a:r>
            <a:r>
              <a:rPr lang="en-US" b="1" dirty="0" smtClean="0">
                <a:solidFill>
                  <a:srgbClr val="002060"/>
                </a:solidFill>
              </a:rPr>
              <a:t> </a:t>
            </a:r>
            <a:r>
              <a:rPr lang="en-US" dirty="0" smtClean="0">
                <a:solidFill>
                  <a:srgbClr val="002060"/>
                </a:solidFill>
              </a:rPr>
              <a:t>and the income distribution change in </a:t>
            </a:r>
            <a:r>
              <a:rPr lang="en-US" dirty="0" err="1" smtClean="0">
                <a:solidFill>
                  <a:srgbClr val="002060"/>
                </a:solidFill>
              </a:rPr>
              <a:t>favour</a:t>
            </a:r>
            <a:r>
              <a:rPr lang="en-US" dirty="0" smtClean="0">
                <a:solidFill>
                  <a:srgbClr val="002060"/>
                </a:solidFill>
              </a:rPr>
              <a:t> of them. These categories are </a:t>
            </a:r>
            <a:r>
              <a:rPr lang="en-US" dirty="0" err="1" smtClean="0">
                <a:solidFill>
                  <a:srgbClr val="002060"/>
                </a:solidFill>
              </a:rPr>
              <a:t>analysed</a:t>
            </a:r>
            <a:r>
              <a:rPr lang="en-US" dirty="0" smtClean="0">
                <a:solidFill>
                  <a:srgbClr val="002060"/>
                </a:solidFill>
              </a:rPr>
              <a:t> one by one.</a:t>
            </a:r>
            <a:endParaRPr lang="en-IN" dirty="0">
              <a:solidFill>
                <a:srgbClr val="002060"/>
              </a:solidFill>
            </a:endParaRPr>
          </a:p>
        </p:txBody>
      </p:sp>
    </p:spTree>
    <p:extLst>
      <p:ext uri="{BB962C8B-B14F-4D97-AF65-F5344CB8AC3E}">
        <p14:creationId xmlns:p14="http://schemas.microsoft.com/office/powerpoint/2010/main" val="1978292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fontScale="92500" lnSpcReduction="10000"/>
          </a:bodyPr>
          <a:lstStyle/>
          <a:p>
            <a:pPr marL="514350" indent="-514350">
              <a:buAutoNum type="alphaLcParenR"/>
            </a:pPr>
            <a:r>
              <a:rPr lang="en-US" u="sng" dirty="0" smtClean="0">
                <a:solidFill>
                  <a:srgbClr val="002060"/>
                </a:solidFill>
              </a:rPr>
              <a:t>Debtors and Creditors</a:t>
            </a:r>
            <a:r>
              <a:rPr lang="en-US" dirty="0" smtClean="0"/>
              <a:t>:-</a:t>
            </a:r>
          </a:p>
          <a:p>
            <a:pPr marL="0" indent="0" algn="just">
              <a:buNone/>
            </a:pPr>
            <a:r>
              <a:rPr lang="en-US" dirty="0"/>
              <a:t>	</a:t>
            </a:r>
            <a:r>
              <a:rPr lang="en-US" dirty="0" smtClean="0"/>
              <a:t>During inflation, </a:t>
            </a:r>
            <a:r>
              <a:rPr lang="en-US" b="1" dirty="0" smtClean="0"/>
              <a:t>debtors gain </a:t>
            </a:r>
            <a:r>
              <a:rPr lang="en-US" dirty="0" smtClean="0">
                <a:solidFill>
                  <a:srgbClr val="FF0066"/>
                </a:solidFill>
              </a:rPr>
              <a:t>and </a:t>
            </a:r>
            <a:r>
              <a:rPr lang="en-US" b="1" dirty="0" smtClean="0"/>
              <a:t>creditors lose. </a:t>
            </a:r>
            <a:r>
              <a:rPr lang="en-US" dirty="0" smtClean="0"/>
              <a:t>Because of inflation value of money decreases and therefore, people who lend their money, when they it back its value will be </a:t>
            </a:r>
            <a:r>
              <a:rPr lang="en-US" dirty="0" err="1" smtClean="0"/>
              <a:t>lwss</a:t>
            </a:r>
            <a:r>
              <a:rPr lang="en-US" dirty="0" smtClean="0"/>
              <a:t> and they can purchase only less amount of goods and services.</a:t>
            </a:r>
          </a:p>
          <a:p>
            <a:pPr marL="0" indent="0" algn="just">
              <a:buNone/>
            </a:pPr>
            <a:r>
              <a:rPr lang="en-US" u="sng" dirty="0" smtClean="0">
                <a:solidFill>
                  <a:srgbClr val="002060"/>
                </a:solidFill>
              </a:rPr>
              <a:t>b) </a:t>
            </a:r>
            <a:r>
              <a:rPr lang="en-US" b="1" u="sng" dirty="0" smtClean="0">
                <a:solidFill>
                  <a:srgbClr val="002060"/>
                </a:solidFill>
              </a:rPr>
              <a:t>Salaried classes and wage earners</a:t>
            </a:r>
            <a:r>
              <a:rPr lang="en-US" dirty="0" smtClean="0"/>
              <a:t>:-</a:t>
            </a:r>
          </a:p>
          <a:p>
            <a:pPr marL="0" indent="0" algn="just">
              <a:buNone/>
            </a:pPr>
            <a:r>
              <a:rPr lang="en-US" dirty="0"/>
              <a:t>	</a:t>
            </a:r>
            <a:r>
              <a:rPr lang="en-US" dirty="0" smtClean="0"/>
              <a:t>Since the income of these two groups will adjust to inflation very slowly </a:t>
            </a:r>
            <a:r>
              <a:rPr lang="en-US" b="1" dirty="0" smtClean="0">
                <a:solidFill>
                  <a:srgbClr val="FF0066"/>
                </a:solidFill>
              </a:rPr>
              <a:t>they lose </a:t>
            </a:r>
            <a:r>
              <a:rPr lang="en-US" dirty="0" smtClean="0"/>
              <a:t>when there is inflation.</a:t>
            </a:r>
          </a:p>
          <a:p>
            <a:pPr marL="0" indent="0">
              <a:buNone/>
            </a:pPr>
            <a:endParaRPr lang="en-IN" dirty="0"/>
          </a:p>
        </p:txBody>
      </p:sp>
    </p:spTree>
    <p:extLst>
      <p:ext uri="{BB962C8B-B14F-4D97-AF65-F5344CB8AC3E}">
        <p14:creationId xmlns:p14="http://schemas.microsoft.com/office/powerpoint/2010/main" val="3886689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20000"/>
          </a:bodyPr>
          <a:lstStyle/>
          <a:p>
            <a:pPr marL="0" indent="0" algn="just">
              <a:buNone/>
            </a:pPr>
            <a:r>
              <a:rPr lang="en-US" dirty="0" smtClean="0"/>
              <a:t>c</a:t>
            </a:r>
            <a:r>
              <a:rPr lang="en-US" u="sng" dirty="0" smtClean="0">
                <a:solidFill>
                  <a:srgbClr val="002060"/>
                </a:solidFill>
              </a:rPr>
              <a:t>) Investors</a:t>
            </a:r>
            <a:r>
              <a:rPr lang="en-US" dirty="0" smtClean="0"/>
              <a:t>:-</a:t>
            </a:r>
          </a:p>
          <a:p>
            <a:pPr marL="0" indent="0" algn="just">
              <a:buNone/>
            </a:pPr>
            <a:r>
              <a:rPr lang="en-US" dirty="0"/>
              <a:t>	</a:t>
            </a:r>
            <a:r>
              <a:rPr lang="en-US" dirty="0" smtClean="0"/>
              <a:t>Those </a:t>
            </a:r>
            <a:r>
              <a:rPr lang="en-US" b="1" dirty="0" smtClean="0">
                <a:solidFill>
                  <a:srgbClr val="FF0066"/>
                </a:solidFill>
              </a:rPr>
              <a:t>who invest in shares will gain </a:t>
            </a:r>
            <a:r>
              <a:rPr lang="en-US" dirty="0" smtClean="0"/>
              <a:t>because companies will make more profit when there is inflation. On the other hand, </a:t>
            </a:r>
            <a:r>
              <a:rPr lang="en-US" b="1" dirty="0" smtClean="0">
                <a:solidFill>
                  <a:srgbClr val="2D641A"/>
                </a:solidFill>
              </a:rPr>
              <a:t>those who invest in bonds and debentures which carry fixed returns will lose.</a:t>
            </a:r>
          </a:p>
          <a:p>
            <a:pPr marL="0" indent="0" algn="just">
              <a:buNone/>
            </a:pPr>
            <a:r>
              <a:rPr lang="en-US" u="sng" dirty="0" smtClean="0">
                <a:solidFill>
                  <a:srgbClr val="002060"/>
                </a:solidFill>
              </a:rPr>
              <a:t>d) Businessmen</a:t>
            </a:r>
            <a:r>
              <a:rPr lang="en-US" dirty="0" smtClean="0"/>
              <a:t>:-</a:t>
            </a:r>
          </a:p>
          <a:p>
            <a:pPr marL="0" indent="0" algn="just">
              <a:buNone/>
            </a:pPr>
            <a:r>
              <a:rPr lang="en-US" dirty="0"/>
              <a:t>	</a:t>
            </a:r>
            <a:r>
              <a:rPr lang="en-US" dirty="0" smtClean="0"/>
              <a:t>Since price goes up business people get more profit and </a:t>
            </a:r>
            <a:r>
              <a:rPr lang="en-US" b="1" dirty="0" smtClean="0">
                <a:solidFill>
                  <a:srgbClr val="FF0066"/>
                </a:solidFill>
              </a:rPr>
              <a:t>they gain</a:t>
            </a:r>
            <a:r>
              <a:rPr lang="en-US" dirty="0" smtClean="0"/>
              <a:t> from inflation.</a:t>
            </a:r>
          </a:p>
          <a:p>
            <a:pPr marL="0" indent="0" algn="just">
              <a:buNone/>
            </a:pPr>
            <a:r>
              <a:rPr lang="en-US" u="sng" dirty="0" smtClean="0">
                <a:solidFill>
                  <a:srgbClr val="002060"/>
                </a:solidFill>
              </a:rPr>
              <a:t>e) Farmers</a:t>
            </a:r>
            <a:r>
              <a:rPr lang="en-US" dirty="0" smtClean="0"/>
              <a:t>:-</a:t>
            </a:r>
          </a:p>
          <a:p>
            <a:pPr marL="0" indent="0" algn="just">
              <a:buNone/>
            </a:pPr>
            <a:r>
              <a:rPr lang="en-US" dirty="0"/>
              <a:t>	</a:t>
            </a:r>
            <a:r>
              <a:rPr lang="en-US" dirty="0" smtClean="0"/>
              <a:t>When there is inflation, price of agricultural product increases at a faster rate. Hence </a:t>
            </a:r>
            <a:r>
              <a:rPr lang="en-US" b="1" dirty="0" smtClean="0">
                <a:solidFill>
                  <a:srgbClr val="FF0066"/>
                </a:solidFill>
              </a:rPr>
              <a:t>farmers get more income.</a:t>
            </a:r>
            <a:endParaRPr lang="en-IN" b="1" dirty="0">
              <a:solidFill>
                <a:srgbClr val="FF0066"/>
              </a:solidFill>
            </a:endParaRPr>
          </a:p>
        </p:txBody>
      </p:sp>
    </p:spTree>
    <p:extLst>
      <p:ext uri="{BB962C8B-B14F-4D97-AF65-F5344CB8AC3E}">
        <p14:creationId xmlns:p14="http://schemas.microsoft.com/office/powerpoint/2010/main" val="1468510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fontScale="62500" lnSpcReduction="20000"/>
          </a:bodyPr>
          <a:lstStyle/>
          <a:p>
            <a:pPr marL="0" indent="0">
              <a:buNone/>
            </a:pPr>
            <a:r>
              <a:rPr lang="en-US" u="sng" dirty="0" smtClean="0">
                <a:solidFill>
                  <a:srgbClr val="C00000"/>
                </a:solidFill>
              </a:rPr>
              <a:t>2) Effects on Investment and Production</a:t>
            </a:r>
            <a:r>
              <a:rPr lang="en-US" dirty="0" smtClean="0"/>
              <a:t>:-</a:t>
            </a:r>
          </a:p>
          <a:p>
            <a:pPr marL="0" indent="0" algn="just">
              <a:buNone/>
            </a:pPr>
            <a:r>
              <a:rPr lang="en-US" dirty="0"/>
              <a:t>	</a:t>
            </a:r>
            <a:r>
              <a:rPr lang="en-US" dirty="0" smtClean="0"/>
              <a:t>When there is inflation, people will have tendency to spend more and save less. Hence, </a:t>
            </a:r>
            <a:r>
              <a:rPr lang="en-US" dirty="0" smtClean="0">
                <a:solidFill>
                  <a:srgbClr val="FF0066"/>
                </a:solidFill>
              </a:rPr>
              <a:t>there will be less savings and less investment in the economy which will </a:t>
            </a:r>
            <a:r>
              <a:rPr lang="en-US" b="1" dirty="0" smtClean="0">
                <a:solidFill>
                  <a:srgbClr val="FF0066"/>
                </a:solidFill>
              </a:rPr>
              <a:t>adversely affect production.</a:t>
            </a:r>
            <a:r>
              <a:rPr lang="en-US" b="1" dirty="0" smtClean="0"/>
              <a:t> </a:t>
            </a:r>
            <a:r>
              <a:rPr lang="en-US" dirty="0" smtClean="0"/>
              <a:t>Inflation also </a:t>
            </a:r>
            <a:r>
              <a:rPr lang="en-US" b="1" dirty="0" smtClean="0"/>
              <a:t>discourages foreign investment</a:t>
            </a:r>
            <a:r>
              <a:rPr lang="en-US" dirty="0" smtClean="0"/>
              <a:t>.</a:t>
            </a:r>
          </a:p>
          <a:p>
            <a:pPr marL="0" indent="0" algn="just">
              <a:buNone/>
            </a:pPr>
            <a:r>
              <a:rPr lang="en-US" dirty="0"/>
              <a:t>	</a:t>
            </a:r>
            <a:r>
              <a:rPr lang="en-US" dirty="0" smtClean="0"/>
              <a:t>However, </a:t>
            </a:r>
            <a:r>
              <a:rPr lang="en-US" b="1" dirty="0" smtClean="0">
                <a:solidFill>
                  <a:srgbClr val="FF0066"/>
                </a:solidFill>
              </a:rPr>
              <a:t>in the initial stages</a:t>
            </a:r>
            <a:r>
              <a:rPr lang="en-US" dirty="0" smtClean="0">
                <a:solidFill>
                  <a:srgbClr val="FF0066"/>
                </a:solidFill>
              </a:rPr>
              <a:t>, producers and traders get </a:t>
            </a:r>
            <a:r>
              <a:rPr lang="en-US" b="1" dirty="0" smtClean="0">
                <a:solidFill>
                  <a:srgbClr val="FF0066"/>
                </a:solidFill>
              </a:rPr>
              <a:t>more profit </a:t>
            </a:r>
            <a:r>
              <a:rPr lang="en-US" dirty="0" smtClean="0">
                <a:solidFill>
                  <a:srgbClr val="FF0066"/>
                </a:solidFill>
              </a:rPr>
              <a:t>because of price rise. </a:t>
            </a:r>
            <a:r>
              <a:rPr lang="en-US" dirty="0" smtClean="0"/>
              <a:t>Hence they produce their maximum and thus production goes up. </a:t>
            </a:r>
            <a:r>
              <a:rPr lang="en-US" dirty="0" smtClean="0">
                <a:solidFill>
                  <a:srgbClr val="2D641A"/>
                </a:solidFill>
              </a:rPr>
              <a:t>But later, inflation increases  wage rate and price of raw materials. Hence, cost of production increases and as a result output may decrease. </a:t>
            </a:r>
          </a:p>
          <a:p>
            <a:pPr marL="0" indent="0" algn="just">
              <a:buNone/>
            </a:pPr>
            <a:r>
              <a:rPr lang="en-US" dirty="0" smtClean="0"/>
              <a:t>	besides, inflation may lead to </a:t>
            </a:r>
            <a:r>
              <a:rPr lang="en-US" dirty="0" smtClean="0">
                <a:solidFill>
                  <a:srgbClr val="FF0066"/>
                </a:solidFill>
              </a:rPr>
              <a:t>misallocation of resources </a:t>
            </a:r>
            <a:r>
              <a:rPr lang="en-US" dirty="0" smtClean="0"/>
              <a:t>because </a:t>
            </a:r>
            <a:r>
              <a:rPr lang="en-US" dirty="0" smtClean="0">
                <a:solidFill>
                  <a:srgbClr val="2D641A"/>
                </a:solidFill>
              </a:rPr>
              <a:t>producers will divert their resources from the production of essential commodities to those goods which gives them maximum profit. </a:t>
            </a:r>
            <a:r>
              <a:rPr lang="en-US" dirty="0" smtClean="0"/>
              <a:t>Another adverse impact of inflation is black marketing. Traders may hoard stock of goods to create artificial scarcity to make more profit by selling it at a higher price.</a:t>
            </a:r>
            <a:endParaRPr lang="en-IN" dirty="0"/>
          </a:p>
        </p:txBody>
      </p:sp>
    </p:spTree>
    <p:extLst>
      <p:ext uri="{BB962C8B-B14F-4D97-AF65-F5344CB8AC3E}">
        <p14:creationId xmlns:p14="http://schemas.microsoft.com/office/powerpoint/2010/main" val="71271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pPr marL="0" indent="0" algn="just">
              <a:buNone/>
            </a:pPr>
            <a:r>
              <a:rPr lang="en-US" u="sng" dirty="0" smtClean="0">
                <a:solidFill>
                  <a:srgbClr val="C00000"/>
                </a:solidFill>
              </a:rPr>
              <a:t>3.Social and Political impact</a:t>
            </a:r>
            <a:r>
              <a:rPr lang="en-US" dirty="0" smtClean="0"/>
              <a:t>:- Inflation makes the </a:t>
            </a:r>
            <a:r>
              <a:rPr lang="en-US" dirty="0" smtClean="0">
                <a:solidFill>
                  <a:srgbClr val="2D641A"/>
                </a:solidFill>
              </a:rPr>
              <a:t>rich richer and poor poorer. </a:t>
            </a:r>
            <a:r>
              <a:rPr lang="en-US" dirty="0" smtClean="0"/>
              <a:t>Hence, people will be unhappy.</a:t>
            </a:r>
            <a:r>
              <a:rPr lang="en-US" dirty="0"/>
              <a:t> Because of the rising cost of living</a:t>
            </a:r>
            <a:r>
              <a:rPr lang="en-US" dirty="0" smtClean="0"/>
              <a:t>, workers resort to strikes which lead to loss in production. To make more profits, </a:t>
            </a:r>
            <a:r>
              <a:rPr lang="en-US" dirty="0" smtClean="0">
                <a:solidFill>
                  <a:srgbClr val="FF0066"/>
                </a:solidFill>
              </a:rPr>
              <a:t>people resort to hoarding, black marketing, adulteration, manufacture of substandard commodities, speculation etc. </a:t>
            </a:r>
            <a:r>
              <a:rPr lang="en-US" dirty="0" smtClean="0">
                <a:solidFill>
                  <a:srgbClr val="FF6600"/>
                </a:solidFill>
              </a:rPr>
              <a:t>Corruption spreads in every walk of life. </a:t>
            </a:r>
            <a:r>
              <a:rPr lang="en-US" dirty="0" smtClean="0"/>
              <a:t>All this reduces the efficiency of the economy. Thus there will be social unrest in the economy.</a:t>
            </a:r>
          </a:p>
          <a:p>
            <a:pPr marL="0" indent="0" algn="just">
              <a:buNone/>
            </a:pPr>
            <a:r>
              <a:rPr lang="en-US" dirty="0"/>
              <a:t>	</a:t>
            </a:r>
            <a:r>
              <a:rPr lang="en-US" dirty="0" smtClean="0"/>
              <a:t>If hyperinflation persists and the value of money continues to fall, it ultimately leads to the collapse of the monetary system. Further, rising prices also encourage agitations and protests by political parties opposed to the government. This may lead to the downfall of the government.</a:t>
            </a:r>
            <a:endParaRPr lang="en-IN" dirty="0"/>
          </a:p>
        </p:txBody>
      </p:sp>
    </p:spTree>
    <p:extLst>
      <p:ext uri="{BB962C8B-B14F-4D97-AF65-F5344CB8AC3E}">
        <p14:creationId xmlns:p14="http://schemas.microsoft.com/office/powerpoint/2010/main" val="350671819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u="sng" dirty="0" smtClean="0">
                <a:solidFill>
                  <a:srgbClr val="FF0000"/>
                </a:solidFill>
              </a:rPr>
              <a:t>MEASURES TO CONTROL INFLATION</a:t>
            </a:r>
            <a:endParaRPr lang="en-US" u="sng" dirty="0">
              <a:solidFill>
                <a:srgbClr val="FF0000"/>
              </a:solidFill>
            </a:endParaRPr>
          </a:p>
        </p:txBody>
      </p:sp>
      <p:sp>
        <p:nvSpPr>
          <p:cNvPr id="3" name="Content Placeholder 2"/>
          <p:cNvSpPr>
            <a:spLocks noGrp="1"/>
          </p:cNvSpPr>
          <p:nvPr>
            <p:ph sz="half" idx="1"/>
          </p:nvPr>
        </p:nvSpPr>
        <p:spPr/>
        <p:txBody>
          <a:bodyPr>
            <a:normAutofit fontScale="92500" lnSpcReduction="10000"/>
          </a:bodyPr>
          <a:lstStyle/>
          <a:p>
            <a:pPr>
              <a:buNone/>
            </a:pPr>
            <a:r>
              <a:rPr lang="en-US" u="sng" dirty="0" err="1" smtClean="0"/>
              <a:t>I.Monetary</a:t>
            </a:r>
            <a:r>
              <a:rPr lang="en-US" u="sng" dirty="0" smtClean="0"/>
              <a:t> Policy Measures</a:t>
            </a:r>
            <a:endParaRPr lang="en-US" dirty="0" smtClean="0"/>
          </a:p>
          <a:p>
            <a:pPr marL="457200" indent="-457200">
              <a:buAutoNum type="alphaUcPeriod"/>
            </a:pPr>
            <a:r>
              <a:rPr lang="en-US" sz="2400" u="sng" dirty="0" smtClean="0">
                <a:solidFill>
                  <a:srgbClr val="C00000"/>
                </a:solidFill>
              </a:rPr>
              <a:t>Quantitative Measures</a:t>
            </a:r>
            <a:r>
              <a:rPr lang="en-US" sz="2400" dirty="0" smtClean="0">
                <a:solidFill>
                  <a:srgbClr val="002060"/>
                </a:solidFill>
              </a:rPr>
              <a:t>:-</a:t>
            </a:r>
          </a:p>
          <a:p>
            <a:pPr marL="514350" indent="-514350">
              <a:buNone/>
            </a:pPr>
            <a:r>
              <a:rPr lang="en-US" sz="2400" dirty="0" smtClean="0">
                <a:solidFill>
                  <a:srgbClr val="002060"/>
                </a:solidFill>
              </a:rPr>
              <a:t>1.Bank rate Policy</a:t>
            </a:r>
          </a:p>
          <a:p>
            <a:pPr marL="514350" indent="-514350">
              <a:buNone/>
            </a:pPr>
            <a:r>
              <a:rPr lang="en-US" sz="2400" dirty="0" smtClean="0">
                <a:solidFill>
                  <a:srgbClr val="002060"/>
                </a:solidFill>
              </a:rPr>
              <a:t>2.Open Market Operations.</a:t>
            </a:r>
          </a:p>
          <a:p>
            <a:pPr marL="514350" indent="-514350">
              <a:buNone/>
            </a:pPr>
            <a:r>
              <a:rPr lang="en-US" sz="2000" dirty="0" smtClean="0">
                <a:solidFill>
                  <a:srgbClr val="002060"/>
                </a:solidFill>
              </a:rPr>
              <a:t>3.Variations in Cash reserve ratio.</a:t>
            </a:r>
          </a:p>
          <a:p>
            <a:pPr marL="514350" indent="-514350">
              <a:buAutoNum type="alphaUcPeriod" startAt="2"/>
            </a:pPr>
            <a:r>
              <a:rPr lang="en-US" sz="2000" u="sng" dirty="0" smtClean="0">
                <a:solidFill>
                  <a:srgbClr val="C00000"/>
                </a:solidFill>
              </a:rPr>
              <a:t>Qualitative Measures</a:t>
            </a:r>
            <a:r>
              <a:rPr lang="en-US" sz="2000" dirty="0" smtClean="0">
                <a:solidFill>
                  <a:srgbClr val="C00000"/>
                </a:solidFill>
              </a:rPr>
              <a:t>:-</a:t>
            </a:r>
          </a:p>
          <a:p>
            <a:pPr marL="514350" indent="-514350">
              <a:buNone/>
            </a:pPr>
            <a:r>
              <a:rPr lang="en-US" sz="2000" dirty="0" smtClean="0">
                <a:solidFill>
                  <a:srgbClr val="C00000"/>
                </a:solidFill>
              </a:rPr>
              <a:t>1.Fixation of Margin Requirements.</a:t>
            </a:r>
          </a:p>
          <a:p>
            <a:pPr marL="514350" indent="-514350">
              <a:buNone/>
            </a:pPr>
            <a:r>
              <a:rPr lang="en-US" sz="2000" dirty="0" smtClean="0">
                <a:solidFill>
                  <a:srgbClr val="C00000"/>
                </a:solidFill>
              </a:rPr>
              <a:t>2.Regulation of Consumer Credit.</a:t>
            </a:r>
          </a:p>
          <a:p>
            <a:pPr marL="514350" indent="-514350">
              <a:buNone/>
            </a:pPr>
            <a:r>
              <a:rPr lang="en-US" sz="2000" dirty="0" smtClean="0">
                <a:solidFill>
                  <a:srgbClr val="C00000"/>
                </a:solidFill>
              </a:rPr>
              <a:t>3.Rationing of Credit.</a:t>
            </a:r>
          </a:p>
          <a:p>
            <a:pPr marL="514350" indent="-514350">
              <a:buNone/>
            </a:pPr>
            <a:r>
              <a:rPr lang="en-US" sz="2000" dirty="0" smtClean="0">
                <a:solidFill>
                  <a:srgbClr val="C00000"/>
                </a:solidFill>
              </a:rPr>
              <a:t>4.Control through Directives.</a:t>
            </a:r>
          </a:p>
          <a:p>
            <a:pPr marL="514350" indent="-514350">
              <a:buNone/>
            </a:pPr>
            <a:r>
              <a:rPr lang="en-US" sz="2000" dirty="0" smtClean="0">
                <a:solidFill>
                  <a:srgbClr val="C00000"/>
                </a:solidFill>
              </a:rPr>
              <a:t>5.Moral suasion.</a:t>
            </a:r>
          </a:p>
          <a:p>
            <a:pPr marL="514350" indent="-514350">
              <a:buNone/>
            </a:pPr>
            <a:r>
              <a:rPr lang="en-US" sz="2000" dirty="0" smtClean="0">
                <a:solidFill>
                  <a:srgbClr val="C00000"/>
                </a:solidFill>
              </a:rPr>
              <a:t>6.Publicity.</a:t>
            </a:r>
          </a:p>
          <a:p>
            <a:pPr marL="514350" indent="-514350">
              <a:buNone/>
            </a:pPr>
            <a:r>
              <a:rPr lang="en-US" sz="2000" dirty="0" smtClean="0">
                <a:solidFill>
                  <a:srgbClr val="C00000"/>
                </a:solidFill>
              </a:rPr>
              <a:t>7.Direct action.</a:t>
            </a:r>
            <a:endParaRPr lang="en-US" sz="2400" dirty="0">
              <a:solidFill>
                <a:srgbClr val="C00000"/>
              </a:solidFill>
            </a:endParaRPr>
          </a:p>
        </p:txBody>
      </p:sp>
      <p:sp>
        <p:nvSpPr>
          <p:cNvPr id="4" name="Content Placeholder 3"/>
          <p:cNvSpPr>
            <a:spLocks noGrp="1"/>
          </p:cNvSpPr>
          <p:nvPr>
            <p:ph sz="half" idx="2"/>
          </p:nvPr>
        </p:nvSpPr>
        <p:spPr/>
        <p:txBody>
          <a:bodyPr>
            <a:normAutofit fontScale="92500" lnSpcReduction="10000"/>
          </a:bodyPr>
          <a:lstStyle/>
          <a:p>
            <a:pPr>
              <a:buNone/>
            </a:pPr>
            <a:r>
              <a:rPr lang="en-US" u="sng" dirty="0" err="1" smtClean="0"/>
              <a:t>II.Fiscal</a:t>
            </a:r>
            <a:r>
              <a:rPr lang="en-US" u="sng" dirty="0" smtClean="0"/>
              <a:t> Policy Measures</a:t>
            </a:r>
          </a:p>
          <a:p>
            <a:pPr>
              <a:buNone/>
            </a:pPr>
            <a:r>
              <a:rPr lang="en-US" dirty="0" smtClean="0">
                <a:solidFill>
                  <a:srgbClr val="00B0F0"/>
                </a:solidFill>
              </a:rPr>
              <a:t>1.Public Revenue.</a:t>
            </a:r>
          </a:p>
          <a:p>
            <a:pPr>
              <a:buNone/>
            </a:pPr>
            <a:r>
              <a:rPr lang="en-US" dirty="0" smtClean="0">
                <a:solidFill>
                  <a:srgbClr val="00B0F0"/>
                </a:solidFill>
              </a:rPr>
              <a:t>2.Public Expenditure</a:t>
            </a:r>
          </a:p>
          <a:p>
            <a:pPr>
              <a:buNone/>
            </a:pPr>
            <a:r>
              <a:rPr lang="en-US" dirty="0" smtClean="0">
                <a:solidFill>
                  <a:srgbClr val="00B0F0"/>
                </a:solidFill>
              </a:rPr>
              <a:t>3.Public Borrowing.</a:t>
            </a:r>
          </a:p>
          <a:p>
            <a:pPr>
              <a:buNone/>
            </a:pPr>
            <a:endParaRPr lang="en-US" dirty="0" smtClean="0"/>
          </a:p>
          <a:p>
            <a:pPr>
              <a:buNone/>
            </a:pPr>
            <a:r>
              <a:rPr lang="en-US" u="sng" dirty="0" err="1" smtClean="0"/>
              <a:t>III.Other</a:t>
            </a:r>
            <a:r>
              <a:rPr lang="en-US" u="sng" dirty="0" smtClean="0"/>
              <a:t> Measures</a:t>
            </a:r>
          </a:p>
          <a:p>
            <a:pPr>
              <a:buNone/>
            </a:pPr>
            <a:r>
              <a:rPr lang="en-US" dirty="0" smtClean="0">
                <a:solidFill>
                  <a:srgbClr val="7030A0"/>
                </a:solidFill>
              </a:rPr>
              <a:t>1.Increasing the Supply of Goods and services.</a:t>
            </a:r>
          </a:p>
          <a:p>
            <a:pPr>
              <a:buNone/>
            </a:pPr>
            <a:r>
              <a:rPr lang="en-US" dirty="0" smtClean="0">
                <a:solidFill>
                  <a:srgbClr val="7030A0"/>
                </a:solidFill>
              </a:rPr>
              <a:t>2.Price Control.</a:t>
            </a:r>
          </a:p>
          <a:p>
            <a:pPr>
              <a:buNone/>
            </a:pPr>
            <a:r>
              <a:rPr lang="en-US" dirty="0" smtClean="0">
                <a:solidFill>
                  <a:srgbClr val="7030A0"/>
                </a:solidFill>
              </a:rPr>
              <a:t>3.Wage Control.</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u="sng" dirty="0" smtClean="0">
                <a:solidFill>
                  <a:srgbClr val="FF0000"/>
                </a:solidFill>
              </a:rPr>
              <a:t>Monetary policy Measures</a:t>
            </a:r>
            <a:br>
              <a:rPr lang="en-US" u="sng" dirty="0" smtClean="0">
                <a:solidFill>
                  <a:srgbClr val="FF0000"/>
                </a:solidFill>
              </a:rPr>
            </a:br>
            <a:r>
              <a:rPr lang="en-US" u="sng" dirty="0" smtClean="0">
                <a:solidFill>
                  <a:srgbClr val="C00000"/>
                </a:solidFill>
              </a:rPr>
              <a:t>(Methods of Credit Control)</a:t>
            </a:r>
            <a:endParaRPr lang="en-IN" u="sng" dirty="0">
              <a:solidFill>
                <a:srgbClr val="C00000"/>
              </a:solidFill>
            </a:endParaRPr>
          </a:p>
        </p:txBody>
      </p:sp>
      <p:sp>
        <p:nvSpPr>
          <p:cNvPr id="6" name="Content Placeholder 5"/>
          <p:cNvSpPr>
            <a:spLocks noGrp="1"/>
          </p:cNvSpPr>
          <p:nvPr>
            <p:ph idx="1"/>
          </p:nvPr>
        </p:nvSpPr>
        <p:spPr/>
        <p:txBody>
          <a:bodyPr>
            <a:normAutofit fontScale="85000" lnSpcReduction="20000"/>
          </a:bodyPr>
          <a:lstStyle/>
          <a:p>
            <a:pPr marL="0" indent="0" algn="just">
              <a:buNone/>
            </a:pPr>
            <a:r>
              <a:rPr lang="en-US" dirty="0" smtClean="0"/>
              <a:t>	Credit control is an important function of Central Banks. Monetary policy measures are the measures adopted by the Central Bank of a country to control credit and money supply in an economy.</a:t>
            </a:r>
          </a:p>
          <a:p>
            <a:pPr marL="0" indent="0" algn="just">
              <a:buNone/>
            </a:pPr>
            <a:r>
              <a:rPr lang="en-US" u="sng" dirty="0" smtClean="0">
                <a:solidFill>
                  <a:srgbClr val="FF0000"/>
                </a:solidFill>
              </a:rPr>
              <a:t>Objectives of Credit Control (Monetary Policy)</a:t>
            </a:r>
            <a:r>
              <a:rPr lang="en-US" dirty="0" smtClean="0"/>
              <a:t>:-</a:t>
            </a:r>
          </a:p>
          <a:p>
            <a:pPr marL="514350" indent="-514350" algn="just">
              <a:buAutoNum type="arabicParenR"/>
            </a:pPr>
            <a:r>
              <a:rPr lang="en-US" dirty="0" smtClean="0">
                <a:solidFill>
                  <a:srgbClr val="0070C0"/>
                </a:solidFill>
              </a:rPr>
              <a:t>Price Stability</a:t>
            </a:r>
            <a:r>
              <a:rPr lang="en-US" dirty="0" smtClean="0"/>
              <a:t>	</a:t>
            </a:r>
            <a:r>
              <a:rPr lang="en-US" dirty="0" smtClean="0">
                <a:solidFill>
                  <a:srgbClr val="002060"/>
                </a:solidFill>
              </a:rPr>
              <a:t>2)Economic Stability </a:t>
            </a:r>
            <a:r>
              <a:rPr lang="en-US" dirty="0" smtClean="0">
                <a:solidFill>
                  <a:srgbClr val="7030A0"/>
                </a:solidFill>
              </a:rPr>
              <a:t>3)Exchange rate Stability </a:t>
            </a:r>
            <a:r>
              <a:rPr lang="en-US" dirty="0" smtClean="0">
                <a:solidFill>
                  <a:srgbClr val="00B050"/>
                </a:solidFill>
              </a:rPr>
              <a:t>4)Money Market Stability </a:t>
            </a:r>
            <a:r>
              <a:rPr lang="en-US" dirty="0" smtClean="0"/>
              <a:t>5)Economic Growth </a:t>
            </a:r>
            <a:r>
              <a:rPr lang="en-US" dirty="0" smtClean="0">
                <a:solidFill>
                  <a:srgbClr val="C00000"/>
                </a:solidFill>
              </a:rPr>
              <a:t>6)</a:t>
            </a:r>
            <a:r>
              <a:rPr lang="en-US" dirty="0" err="1" smtClean="0">
                <a:solidFill>
                  <a:srgbClr val="C00000"/>
                </a:solidFill>
              </a:rPr>
              <a:t>Maximisation</a:t>
            </a:r>
            <a:r>
              <a:rPr lang="en-US" dirty="0" smtClean="0">
                <a:solidFill>
                  <a:srgbClr val="C00000"/>
                </a:solidFill>
              </a:rPr>
              <a:t> of Employment</a:t>
            </a:r>
          </a:p>
          <a:p>
            <a:pPr marL="0" indent="0" algn="just">
              <a:buNone/>
            </a:pPr>
            <a:r>
              <a:rPr lang="en-US" dirty="0">
                <a:solidFill>
                  <a:srgbClr val="C00000"/>
                </a:solidFill>
              </a:rPr>
              <a:t>	</a:t>
            </a:r>
            <a:r>
              <a:rPr lang="en-US" dirty="0" smtClean="0">
                <a:solidFill>
                  <a:srgbClr val="C00000"/>
                </a:solidFill>
              </a:rPr>
              <a:t>Monetary policy measures can be classified as</a:t>
            </a:r>
          </a:p>
          <a:p>
            <a:pPr marL="0" indent="0" algn="just">
              <a:buNone/>
            </a:pPr>
            <a:r>
              <a:rPr lang="en-US" dirty="0" smtClean="0">
                <a:solidFill>
                  <a:srgbClr val="C00000"/>
                </a:solidFill>
              </a:rPr>
              <a:t> a) Quantitative credit control methods and </a:t>
            </a:r>
          </a:p>
          <a:p>
            <a:pPr marL="0" indent="0" algn="just">
              <a:buNone/>
            </a:pPr>
            <a:r>
              <a:rPr lang="en-US" dirty="0" smtClean="0">
                <a:solidFill>
                  <a:srgbClr val="C00000"/>
                </a:solidFill>
              </a:rPr>
              <a:t> b) Qualitative credit control methods.</a:t>
            </a:r>
          </a:p>
          <a:p>
            <a:pPr marL="0" indent="0" algn="just">
              <a:buNone/>
            </a:pPr>
            <a:endParaRPr lang="en-IN" dirty="0">
              <a:solidFill>
                <a:srgbClr val="C00000"/>
              </a:solidFill>
            </a:endParaRPr>
          </a:p>
        </p:txBody>
      </p:sp>
    </p:spTree>
    <p:extLst>
      <p:ext uri="{BB962C8B-B14F-4D97-AF65-F5344CB8AC3E}">
        <p14:creationId xmlns:p14="http://schemas.microsoft.com/office/powerpoint/2010/main" val="6612166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solidFill>
                  <a:srgbClr val="C00000"/>
                </a:solidFill>
              </a:rPr>
              <a:t>1.Quantitative or General Methods</a:t>
            </a:r>
            <a:endParaRPr lang="en-IN" u="sng" dirty="0">
              <a:solidFill>
                <a:srgbClr val="C00000"/>
              </a:solidFill>
            </a:endParaRPr>
          </a:p>
        </p:txBody>
      </p:sp>
      <p:sp>
        <p:nvSpPr>
          <p:cNvPr id="3" name="Content Placeholder 2"/>
          <p:cNvSpPr>
            <a:spLocks noGrp="1"/>
          </p:cNvSpPr>
          <p:nvPr>
            <p:ph idx="1"/>
          </p:nvPr>
        </p:nvSpPr>
        <p:spPr/>
        <p:txBody>
          <a:bodyPr>
            <a:normAutofit lnSpcReduction="10000"/>
          </a:bodyPr>
          <a:lstStyle/>
          <a:p>
            <a:pPr marL="0" indent="0" algn="just">
              <a:buNone/>
            </a:pPr>
            <a:r>
              <a:rPr lang="en-US" dirty="0" smtClean="0"/>
              <a:t>	The methods used by the Central bank to influence the total volume of credit in the banking system, without considering the purpose for which the credit is used. </a:t>
            </a:r>
          </a:p>
          <a:p>
            <a:pPr marL="0" indent="0" algn="just">
              <a:buNone/>
            </a:pPr>
            <a:r>
              <a:rPr lang="en-US" dirty="0"/>
              <a:t>	</a:t>
            </a:r>
            <a:r>
              <a:rPr lang="en-US" dirty="0" smtClean="0"/>
              <a:t>The important quantitative credit control methods are:</a:t>
            </a:r>
          </a:p>
          <a:p>
            <a:pPr marL="514350" indent="-514350" algn="just">
              <a:buAutoNum type="alphaLcParenR"/>
            </a:pPr>
            <a:r>
              <a:rPr lang="en-US" dirty="0" smtClean="0"/>
              <a:t>Bank rate policy</a:t>
            </a:r>
          </a:p>
          <a:p>
            <a:pPr marL="514350" indent="-514350" algn="just">
              <a:buAutoNum type="alphaLcParenR"/>
            </a:pPr>
            <a:r>
              <a:rPr lang="en-US" dirty="0" smtClean="0"/>
              <a:t>Open Market Operations</a:t>
            </a:r>
          </a:p>
          <a:p>
            <a:pPr marL="514350" indent="-514350" algn="just">
              <a:buAutoNum type="alphaLcParenR"/>
            </a:pPr>
            <a:r>
              <a:rPr lang="en-US" dirty="0" smtClean="0"/>
              <a:t>Variations in Cash Reserve </a:t>
            </a:r>
            <a:r>
              <a:rPr lang="en-US" dirty="0"/>
              <a:t>R</a:t>
            </a:r>
            <a:r>
              <a:rPr lang="en-US" dirty="0" smtClean="0"/>
              <a:t>atio</a:t>
            </a:r>
            <a:endParaRPr lang="en-IN" dirty="0"/>
          </a:p>
        </p:txBody>
      </p:sp>
    </p:spTree>
    <p:extLst>
      <p:ext uri="{BB962C8B-B14F-4D97-AF65-F5344CB8AC3E}">
        <p14:creationId xmlns:p14="http://schemas.microsoft.com/office/powerpoint/2010/main" val="3658659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a:bodyPr>
          <a:lstStyle/>
          <a:p>
            <a:pPr marL="514350" indent="-514350">
              <a:buAutoNum type="alphaLcParenR"/>
            </a:pPr>
            <a:r>
              <a:rPr lang="en-US" u="sng" dirty="0" smtClean="0">
                <a:solidFill>
                  <a:srgbClr val="C00000"/>
                </a:solidFill>
              </a:rPr>
              <a:t>Bank Rate Policy</a:t>
            </a:r>
            <a:r>
              <a:rPr lang="en-US" dirty="0" smtClean="0"/>
              <a:t>:-</a:t>
            </a:r>
          </a:p>
          <a:p>
            <a:pPr marL="0" indent="0" algn="just">
              <a:buNone/>
            </a:pPr>
            <a:r>
              <a:rPr lang="en-US" dirty="0"/>
              <a:t>	</a:t>
            </a:r>
            <a:r>
              <a:rPr lang="en-US" dirty="0" smtClean="0"/>
              <a:t>Bank rate(4.25%, </a:t>
            </a:r>
            <a:r>
              <a:rPr lang="en-US" dirty="0"/>
              <a:t>J</a:t>
            </a:r>
            <a:r>
              <a:rPr lang="en-US" dirty="0" smtClean="0"/>
              <a:t>anuary 2022) is the rate at which the central bank rediscounts the first class bills of exchange of the commercial banks and discount houses. In simple words, bank rate is the lending rate of the Central Bank. If the bank rate is raised, then the market rate of interest tends to rise. On the other hand, if the bank rate is lowered, then the market rate of interest tends to fall.</a:t>
            </a:r>
            <a:endParaRPr lang="en-IN" dirty="0"/>
          </a:p>
        </p:txBody>
      </p:sp>
    </p:spTree>
    <p:extLst>
      <p:ext uri="{BB962C8B-B14F-4D97-AF65-F5344CB8AC3E}">
        <p14:creationId xmlns:p14="http://schemas.microsoft.com/office/powerpoint/2010/main" val="37839145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57200" y="1600200"/>
            <a:ext cx="8229600" cy="5141168"/>
          </a:xfrm>
        </p:spPr>
        <p:txBody>
          <a:bodyPr>
            <a:normAutofit fontScale="77500" lnSpcReduction="20000"/>
          </a:bodyPr>
          <a:lstStyle/>
          <a:p>
            <a:pPr marL="0" indent="0" algn="just">
              <a:buNone/>
            </a:pPr>
            <a:r>
              <a:rPr lang="en-US" dirty="0" smtClean="0"/>
              <a:t>	</a:t>
            </a:r>
            <a:r>
              <a:rPr lang="en-US" dirty="0" smtClean="0">
                <a:solidFill>
                  <a:srgbClr val="0070C0"/>
                </a:solidFill>
              </a:rPr>
              <a:t>During times of inflation, the Central Bank raises the Bank rate. As a result, market rate of interest tends to rise. This discourages new loans. The businessmen reduce their production and some factors will be thrown out of employment. As a result, the purchasing power of the people is reduced. This will lead to fall in demand for goods and thereby price level falls. Thus, Central Bank can check inflationary rise in price level by increasing the bank rate.</a:t>
            </a:r>
          </a:p>
          <a:p>
            <a:pPr marL="0" indent="0" algn="just">
              <a:buNone/>
            </a:pPr>
            <a:r>
              <a:rPr lang="en-US" dirty="0"/>
              <a:t>	</a:t>
            </a:r>
            <a:r>
              <a:rPr lang="en-US" dirty="0" smtClean="0">
                <a:solidFill>
                  <a:srgbClr val="002060"/>
                </a:solidFill>
              </a:rPr>
              <a:t>During times of deflation, the Central bank reduces the bank rate so that the commercial banks can </a:t>
            </a:r>
            <a:r>
              <a:rPr lang="en-US" dirty="0" err="1" smtClean="0">
                <a:solidFill>
                  <a:srgbClr val="002060"/>
                </a:solidFill>
              </a:rPr>
              <a:t>cutshort</a:t>
            </a:r>
            <a:r>
              <a:rPr lang="en-US" dirty="0" smtClean="0">
                <a:solidFill>
                  <a:srgbClr val="002060"/>
                </a:solidFill>
              </a:rPr>
              <a:t> the rate of interest. This will encourage businessmen to borrow heavily from banks. They invest the borrowed money in different fields of production, which increases the purchasing power of the people- more output- more employment- and finally a rise in the price of goods. Thus it will check the deflationary trend in the country. </a:t>
            </a:r>
            <a:endParaRPr lang="en-IN" dirty="0">
              <a:solidFill>
                <a:srgbClr val="002060"/>
              </a:solidFill>
            </a:endParaRPr>
          </a:p>
        </p:txBody>
      </p:sp>
    </p:spTree>
    <p:extLst>
      <p:ext uri="{BB962C8B-B14F-4D97-AF65-F5344CB8AC3E}">
        <p14:creationId xmlns:p14="http://schemas.microsoft.com/office/powerpoint/2010/main" val="22908299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pPr marL="0" indent="0">
              <a:buNone/>
            </a:pPr>
            <a:r>
              <a:rPr lang="en-US" u="sng" dirty="0" smtClean="0">
                <a:solidFill>
                  <a:srgbClr val="FF0000"/>
                </a:solidFill>
              </a:rPr>
              <a:t>b) Open market Operations</a:t>
            </a:r>
            <a:r>
              <a:rPr lang="en-US" dirty="0" smtClean="0"/>
              <a:t>:-</a:t>
            </a:r>
          </a:p>
          <a:p>
            <a:pPr marL="0" indent="0" algn="just">
              <a:buNone/>
            </a:pPr>
            <a:r>
              <a:rPr lang="en-US" dirty="0"/>
              <a:t>	</a:t>
            </a:r>
            <a:r>
              <a:rPr lang="en-US" dirty="0" smtClean="0"/>
              <a:t>Open Market Operations refer to the deliberate and direct buying and selling of securities in the money market by the central bank. In the narrow sense, OMO refer to the purchase and sale by the Central Bank of government securities in the money market. In the broader sense, OMO imply the purchase and sale by the Central bank of any kind of eligible paper like govt. securities, bills and securities of private concerns etc.</a:t>
            </a:r>
            <a:endParaRPr lang="en-IN" dirty="0"/>
          </a:p>
        </p:txBody>
      </p:sp>
    </p:spTree>
    <p:extLst>
      <p:ext uri="{BB962C8B-B14F-4D97-AF65-F5344CB8AC3E}">
        <p14:creationId xmlns:p14="http://schemas.microsoft.com/office/powerpoint/2010/main" val="4637862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pPr marL="0" indent="0" algn="just">
              <a:buNone/>
            </a:pPr>
            <a:r>
              <a:rPr lang="en-US" dirty="0" smtClean="0"/>
              <a:t>	During times of Inflation, the Central bank sells in the Money market eligible securities which are possessed by it with a view to reduce the volume of money supply or credit. The buyers of the security are the commercial banks, insurance companies, individual firms etc. who make payments  by drawing </a:t>
            </a:r>
            <a:r>
              <a:rPr lang="en-US" dirty="0" err="1" smtClean="0"/>
              <a:t>cheques</a:t>
            </a:r>
            <a:r>
              <a:rPr lang="en-US" dirty="0" smtClean="0"/>
              <a:t> on the account with the banks. When the commercial banks make payments to the central bank towards the cost of the securities, the cash reserves of commercial banks fall and this reduce its capacity to create credit and further advancement of loans.</a:t>
            </a:r>
          </a:p>
          <a:p>
            <a:pPr marL="0" indent="0" algn="just">
              <a:buNone/>
            </a:pPr>
            <a:r>
              <a:rPr lang="en-US" dirty="0"/>
              <a:t>	</a:t>
            </a:r>
            <a:r>
              <a:rPr lang="en-US" dirty="0" smtClean="0"/>
              <a:t>In times of deflation, Central bank buys securities from the open market. When the central bank buys the securities from the commercial banks or general public, it pays cash to the sellers of securities. Thus, cash will now flow from central bank to commercial banks or general public. With increased cash reserves commercial banks are free to lend liberally. This increases production, investment, employment and price level etc.</a:t>
            </a:r>
            <a:endParaRPr lang="en-IN" dirty="0"/>
          </a:p>
        </p:txBody>
      </p:sp>
    </p:spTree>
    <p:extLst>
      <p:ext uri="{BB962C8B-B14F-4D97-AF65-F5344CB8AC3E}">
        <p14:creationId xmlns:p14="http://schemas.microsoft.com/office/powerpoint/2010/main" val="16566875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a:xfrm>
            <a:off x="457200" y="1268760"/>
            <a:ext cx="8229600" cy="5589240"/>
          </a:xfrm>
        </p:spPr>
        <p:txBody>
          <a:bodyPr>
            <a:normAutofit fontScale="70000" lnSpcReduction="20000"/>
          </a:bodyPr>
          <a:lstStyle/>
          <a:p>
            <a:pPr marL="0" indent="0" algn="just">
              <a:buNone/>
            </a:pPr>
            <a:r>
              <a:rPr lang="en-US" u="sng" dirty="0" smtClean="0">
                <a:solidFill>
                  <a:srgbClr val="FF0000"/>
                </a:solidFill>
              </a:rPr>
              <a:t>C)Variations in Reserve Ratio:-</a:t>
            </a:r>
            <a:endParaRPr lang="en-US" dirty="0" smtClean="0">
              <a:solidFill>
                <a:srgbClr val="002060"/>
              </a:solidFill>
            </a:endParaRPr>
          </a:p>
          <a:p>
            <a:pPr marL="0" indent="0" algn="just">
              <a:buNone/>
            </a:pPr>
            <a:r>
              <a:rPr lang="en-US" dirty="0"/>
              <a:t>	</a:t>
            </a:r>
            <a:r>
              <a:rPr lang="en-US" dirty="0" smtClean="0">
                <a:solidFill>
                  <a:srgbClr val="FF0066"/>
                </a:solidFill>
              </a:rPr>
              <a:t>Depending upon the economic conditions, Central Bank increases or decreases the reserves that every commercial bank should keep in the central bank. There are two types of reserve ratios:</a:t>
            </a:r>
          </a:p>
          <a:p>
            <a:pPr marL="0" indent="0" algn="just">
              <a:buNone/>
            </a:pPr>
            <a:r>
              <a:rPr lang="en-US" u="sng" dirty="0" smtClean="0">
                <a:solidFill>
                  <a:srgbClr val="002060"/>
                </a:solidFill>
              </a:rPr>
              <a:t>i)Cash Reserve Ratio</a:t>
            </a:r>
            <a:r>
              <a:rPr lang="en-US" u="sng" dirty="0">
                <a:solidFill>
                  <a:srgbClr val="FF0000"/>
                </a:solidFill>
              </a:rPr>
              <a:t>(4%)</a:t>
            </a:r>
            <a:r>
              <a:rPr lang="en-US" dirty="0">
                <a:solidFill>
                  <a:srgbClr val="002060"/>
                </a:solidFill>
              </a:rPr>
              <a:t>:-</a:t>
            </a:r>
            <a:r>
              <a:rPr lang="en-US" dirty="0"/>
              <a:t>	</a:t>
            </a:r>
            <a:r>
              <a:rPr lang="en-US" dirty="0" smtClean="0"/>
              <a:t>Every commercial bank should keep a certain percentage of their total deposits in the central bank in the form of cash reserve. This is mandatory and this percentage is called CRR.</a:t>
            </a:r>
          </a:p>
          <a:p>
            <a:pPr marL="0" indent="0" algn="just">
              <a:buNone/>
            </a:pPr>
            <a:r>
              <a:rPr lang="en-US" dirty="0"/>
              <a:t>	</a:t>
            </a:r>
            <a:r>
              <a:rPr lang="en-US" dirty="0" smtClean="0"/>
              <a:t>During times of inflation, the central bank will raise the cash reserve ratio which the commercial banks are require to maintain with the central bank. This will affect the credit creating capacity of the commercial banks. In this way, the central bank can control the credit expansion by commercial banks.</a:t>
            </a:r>
          </a:p>
          <a:p>
            <a:pPr marL="0" indent="0" algn="just">
              <a:buNone/>
            </a:pPr>
            <a:r>
              <a:rPr lang="en-US" dirty="0"/>
              <a:t>	</a:t>
            </a:r>
            <a:r>
              <a:rPr lang="en-US" dirty="0" smtClean="0"/>
              <a:t>During times of deflation, central bank reduces the reserve requirements of commercial banks. The central bank will also release excess cash at the disposal of commercial banks to create credit. Credit creation by commercial banks boosts up economic activity and pushes the price level, employment, output etc. up and finally save the economy from depression.</a:t>
            </a:r>
            <a:endParaRPr lang="en-IN" dirty="0"/>
          </a:p>
        </p:txBody>
      </p:sp>
    </p:spTree>
    <p:extLst>
      <p:ext uri="{BB962C8B-B14F-4D97-AF65-F5344CB8AC3E}">
        <p14:creationId xmlns:p14="http://schemas.microsoft.com/office/powerpoint/2010/main" val="39768023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20000"/>
          </a:bodyPr>
          <a:lstStyle/>
          <a:p>
            <a:pPr marL="0" indent="0">
              <a:buNone/>
            </a:pPr>
            <a:r>
              <a:rPr lang="en-US" u="sng" dirty="0" smtClean="0">
                <a:solidFill>
                  <a:srgbClr val="0070C0"/>
                </a:solidFill>
              </a:rPr>
              <a:t>ii) Statutory Liquidity Ratio(SLR)(18%)</a:t>
            </a:r>
            <a:r>
              <a:rPr lang="en-US" dirty="0" smtClean="0"/>
              <a:t>:-</a:t>
            </a:r>
          </a:p>
          <a:p>
            <a:pPr marL="0" indent="0" algn="just">
              <a:buNone/>
            </a:pPr>
            <a:r>
              <a:rPr lang="en-US" dirty="0"/>
              <a:t>	</a:t>
            </a:r>
            <a:r>
              <a:rPr lang="en-US" dirty="0" smtClean="0"/>
              <a:t>This is another type of reserve that every commercial bank should keep. A commercial bank should keep a certain percentage of their total deposits in the form of safe and liquid assets such as unencumbered government securities, cash and gold.</a:t>
            </a:r>
          </a:p>
          <a:p>
            <a:pPr marL="0" indent="0" algn="just">
              <a:buNone/>
            </a:pPr>
            <a:r>
              <a:rPr lang="en-US" dirty="0"/>
              <a:t>	</a:t>
            </a:r>
            <a:r>
              <a:rPr lang="en-US" dirty="0" smtClean="0"/>
              <a:t>When there is inflation, SLR is increased and it helps to decrease bank credit and to ensure solvency of government securities. Increase in SLR compels commercial banks to invest in government securities.</a:t>
            </a:r>
          </a:p>
          <a:p>
            <a:pPr marL="0" indent="0" algn="just">
              <a:buNone/>
            </a:pPr>
            <a:r>
              <a:rPr lang="en-US" dirty="0"/>
              <a:t>	</a:t>
            </a:r>
            <a:r>
              <a:rPr lang="en-US" dirty="0" smtClean="0"/>
              <a:t>When there is deflation, </a:t>
            </a:r>
            <a:r>
              <a:rPr lang="en-US" dirty="0" smtClean="0"/>
              <a:t>SLR </a:t>
            </a:r>
            <a:r>
              <a:rPr lang="en-US" dirty="0" smtClean="0"/>
              <a:t>is decreased and it helps to increase bank credit.</a:t>
            </a:r>
            <a:endParaRPr lang="en-IN" dirty="0"/>
          </a:p>
        </p:txBody>
      </p:sp>
    </p:spTree>
    <p:extLst>
      <p:ext uri="{BB962C8B-B14F-4D97-AF65-F5344CB8AC3E}">
        <p14:creationId xmlns:p14="http://schemas.microsoft.com/office/powerpoint/2010/main" val="13241985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u="sng" dirty="0" smtClean="0">
                <a:solidFill>
                  <a:srgbClr val="FF0000"/>
                </a:solidFill>
              </a:rPr>
              <a:t>2.Qualitative or Selective Credit Control methods</a:t>
            </a:r>
            <a:endParaRPr lang="en-IN" u="sng" dirty="0">
              <a:solidFill>
                <a:srgbClr val="FF0000"/>
              </a:solidFill>
            </a:endParaRPr>
          </a:p>
        </p:txBody>
      </p:sp>
      <p:sp>
        <p:nvSpPr>
          <p:cNvPr id="3" name="Content Placeholder 2"/>
          <p:cNvSpPr>
            <a:spLocks noGrp="1"/>
          </p:cNvSpPr>
          <p:nvPr>
            <p:ph idx="1"/>
          </p:nvPr>
        </p:nvSpPr>
        <p:spPr/>
        <p:txBody>
          <a:bodyPr>
            <a:normAutofit fontScale="85000" lnSpcReduction="10000"/>
          </a:bodyPr>
          <a:lstStyle/>
          <a:p>
            <a:pPr marL="0" indent="0" algn="just">
              <a:buNone/>
            </a:pPr>
            <a:r>
              <a:rPr lang="en-US" dirty="0" smtClean="0"/>
              <a:t>	Qualitative or selective credit control methods </a:t>
            </a:r>
            <a:r>
              <a:rPr lang="en-US" b="1" dirty="0" smtClean="0">
                <a:solidFill>
                  <a:srgbClr val="002060"/>
                </a:solidFill>
              </a:rPr>
              <a:t>aim at maintaining the quality of credit</a:t>
            </a:r>
            <a:r>
              <a:rPr lang="en-US" dirty="0" smtClean="0"/>
              <a:t>. It distinguishes between </a:t>
            </a:r>
            <a:r>
              <a:rPr lang="en-US" b="1" dirty="0" smtClean="0">
                <a:solidFill>
                  <a:srgbClr val="FF0066"/>
                </a:solidFill>
              </a:rPr>
              <a:t>desirable and undesirable uses of credit/ or productive and unproductive uses of credit. </a:t>
            </a:r>
            <a:endParaRPr lang="en-US" b="1" dirty="0" smtClean="0">
              <a:solidFill>
                <a:srgbClr val="FF0066"/>
              </a:solidFill>
            </a:endParaRPr>
          </a:p>
          <a:p>
            <a:pPr marL="0" indent="0" algn="just">
              <a:buNone/>
            </a:pPr>
            <a:r>
              <a:rPr lang="en-US" b="1" dirty="0">
                <a:solidFill>
                  <a:srgbClr val="FF0066"/>
                </a:solidFill>
              </a:rPr>
              <a:t>	</a:t>
            </a:r>
            <a:r>
              <a:rPr lang="en-US" dirty="0" smtClean="0"/>
              <a:t>It </a:t>
            </a:r>
            <a:r>
              <a:rPr lang="en-US" dirty="0" smtClean="0"/>
              <a:t>implies imposing direct control on certain types of bank lending. It diverts the flow of credit to </a:t>
            </a:r>
            <a:r>
              <a:rPr lang="en-US" b="1" dirty="0" smtClean="0">
                <a:solidFill>
                  <a:srgbClr val="FF6600"/>
                </a:solidFill>
              </a:rPr>
              <a:t>socially desirable uses. </a:t>
            </a:r>
            <a:endParaRPr lang="en-US" b="1" dirty="0" smtClean="0">
              <a:solidFill>
                <a:srgbClr val="FF6600"/>
              </a:solidFill>
            </a:endParaRPr>
          </a:p>
          <a:p>
            <a:pPr marL="0" indent="0" algn="just">
              <a:buNone/>
            </a:pPr>
            <a:r>
              <a:rPr lang="en-US" b="1" dirty="0" smtClean="0">
                <a:solidFill>
                  <a:srgbClr val="2D641A"/>
                </a:solidFill>
              </a:rPr>
              <a:t>They </a:t>
            </a:r>
            <a:r>
              <a:rPr lang="en-US" b="1" dirty="0" smtClean="0">
                <a:solidFill>
                  <a:srgbClr val="2D641A"/>
                </a:solidFill>
              </a:rPr>
              <a:t>are called selective credit control methods because they are selectively applied to control specific situations without having its impact on the economy as a whole</a:t>
            </a:r>
            <a:r>
              <a:rPr lang="en-US" dirty="0" smtClean="0"/>
              <a:t>.</a:t>
            </a:r>
            <a:endParaRPr lang="en-IN" dirty="0"/>
          </a:p>
        </p:txBody>
      </p:sp>
    </p:spTree>
    <p:extLst>
      <p:ext uri="{BB962C8B-B14F-4D97-AF65-F5344CB8AC3E}">
        <p14:creationId xmlns:p14="http://schemas.microsoft.com/office/powerpoint/2010/main" val="39777055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57200" y="1600200"/>
            <a:ext cx="8229600" cy="5212582"/>
          </a:xfrm>
        </p:spPr>
        <p:txBody>
          <a:bodyPr>
            <a:normAutofit fontScale="70000" lnSpcReduction="20000"/>
          </a:bodyPr>
          <a:lstStyle/>
          <a:p>
            <a:pPr marL="0" indent="0">
              <a:buNone/>
            </a:pPr>
            <a:r>
              <a:rPr lang="en-US" u="sng" dirty="0" smtClean="0">
                <a:solidFill>
                  <a:srgbClr val="FF0000"/>
                </a:solidFill>
              </a:rPr>
              <a:t>1.Regulation of Consumer Credit</a:t>
            </a:r>
            <a:r>
              <a:rPr lang="en-US" dirty="0" smtClean="0"/>
              <a:t>:-</a:t>
            </a:r>
          </a:p>
          <a:p>
            <a:pPr marL="0" indent="0" algn="just">
              <a:buNone/>
            </a:pPr>
            <a:r>
              <a:rPr lang="en-US" dirty="0"/>
              <a:t>	</a:t>
            </a:r>
            <a:r>
              <a:rPr lang="en-US" dirty="0" smtClean="0"/>
              <a:t>This method is used to control the demand for durable consumer goods when their supply is limited. As is well-known, goods like refrigerators, Television sets, Two-wheelers, Four Wheelers etc. are purchased on installment credit system. According to this system, a certain percentage of the price of the good is paid by the buyer as </a:t>
            </a:r>
            <a:r>
              <a:rPr lang="en-US" b="1" dirty="0" smtClean="0">
                <a:solidFill>
                  <a:srgbClr val="FF0066"/>
                </a:solidFill>
              </a:rPr>
              <a:t>downright cash </a:t>
            </a:r>
            <a:r>
              <a:rPr lang="en-US" dirty="0" smtClean="0"/>
              <a:t>and the balance is financed by bank credit, which is repayable by the customer on installments spread over a specific period of time.</a:t>
            </a:r>
          </a:p>
          <a:p>
            <a:pPr marL="0" indent="0" algn="just">
              <a:buNone/>
            </a:pPr>
            <a:r>
              <a:rPr lang="en-US" dirty="0"/>
              <a:t>	</a:t>
            </a:r>
            <a:r>
              <a:rPr lang="en-US" dirty="0" smtClean="0"/>
              <a:t>It is well-known that during times of prosperity and inflationary conditions, consumer’s purchases on installment will tend to be large, while during periods of depression, they may fall of dangerously worsening the depression still further. It is, therefore, generally considered essential to regulate consumer’s purchases by prescribing stiffer terms in a boom period and permitting easier terms during a deflation and thus reduce the negative effects of extreme fluctuations in business conditions.</a:t>
            </a:r>
            <a:endParaRPr lang="en-IN" dirty="0"/>
          </a:p>
        </p:txBody>
      </p:sp>
    </p:spTree>
    <p:extLst>
      <p:ext uri="{BB962C8B-B14F-4D97-AF65-F5344CB8AC3E}">
        <p14:creationId xmlns:p14="http://schemas.microsoft.com/office/powerpoint/2010/main" val="15184416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pPr marL="0" indent="0">
              <a:buNone/>
            </a:pPr>
            <a:r>
              <a:rPr lang="en-US" u="sng" dirty="0" smtClean="0">
                <a:solidFill>
                  <a:srgbClr val="FF0000"/>
                </a:solidFill>
              </a:rPr>
              <a:t>2.Fixation of Margin Requirements</a:t>
            </a:r>
            <a:r>
              <a:rPr lang="en-US" dirty="0" smtClean="0"/>
              <a:t>:-</a:t>
            </a:r>
          </a:p>
          <a:p>
            <a:pPr marL="0" indent="0" algn="just">
              <a:buNone/>
            </a:pPr>
            <a:r>
              <a:rPr lang="en-US" dirty="0"/>
              <a:t>	</a:t>
            </a:r>
            <a:r>
              <a:rPr lang="en-US" dirty="0" smtClean="0"/>
              <a:t>Margin refers to the difference between the market value of the security and the amount of loan sanctioned on the security. The essence of this method is that, a bank while advancing money against a security does not lend the entire market value of the security. It lends only a certain percentage of the market value of the security. It always keeps a margin by giving a lesser amount than the market value. If a security has a market value of Rs.10,000/- and if the margin requirement is 60%, the maximum loan that can be advanced would be Rs.4000/-. Similarly, a margin requirement of 80% would allow borrowing of only 20% of the price of the security. Thus, if margin is raised, that will curtail the lending capacity of the commercial bank. Conversely, if margin is lowered, that will activate the credit creating capacity of the banks and the borrowing capacity of the security holder.</a:t>
            </a:r>
            <a:endParaRPr lang="en-IN" dirty="0"/>
          </a:p>
        </p:txBody>
      </p:sp>
    </p:spTree>
    <p:extLst>
      <p:ext uri="{BB962C8B-B14F-4D97-AF65-F5344CB8AC3E}">
        <p14:creationId xmlns:p14="http://schemas.microsoft.com/office/powerpoint/2010/main" val="26072451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pPr marL="0" indent="0">
              <a:buNone/>
            </a:pPr>
            <a:r>
              <a:rPr lang="en-US" u="sng" dirty="0" smtClean="0">
                <a:solidFill>
                  <a:srgbClr val="FF0000"/>
                </a:solidFill>
              </a:rPr>
              <a:t>3.Rationing of credit</a:t>
            </a:r>
            <a:r>
              <a:rPr lang="en-US" dirty="0" smtClean="0"/>
              <a:t>:-</a:t>
            </a:r>
          </a:p>
          <a:p>
            <a:pPr marL="0" indent="0">
              <a:buNone/>
            </a:pPr>
            <a:r>
              <a:rPr lang="en-US" dirty="0"/>
              <a:t>	</a:t>
            </a:r>
            <a:r>
              <a:rPr lang="en-US" dirty="0" smtClean="0"/>
              <a:t>Rationing of credit is a system under which the central bank seeks to limit the total amount of loans and advances to specific categories  granted by commercial banks. Credit rationing is generally of two types:</a:t>
            </a:r>
          </a:p>
          <a:p>
            <a:pPr marL="514350" indent="-514350">
              <a:buAutoNum type="alphaLcParenR"/>
            </a:pPr>
            <a:r>
              <a:rPr lang="en-US" dirty="0" smtClean="0"/>
              <a:t>Variable portfolio ceiling</a:t>
            </a:r>
          </a:p>
          <a:p>
            <a:pPr marL="514350" indent="-514350">
              <a:buAutoNum type="alphaLcParenR"/>
            </a:pPr>
            <a:r>
              <a:rPr lang="en-US" dirty="0" smtClean="0"/>
              <a:t>Variable Capital-Asset ratio</a:t>
            </a:r>
          </a:p>
          <a:p>
            <a:pPr marL="0" indent="0">
              <a:buNone/>
            </a:pPr>
            <a:r>
              <a:rPr lang="en-US" dirty="0"/>
              <a:t>	</a:t>
            </a:r>
            <a:r>
              <a:rPr lang="en-US" dirty="0" smtClean="0"/>
              <a:t>Under variable portfolio ceiling, the central bank fixes a ceiling on the amount of loans and advances for each bank.</a:t>
            </a:r>
          </a:p>
          <a:p>
            <a:pPr marL="0" indent="0">
              <a:buNone/>
            </a:pPr>
            <a:r>
              <a:rPr lang="en-US" dirty="0"/>
              <a:t>	</a:t>
            </a:r>
            <a:r>
              <a:rPr lang="en-US" dirty="0" smtClean="0"/>
              <a:t>Under the variable capital-asset ratio, the central bank prescribes the minimum capital-asset ratio that is to be maintained by commercial banks.</a:t>
            </a:r>
            <a:endParaRPr lang="en-IN" dirty="0"/>
          </a:p>
        </p:txBody>
      </p:sp>
    </p:spTree>
    <p:extLst>
      <p:ext uri="{BB962C8B-B14F-4D97-AF65-F5344CB8AC3E}">
        <p14:creationId xmlns:p14="http://schemas.microsoft.com/office/powerpoint/2010/main" val="40098890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pPr marL="0" indent="0">
              <a:buNone/>
            </a:pPr>
            <a:r>
              <a:rPr lang="en-US" u="sng" dirty="0" smtClean="0">
                <a:solidFill>
                  <a:srgbClr val="FF0000"/>
                </a:solidFill>
              </a:rPr>
              <a:t>4.Control through Directives</a:t>
            </a:r>
            <a:r>
              <a:rPr lang="en-US" dirty="0" smtClean="0"/>
              <a:t>:-</a:t>
            </a:r>
          </a:p>
          <a:p>
            <a:pPr marL="0" indent="0" algn="just">
              <a:buNone/>
            </a:pPr>
            <a:r>
              <a:rPr lang="en-US" dirty="0"/>
              <a:t>	</a:t>
            </a:r>
            <a:r>
              <a:rPr lang="en-US" dirty="0" smtClean="0"/>
              <a:t>The directives of the central bank to the commercial banks may be in the form of written orders, appeals or warnings by the central banks. These directives are issued in order to achieve the following goals.</a:t>
            </a:r>
          </a:p>
          <a:p>
            <a:pPr marL="514350" indent="-514350" algn="just">
              <a:buAutoNum type="alphaLcParenR"/>
            </a:pPr>
            <a:r>
              <a:rPr lang="en-US" dirty="0" smtClean="0"/>
              <a:t>To control the lending policies of commercial banks.</a:t>
            </a:r>
          </a:p>
          <a:p>
            <a:pPr marL="514350" indent="-514350" algn="just">
              <a:buAutoNum type="alphaLcParenR"/>
            </a:pPr>
            <a:r>
              <a:rPr lang="en-US" dirty="0" smtClean="0"/>
              <a:t>To divert the flow of credit from less urgent uses to more urgent uses or from less productive to more productive uses.</a:t>
            </a:r>
          </a:p>
          <a:p>
            <a:pPr marL="514350" indent="-514350" algn="just">
              <a:buAutoNum type="alphaLcParenR"/>
            </a:pPr>
            <a:r>
              <a:rPr lang="en-US" dirty="0" smtClean="0"/>
              <a:t>To prohibit lending for speculative and other dangerous sectors.</a:t>
            </a:r>
          </a:p>
          <a:p>
            <a:pPr marL="514350" indent="-514350" algn="just">
              <a:buAutoNum type="alphaLcParenR"/>
            </a:pPr>
            <a:r>
              <a:rPr lang="en-US" dirty="0" smtClean="0"/>
              <a:t>To fix maximum limit of credit for certain purposes.</a:t>
            </a:r>
            <a:endParaRPr lang="en-IN" dirty="0"/>
          </a:p>
        </p:txBody>
      </p:sp>
    </p:spTree>
    <p:extLst>
      <p:ext uri="{BB962C8B-B14F-4D97-AF65-F5344CB8AC3E}">
        <p14:creationId xmlns:p14="http://schemas.microsoft.com/office/powerpoint/2010/main" val="35525519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pPr marL="0" indent="0">
              <a:buNone/>
            </a:pPr>
            <a:r>
              <a:rPr lang="en-US" u="sng" dirty="0" smtClean="0">
                <a:solidFill>
                  <a:srgbClr val="FF0000"/>
                </a:solidFill>
              </a:rPr>
              <a:t>5.Moral Suasion</a:t>
            </a:r>
            <a:r>
              <a:rPr lang="en-US" dirty="0" smtClean="0"/>
              <a:t>:-</a:t>
            </a:r>
          </a:p>
          <a:p>
            <a:pPr marL="0" indent="0" algn="just">
              <a:buNone/>
            </a:pPr>
            <a:r>
              <a:rPr lang="en-US" dirty="0"/>
              <a:t>	T</a:t>
            </a:r>
            <a:r>
              <a:rPr lang="en-US" dirty="0" smtClean="0"/>
              <a:t>his method involves advice, request, persuasion etc. with commercial banks to co-operate  with the central bank in implementing credit policies. The method of moral suasion is purely informal in character and no compulsion or threat is used. Under this method, central bank cannot take any legal action against non-cooperating banks.</a:t>
            </a:r>
            <a:endParaRPr lang="en-IN" dirty="0"/>
          </a:p>
        </p:txBody>
      </p:sp>
    </p:spTree>
    <p:extLst>
      <p:ext uri="{BB962C8B-B14F-4D97-AF65-F5344CB8AC3E}">
        <p14:creationId xmlns:p14="http://schemas.microsoft.com/office/powerpoint/2010/main" val="38980388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57200" y="1600200"/>
            <a:ext cx="8229600" cy="5141168"/>
          </a:xfrm>
        </p:spPr>
        <p:txBody>
          <a:bodyPr>
            <a:normAutofit fontScale="77500" lnSpcReduction="20000"/>
          </a:bodyPr>
          <a:lstStyle/>
          <a:p>
            <a:pPr marL="0" indent="0">
              <a:buNone/>
            </a:pPr>
            <a:r>
              <a:rPr lang="en-US" u="sng" dirty="0" smtClean="0">
                <a:solidFill>
                  <a:srgbClr val="FF0000"/>
                </a:solidFill>
              </a:rPr>
              <a:t>6.Publicity</a:t>
            </a:r>
            <a:r>
              <a:rPr lang="en-US" dirty="0" smtClean="0"/>
              <a:t>:-</a:t>
            </a:r>
          </a:p>
          <a:p>
            <a:pPr marL="0" indent="0" algn="just">
              <a:buNone/>
            </a:pPr>
            <a:r>
              <a:rPr lang="en-US" dirty="0"/>
              <a:t>	</a:t>
            </a:r>
            <a:r>
              <a:rPr lang="en-US" dirty="0" smtClean="0"/>
              <a:t>The central bank also uses publicity as a method of credit </a:t>
            </a:r>
            <a:r>
              <a:rPr lang="en-US" dirty="0" err="1" smtClean="0"/>
              <a:t>control.through</a:t>
            </a:r>
            <a:r>
              <a:rPr lang="en-US" dirty="0" smtClean="0"/>
              <a:t> publicity the central bank seeks to:</a:t>
            </a:r>
          </a:p>
          <a:p>
            <a:pPr marL="514350" indent="-514350" algn="just">
              <a:buAutoNum type="alphaLcParenR"/>
            </a:pPr>
            <a:r>
              <a:rPr lang="en-US" dirty="0" smtClean="0"/>
              <a:t>Influence the credit policies of the commercial banks.</a:t>
            </a:r>
          </a:p>
          <a:p>
            <a:pPr marL="514350" indent="-514350" algn="just">
              <a:buAutoNum type="alphaLcParenR"/>
            </a:pPr>
            <a:r>
              <a:rPr lang="en-US" dirty="0" smtClean="0"/>
              <a:t>Educate people regarding the economic and monetary condition of the country and</a:t>
            </a:r>
          </a:p>
          <a:p>
            <a:pPr marL="514350" indent="-514350" algn="just">
              <a:buAutoNum type="alphaLcParenR"/>
            </a:pPr>
            <a:r>
              <a:rPr lang="en-US" dirty="0" smtClean="0"/>
              <a:t>To influence the public opinion in </a:t>
            </a:r>
            <a:r>
              <a:rPr lang="en-US" dirty="0" err="1" smtClean="0"/>
              <a:t>favour</a:t>
            </a:r>
            <a:r>
              <a:rPr lang="en-US" dirty="0" smtClean="0"/>
              <a:t> of its monetary policy. </a:t>
            </a:r>
          </a:p>
          <a:p>
            <a:pPr marL="0" indent="0" algn="just">
              <a:buNone/>
            </a:pPr>
            <a:r>
              <a:rPr lang="en-US" dirty="0"/>
              <a:t>	</a:t>
            </a:r>
            <a:r>
              <a:rPr lang="en-US" dirty="0" smtClean="0"/>
              <a:t>The central bank regularly publishes the statement of assets and liabilities of the commercial banks, reviews of credit and business conditions, reports of their own activities, money market and banking conditions etc. From the published material, the banks and the general public can anticipate the future changes in the policies of the central bank. </a:t>
            </a:r>
            <a:endParaRPr lang="en-IN" dirty="0"/>
          </a:p>
        </p:txBody>
      </p:sp>
    </p:spTree>
    <p:extLst>
      <p:ext uri="{BB962C8B-B14F-4D97-AF65-F5344CB8AC3E}">
        <p14:creationId xmlns:p14="http://schemas.microsoft.com/office/powerpoint/2010/main" val="1244760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pPr marL="0" indent="0">
              <a:buNone/>
            </a:pPr>
            <a:r>
              <a:rPr lang="en-US" u="sng" dirty="0" smtClean="0">
                <a:solidFill>
                  <a:srgbClr val="FF0000"/>
                </a:solidFill>
              </a:rPr>
              <a:t>7.Direct action</a:t>
            </a:r>
            <a:r>
              <a:rPr lang="en-US" dirty="0" smtClean="0"/>
              <a:t>:-</a:t>
            </a:r>
          </a:p>
          <a:p>
            <a:pPr marL="0" indent="0">
              <a:buNone/>
            </a:pPr>
            <a:r>
              <a:rPr lang="en-US" dirty="0"/>
              <a:t>	</a:t>
            </a:r>
            <a:r>
              <a:rPr lang="en-US" dirty="0" smtClean="0"/>
              <a:t>Direct action, generally implies coercive measures taken by the central bank against an offending commercial bank or other financial institutions. Central bank can take action against erring banks in the following ways.</a:t>
            </a:r>
          </a:p>
          <a:p>
            <a:pPr marL="514350" indent="-514350">
              <a:buAutoNum type="alphaLcParenR"/>
            </a:pPr>
            <a:r>
              <a:rPr lang="en-US" dirty="0" smtClean="0"/>
              <a:t>The central bank may refuse altogether to grant </a:t>
            </a:r>
            <a:r>
              <a:rPr lang="en-US" dirty="0" smtClean="0"/>
              <a:t>rediscounting </a:t>
            </a:r>
            <a:r>
              <a:rPr lang="en-US" dirty="0" smtClean="0"/>
              <a:t>facilities to such banks;</a:t>
            </a:r>
          </a:p>
          <a:p>
            <a:pPr marL="514350" indent="-514350">
              <a:buAutoNum type="alphaLcParenR"/>
            </a:pPr>
            <a:r>
              <a:rPr lang="en-US" dirty="0" smtClean="0"/>
              <a:t>The central bank may refuse to sanction further financial accommodation to a bank whose existing borrowings are found to be excess of its capital and reserves.</a:t>
            </a:r>
          </a:p>
          <a:p>
            <a:pPr marL="514350" indent="-514350">
              <a:buAutoNum type="alphaLcParenR"/>
            </a:pPr>
            <a:r>
              <a:rPr lang="en-US" dirty="0" smtClean="0"/>
              <a:t>The central bank may start charging penal rate of interest on money borrowed by a bank beyond the prescribed limit, and</a:t>
            </a:r>
          </a:p>
          <a:p>
            <a:pPr marL="514350" indent="-514350">
              <a:buAutoNum type="alphaLcParenR"/>
            </a:pPr>
            <a:r>
              <a:rPr lang="en-US" dirty="0" smtClean="0"/>
              <a:t>The central bank issue general instructions to all the banks concerning their lending and investment operations.</a:t>
            </a:r>
            <a:endParaRPr lang="en-IN" dirty="0"/>
          </a:p>
        </p:txBody>
      </p:sp>
    </p:spTree>
    <p:extLst>
      <p:ext uri="{BB962C8B-B14F-4D97-AF65-F5344CB8AC3E}">
        <p14:creationId xmlns:p14="http://schemas.microsoft.com/office/powerpoint/2010/main" val="11465932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fontScale="92500" lnSpcReduction="10000"/>
          </a:bodyPr>
          <a:lstStyle/>
          <a:p>
            <a:pPr marL="0" indent="0" algn="just">
              <a:buNone/>
            </a:pPr>
            <a:r>
              <a:rPr lang="en-US" dirty="0" smtClean="0"/>
              <a:t>	The RBI has extensive powers under the law to control and regulate the lending policies of commercial banks. </a:t>
            </a:r>
            <a:r>
              <a:rPr lang="en-US" dirty="0" err="1" smtClean="0"/>
              <a:t>Infact</a:t>
            </a:r>
            <a:r>
              <a:rPr lang="en-US" dirty="0" smtClean="0"/>
              <a:t>, it has been following a ‘carrot &amp; stick’ policy. To encourage lending to priority sectors, it has been offering ‘carrots’ to commercial banks, in the form of certain incentives. To discourage lending to the big borrowers in the private sector, RBI is applying ‘ big stick’ policy in the form of special scrutiny and even penalties in the case of violation of the terms of loans.</a:t>
            </a:r>
            <a:endParaRPr lang="en-IN" dirty="0"/>
          </a:p>
        </p:txBody>
      </p:sp>
    </p:spTree>
    <p:extLst>
      <p:ext uri="{BB962C8B-B14F-4D97-AF65-F5344CB8AC3E}">
        <p14:creationId xmlns:p14="http://schemas.microsoft.com/office/powerpoint/2010/main" val="33281317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solidFill>
                  <a:srgbClr val="FF0000"/>
                </a:solidFill>
              </a:rPr>
              <a:t>Fiscal policy measures</a:t>
            </a:r>
            <a:endParaRPr lang="en-IN" u="sng" dirty="0">
              <a:solidFill>
                <a:srgbClr val="FF0000"/>
              </a:solidFill>
            </a:endParaRPr>
          </a:p>
        </p:txBody>
      </p:sp>
      <p:sp>
        <p:nvSpPr>
          <p:cNvPr id="3" name="Content Placeholder 2"/>
          <p:cNvSpPr>
            <a:spLocks noGrp="1"/>
          </p:cNvSpPr>
          <p:nvPr>
            <p:ph idx="1"/>
          </p:nvPr>
        </p:nvSpPr>
        <p:spPr/>
        <p:txBody>
          <a:bodyPr>
            <a:normAutofit lnSpcReduction="10000"/>
          </a:bodyPr>
          <a:lstStyle/>
          <a:p>
            <a:pPr marL="0" indent="0" algn="just">
              <a:buNone/>
            </a:pPr>
            <a:r>
              <a:rPr lang="en-US" dirty="0" smtClean="0"/>
              <a:t>	Fiscal Policy is the policy of the government regarding taxation, public expenditure and borrowing. Fiscal policy measures can be used to control the aggregate demand in the economy.</a:t>
            </a:r>
          </a:p>
          <a:p>
            <a:pPr marL="0" indent="0" algn="just">
              <a:buNone/>
            </a:pPr>
            <a:r>
              <a:rPr lang="en-US" dirty="0"/>
              <a:t>	T</a:t>
            </a:r>
            <a:r>
              <a:rPr lang="en-US" dirty="0" smtClean="0"/>
              <a:t>he main instruments of fiscal policy are:</a:t>
            </a:r>
          </a:p>
          <a:p>
            <a:pPr marL="514350" indent="-514350" algn="just">
              <a:buAutoNum type="arabicParenR"/>
            </a:pPr>
            <a:r>
              <a:rPr lang="en-US" smtClean="0"/>
              <a:t>Public </a:t>
            </a:r>
            <a:r>
              <a:rPr lang="en-US" smtClean="0"/>
              <a:t>revenue(taxation)</a:t>
            </a:r>
            <a:endParaRPr lang="en-US" dirty="0" smtClean="0"/>
          </a:p>
          <a:p>
            <a:pPr marL="514350" indent="-514350" algn="just">
              <a:buAutoNum type="arabicParenR"/>
            </a:pPr>
            <a:r>
              <a:rPr lang="en-US" dirty="0" smtClean="0"/>
              <a:t>Public expenditure</a:t>
            </a:r>
          </a:p>
          <a:p>
            <a:pPr marL="514350" indent="-514350" algn="just">
              <a:buAutoNum type="arabicParenR"/>
            </a:pPr>
            <a:r>
              <a:rPr lang="en-US" dirty="0" smtClean="0"/>
              <a:t>Public borrowing </a:t>
            </a:r>
            <a:endParaRPr lang="en-IN" dirty="0"/>
          </a:p>
        </p:txBody>
      </p:sp>
    </p:spTree>
    <p:extLst>
      <p:ext uri="{BB962C8B-B14F-4D97-AF65-F5344CB8AC3E}">
        <p14:creationId xmlns:p14="http://schemas.microsoft.com/office/powerpoint/2010/main" val="4964450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lgn="just">
              <a:buNone/>
            </a:pPr>
            <a:r>
              <a:rPr lang="en-US" dirty="0" smtClean="0"/>
              <a:t>1</a:t>
            </a:r>
            <a:r>
              <a:rPr lang="en-US" u="sng" dirty="0" smtClean="0">
                <a:solidFill>
                  <a:srgbClr val="FF0000"/>
                </a:solidFill>
              </a:rPr>
              <a:t>) Public revenue</a:t>
            </a:r>
            <a:r>
              <a:rPr lang="en-US" dirty="0" smtClean="0"/>
              <a:t>:- </a:t>
            </a:r>
          </a:p>
          <a:p>
            <a:pPr marL="0" indent="0" algn="just">
              <a:buNone/>
            </a:pPr>
            <a:r>
              <a:rPr lang="en-US" dirty="0" smtClean="0"/>
              <a:t>	The main source of public revenue is tax. When there is inflation the government want to reduce the total spending in the economy and hence tax is increased. Increase in direct taxes decreases the disposable income of the people and hence they spend less money.</a:t>
            </a:r>
            <a:endParaRPr lang="en-IN" dirty="0"/>
          </a:p>
        </p:txBody>
      </p:sp>
    </p:spTree>
    <p:extLst>
      <p:ext uri="{BB962C8B-B14F-4D97-AF65-F5344CB8AC3E}">
        <p14:creationId xmlns:p14="http://schemas.microsoft.com/office/powerpoint/2010/main" val="7657005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10000"/>
          </a:bodyPr>
          <a:lstStyle/>
          <a:p>
            <a:pPr marL="0" indent="0">
              <a:buNone/>
            </a:pPr>
            <a:r>
              <a:rPr lang="en-US" u="sng" dirty="0" smtClean="0">
                <a:solidFill>
                  <a:srgbClr val="FF0000"/>
                </a:solidFill>
              </a:rPr>
              <a:t>2.Public expenditure</a:t>
            </a:r>
            <a:r>
              <a:rPr lang="en-US" dirty="0" smtClean="0"/>
              <a:t>:-</a:t>
            </a:r>
          </a:p>
          <a:p>
            <a:pPr marL="0" indent="0" algn="just">
              <a:buNone/>
            </a:pPr>
            <a:r>
              <a:rPr lang="en-US" dirty="0"/>
              <a:t>	</a:t>
            </a:r>
            <a:r>
              <a:rPr lang="en-US" dirty="0" smtClean="0"/>
              <a:t>During inflation the government cut down its expenditure on developmental activities and welfare </a:t>
            </a:r>
            <a:r>
              <a:rPr lang="en-US" dirty="0" err="1" smtClean="0"/>
              <a:t>programmes</a:t>
            </a:r>
            <a:r>
              <a:rPr lang="en-US" dirty="0" smtClean="0"/>
              <a:t>. This reduces government demand for goods and services as well as private income. When the government spend less money, income of the individuals decreases. Hence, aggregate  demand decreases.</a:t>
            </a:r>
          </a:p>
          <a:p>
            <a:pPr marL="0" indent="0" algn="just">
              <a:buNone/>
            </a:pPr>
            <a:r>
              <a:rPr lang="en-US" u="sng" dirty="0" smtClean="0">
                <a:solidFill>
                  <a:srgbClr val="FF0000"/>
                </a:solidFill>
              </a:rPr>
              <a:t>3.Public Borrowing</a:t>
            </a:r>
            <a:r>
              <a:rPr lang="en-US" dirty="0" smtClean="0"/>
              <a:t>:-</a:t>
            </a:r>
          </a:p>
          <a:p>
            <a:pPr marL="0" indent="0" algn="just">
              <a:buNone/>
            </a:pPr>
            <a:r>
              <a:rPr lang="en-US" dirty="0"/>
              <a:t>	</a:t>
            </a:r>
            <a:r>
              <a:rPr lang="en-US" dirty="0" smtClean="0"/>
              <a:t>when there is inflation the government will delay the repayment of public debt. At the same time the government should borrow more money from the public.</a:t>
            </a:r>
            <a:endParaRPr lang="en-IN" dirty="0"/>
          </a:p>
        </p:txBody>
      </p:sp>
    </p:spTree>
    <p:extLst>
      <p:ext uri="{BB962C8B-B14F-4D97-AF65-F5344CB8AC3E}">
        <p14:creationId xmlns:p14="http://schemas.microsoft.com/office/powerpoint/2010/main" val="15142510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solidFill>
                  <a:srgbClr val="FF0000"/>
                </a:solidFill>
              </a:rPr>
              <a:t>3.Other measures</a:t>
            </a:r>
            <a:endParaRPr lang="en-IN" u="sng" dirty="0">
              <a:solidFill>
                <a:srgbClr val="FF0000"/>
              </a:solidFill>
            </a:endParaRPr>
          </a:p>
        </p:txBody>
      </p:sp>
      <p:sp>
        <p:nvSpPr>
          <p:cNvPr id="3" name="Content Placeholder 2"/>
          <p:cNvSpPr>
            <a:spLocks noGrp="1"/>
          </p:cNvSpPr>
          <p:nvPr>
            <p:ph idx="1"/>
          </p:nvPr>
        </p:nvSpPr>
        <p:spPr/>
        <p:txBody>
          <a:bodyPr>
            <a:normAutofit fontScale="70000" lnSpcReduction="20000"/>
          </a:bodyPr>
          <a:lstStyle/>
          <a:p>
            <a:pPr marL="514350" indent="-514350">
              <a:buAutoNum type="arabicParenR"/>
            </a:pPr>
            <a:r>
              <a:rPr lang="en-US" u="sng" dirty="0" smtClean="0">
                <a:solidFill>
                  <a:srgbClr val="C00000"/>
                </a:solidFill>
              </a:rPr>
              <a:t>Increasing the supply of goods and services</a:t>
            </a:r>
            <a:r>
              <a:rPr lang="en-US" dirty="0" smtClean="0"/>
              <a:t>:-</a:t>
            </a:r>
          </a:p>
          <a:p>
            <a:pPr marL="0" indent="0" algn="just">
              <a:buNone/>
            </a:pPr>
            <a:r>
              <a:rPr lang="en-US" dirty="0"/>
              <a:t>	</a:t>
            </a:r>
            <a:r>
              <a:rPr lang="en-US" dirty="0" smtClean="0"/>
              <a:t>When there is price rise government takes various measures to increase the supply of goods and services. This can be done by importing essential products, banning the export of such items and by encouraging the production of essential commodities.</a:t>
            </a:r>
          </a:p>
          <a:p>
            <a:pPr marL="0" indent="0" algn="just">
              <a:buNone/>
            </a:pPr>
            <a:r>
              <a:rPr lang="en-US" u="sng" dirty="0" smtClean="0">
                <a:solidFill>
                  <a:srgbClr val="C00000"/>
                </a:solidFill>
              </a:rPr>
              <a:t>2) Price control</a:t>
            </a:r>
            <a:r>
              <a:rPr lang="en-US" dirty="0" smtClean="0"/>
              <a:t>:-</a:t>
            </a:r>
          </a:p>
          <a:p>
            <a:pPr marL="0" indent="0" algn="just">
              <a:buNone/>
            </a:pPr>
            <a:r>
              <a:rPr lang="en-US" dirty="0"/>
              <a:t>	</a:t>
            </a:r>
            <a:r>
              <a:rPr lang="en-US" dirty="0" smtClean="0"/>
              <a:t>Direct measures can be taken to control the price of goods and services. Essential commodities can be distributed through the PDS at reduced prices.</a:t>
            </a:r>
          </a:p>
          <a:p>
            <a:pPr marL="0" indent="0" algn="just">
              <a:buNone/>
            </a:pPr>
            <a:r>
              <a:rPr lang="en-US" u="sng" dirty="0" smtClean="0">
                <a:solidFill>
                  <a:srgbClr val="C00000"/>
                </a:solidFill>
              </a:rPr>
              <a:t>3) Wage control</a:t>
            </a:r>
            <a:r>
              <a:rPr lang="en-US" dirty="0" smtClean="0"/>
              <a:t>:-</a:t>
            </a:r>
          </a:p>
          <a:p>
            <a:pPr marL="0" indent="0" algn="just">
              <a:buNone/>
            </a:pPr>
            <a:r>
              <a:rPr lang="en-US" dirty="0"/>
              <a:t>	</a:t>
            </a:r>
            <a:r>
              <a:rPr lang="en-US" dirty="0" smtClean="0"/>
              <a:t>wage control helps to prevent the escalation of cost of production during inflation and thus cost push inflation can be controlled.</a:t>
            </a:r>
            <a:endParaRPr lang="en-IN" dirty="0"/>
          </a:p>
        </p:txBody>
      </p:sp>
    </p:spTree>
    <p:extLst>
      <p:ext uri="{BB962C8B-B14F-4D97-AF65-F5344CB8AC3E}">
        <p14:creationId xmlns:p14="http://schemas.microsoft.com/office/powerpoint/2010/main" val="31005243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solidFill>
                  <a:srgbClr val="FF0000"/>
                </a:solidFill>
              </a:rPr>
              <a:t>Repo rate and Reverse Repo rate</a:t>
            </a:r>
            <a:endParaRPr lang="en-IN" u="sng" dirty="0">
              <a:solidFill>
                <a:srgbClr val="FF0000"/>
              </a:solidFill>
            </a:endParaRPr>
          </a:p>
        </p:txBody>
      </p:sp>
      <p:sp>
        <p:nvSpPr>
          <p:cNvPr id="3" name="Content Placeholder 2"/>
          <p:cNvSpPr>
            <a:spLocks noGrp="1"/>
          </p:cNvSpPr>
          <p:nvPr>
            <p:ph idx="1"/>
          </p:nvPr>
        </p:nvSpPr>
        <p:spPr>
          <a:xfrm>
            <a:off x="457200" y="1600200"/>
            <a:ext cx="8229600" cy="4853136"/>
          </a:xfrm>
        </p:spPr>
        <p:txBody>
          <a:bodyPr>
            <a:normAutofit fontScale="77500" lnSpcReduction="20000"/>
          </a:bodyPr>
          <a:lstStyle/>
          <a:p>
            <a:pPr marL="514350" indent="-514350">
              <a:buAutoNum type="arabicParenR"/>
            </a:pPr>
            <a:r>
              <a:rPr lang="en-US" u="sng" dirty="0" smtClean="0">
                <a:solidFill>
                  <a:srgbClr val="C00000"/>
                </a:solidFill>
              </a:rPr>
              <a:t>Repo rate(4.25%)</a:t>
            </a:r>
            <a:r>
              <a:rPr lang="en-US" dirty="0" smtClean="0"/>
              <a:t>:-</a:t>
            </a:r>
          </a:p>
          <a:p>
            <a:pPr marL="0" indent="0" algn="just">
              <a:buNone/>
            </a:pPr>
            <a:r>
              <a:rPr lang="en-US" dirty="0"/>
              <a:t>	R</a:t>
            </a:r>
            <a:r>
              <a:rPr lang="en-US" dirty="0" smtClean="0"/>
              <a:t>epo rate is the rate at which RBI provides overnight liquidity to banks against the collateral of government and other approved securities. In other words, it is simply the rate at which RBI lends short term funds to commercial banks when they are facing a financial crunch. In this case, a repurchasing agreement is signed by both the parties stating that the securities will be repurchased by the commercial banks on a later date at a predetermined price.</a:t>
            </a:r>
          </a:p>
          <a:p>
            <a:pPr marL="0" indent="0" algn="just">
              <a:buNone/>
            </a:pPr>
            <a:r>
              <a:rPr lang="en-US" dirty="0"/>
              <a:t>	</a:t>
            </a:r>
            <a:r>
              <a:rPr lang="en-US" dirty="0" smtClean="0"/>
              <a:t>Bank rate and repo rate are not the same. In general, repo rate focuses on providing funds to banks for a very short period where as bank rate focuses on long term fund requirements of the commercial banks. In the case of bank rate there is no repurchasing agreement signed and bank rate is usually higher than Repo rate.</a:t>
            </a:r>
            <a:endParaRPr lang="en-IN" dirty="0"/>
          </a:p>
        </p:txBody>
      </p:sp>
    </p:spTree>
    <p:extLst>
      <p:ext uri="{BB962C8B-B14F-4D97-AF65-F5344CB8AC3E}">
        <p14:creationId xmlns:p14="http://schemas.microsoft.com/office/powerpoint/2010/main" val="35838848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57200" y="1600200"/>
            <a:ext cx="8229600" cy="4925144"/>
          </a:xfrm>
        </p:spPr>
        <p:txBody>
          <a:bodyPr>
            <a:normAutofit fontScale="77500" lnSpcReduction="20000"/>
          </a:bodyPr>
          <a:lstStyle/>
          <a:p>
            <a:pPr marL="0" indent="0">
              <a:buNone/>
            </a:pPr>
            <a:r>
              <a:rPr lang="en-US" u="sng" dirty="0" smtClean="0">
                <a:solidFill>
                  <a:srgbClr val="C00000"/>
                </a:solidFill>
              </a:rPr>
              <a:t>2) Reverse repo rate(3.35%)</a:t>
            </a:r>
            <a:r>
              <a:rPr lang="en-US" dirty="0" smtClean="0"/>
              <a:t>:-</a:t>
            </a:r>
          </a:p>
          <a:p>
            <a:pPr marL="0" indent="0" algn="just">
              <a:buNone/>
            </a:pPr>
            <a:r>
              <a:rPr lang="en-US" dirty="0"/>
              <a:t>	</a:t>
            </a:r>
            <a:r>
              <a:rPr lang="en-US" dirty="0" smtClean="0"/>
              <a:t>Reverse repo rate is the rate at which the RBI absorbs liquidity on an overnight basis from commercial banks. In other words, when a commercial bank has excess funds, they can deposit the same in central bank and earn interest in the form of reverse repo rate.</a:t>
            </a:r>
          </a:p>
          <a:p>
            <a:pPr marL="0" indent="0" algn="just">
              <a:buNone/>
            </a:pPr>
            <a:r>
              <a:rPr lang="en-US" dirty="0"/>
              <a:t>	</a:t>
            </a:r>
            <a:r>
              <a:rPr lang="en-US" dirty="0" smtClean="0"/>
              <a:t>The RBI uses this tool when it feels that there is too much money floating in the banking system. An increase in the reverse repo rate means that the banks will get a higher rate of interest from RBI. As a result, banks prefer to deposit their money to central bank. </a:t>
            </a:r>
          </a:p>
          <a:p>
            <a:pPr marL="0" indent="0" algn="just">
              <a:buNone/>
            </a:pPr>
            <a:r>
              <a:rPr lang="en-US" dirty="0"/>
              <a:t>	</a:t>
            </a:r>
            <a:r>
              <a:rPr lang="en-US" dirty="0" smtClean="0"/>
              <a:t>Repo rate and reverse repo rate are also used to control money supply in the economy. Ehen there is excess money in the economy these two rates are  increased. </a:t>
            </a:r>
            <a:endParaRPr lang="en-IN" dirty="0"/>
          </a:p>
        </p:txBody>
      </p:sp>
    </p:spTree>
    <p:extLst>
      <p:ext uri="{BB962C8B-B14F-4D97-AF65-F5344CB8AC3E}">
        <p14:creationId xmlns:p14="http://schemas.microsoft.com/office/powerpoint/2010/main" val="32460957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endParaRPr lang="en-IN" dirty="0"/>
          </a:p>
        </p:txBody>
      </p:sp>
    </p:spTree>
    <p:extLst>
      <p:ext uri="{BB962C8B-B14F-4D97-AF65-F5344CB8AC3E}">
        <p14:creationId xmlns:p14="http://schemas.microsoft.com/office/powerpoint/2010/main" val="8510631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820</TotalTime>
  <Words>639</Words>
  <Application>Microsoft Office PowerPoint</Application>
  <PresentationFormat>On-screen Show (4:3)</PresentationFormat>
  <Paragraphs>170</Paragraphs>
  <Slides>37</Slides>
  <Notes>0</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INFLATION 5.6%(Economic Survey January 2022)(CPI)</vt:lpstr>
      <vt:lpstr>PowerPoint Presentation</vt:lpstr>
      <vt:lpstr>Based on rate, Inflation can be classified in the following way</vt:lpstr>
      <vt:lpstr>DEMAND PULL INFLATION</vt:lpstr>
      <vt:lpstr>DEMAND PULL INFLATION….continued</vt:lpstr>
      <vt:lpstr>COST PUSH INFLATION</vt:lpstr>
      <vt:lpstr>CAUSES OF INFLATION</vt:lpstr>
      <vt:lpstr>Effects of Inflation</vt:lpstr>
      <vt:lpstr>PowerPoint Presentation</vt:lpstr>
      <vt:lpstr>PowerPoint Presentation</vt:lpstr>
      <vt:lpstr>PowerPoint Presentation</vt:lpstr>
      <vt:lpstr>PowerPoint Presentation</vt:lpstr>
      <vt:lpstr>MEASURES TO CONTROL INFLATION</vt:lpstr>
      <vt:lpstr>Monetary policy Measures (Methods of Credit Control)</vt:lpstr>
      <vt:lpstr>1.Quantitative or General Methods</vt:lpstr>
      <vt:lpstr>PowerPoint Presentation</vt:lpstr>
      <vt:lpstr>PowerPoint Presentation</vt:lpstr>
      <vt:lpstr>PowerPoint Presentation</vt:lpstr>
      <vt:lpstr>PowerPoint Presentation</vt:lpstr>
      <vt:lpstr>PowerPoint Presentation</vt:lpstr>
      <vt:lpstr>PowerPoint Presentation</vt:lpstr>
      <vt:lpstr>2.Qualitative or Selective Credit Control methods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Fiscal policy measures</vt:lpstr>
      <vt:lpstr>PowerPoint Presentation</vt:lpstr>
      <vt:lpstr>PowerPoint Presentation</vt:lpstr>
      <vt:lpstr>3.Other measures</vt:lpstr>
      <vt:lpstr>Repo rate and Reverse Repo rate</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INFLATION</dc:title>
  <dc:creator>acer</dc:creator>
  <cp:lastModifiedBy>Lenovo</cp:lastModifiedBy>
  <cp:revision>76</cp:revision>
  <dcterms:created xsi:type="dcterms:W3CDTF">2019-09-26T03:53:05Z</dcterms:created>
  <dcterms:modified xsi:type="dcterms:W3CDTF">2022-02-04T09:51:13Z</dcterms:modified>
</cp:coreProperties>
</file>
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3" r:id="rId2"/>
    <p:sldId id="304" r:id="rId3"/>
    <p:sldId id="305" r:id="rId4"/>
    <p:sldId id="306" r:id="rId5"/>
    <p:sldId id="307" r:id="rId6"/>
    <p:sldId id="308" r:id="rId7"/>
    <p:sldId id="309" r:id="rId8"/>
    <p:sldId id="311" r:id="rId9"/>
    <p:sldId id="310" r:id="rId10"/>
    <p:sldId id="302" r:id="rId11"/>
    <p:sldId id="312" r:id="rId12"/>
    <p:sldId id="313" r:id="rId13"/>
    <p:sldId id="314" r:id="rId14"/>
    <p:sldId id="315" r:id="rId15"/>
    <p:sldId id="316" r:id="rId16"/>
    <p:sldId id="317" r:id="rId17"/>
    <p:sldId id="318" r:id="rId18"/>
    <p:sldId id="319" r:id="rId19"/>
    <p:sldId id="320" r:id="rId20"/>
    <p:sldId id="322" r:id="rId21"/>
    <p:sldId id="323" r:id="rId22"/>
    <p:sldId id="324" r:id="rId23"/>
    <p:sldId id="325" r:id="rId24"/>
    <p:sldId id="326" r:id="rId25"/>
    <p:sldId id="327" r:id="rId26"/>
    <p:sldId id="321" r:id="rId27"/>
    <p:sldId id="328" r:id="rId28"/>
    <p:sldId id="330" r:id="rId29"/>
    <p:sldId id="331" r:id="rId30"/>
    <p:sldId id="332" r:id="rId31"/>
    <p:sldId id="333" r:id="rId32"/>
    <p:sldId id="334" r:id="rId33"/>
    <p:sldId id="335" r:id="rId34"/>
    <p:sldId id="336" r:id="rId35"/>
    <p:sldId id="337" r:id="rId36"/>
    <p:sldId id="338" r:id="rId37"/>
    <p:sldId id="339" r:id="rId38"/>
    <p:sldId id="345" r:id="rId39"/>
    <p:sldId id="340" r:id="rId40"/>
    <p:sldId id="341" r:id="rId41"/>
    <p:sldId id="342" r:id="rId42"/>
    <p:sldId id="343" r:id="rId43"/>
    <p:sldId id="34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jr2vSYpmEQ2mN4HsvAH1wg==" hashData="TvwlNnfjJ2OC9+pCQvPn3X2uOU93IdegkxcMK7qIZ/nKNwxbAvXoHOPpg5owzHBkIPozuWqzpe3X3elyDZp7FQ=="/>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95AF-D90A-2C81-903B-A85E20DC364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9E8D94-00B9-EEE5-CB45-961799AF06A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DC007-0B68-6131-2F63-7E72C5E6F524}"/>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5" name="Footer Placeholder 4">
            <a:extLst>
              <a:ext uri="{FF2B5EF4-FFF2-40B4-BE49-F238E27FC236}">
                <a16:creationId xmlns:a16="http://schemas.microsoft.com/office/drawing/2014/main" id="{B31124F3-440A-7383-55C3-3E2188FCAF93}"/>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AC027905-08F4-5A40-D7A0-D02043179912}"/>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2768625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59655-8422-B934-E8AF-58EE413BB51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1C68B8-F138-4B11-DEC0-291D7B2DD8D8}"/>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E2FD53-4EBC-D7BC-83C8-20A9359EE947}"/>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5" name="Footer Placeholder 4">
            <a:extLst>
              <a:ext uri="{FF2B5EF4-FFF2-40B4-BE49-F238E27FC236}">
                <a16:creationId xmlns:a16="http://schemas.microsoft.com/office/drawing/2014/main" id="{132896DF-BB63-FC93-9888-F2875D056711}"/>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DB85968-942F-15EE-506F-65970DC206E4}"/>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4270071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FA4D3-062C-981B-B095-B7ED37B0E9B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300861-F003-F6E3-BC6C-7CA62B5944E5}"/>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D76636-3A2A-0463-4D1D-9AAD3ECD331E}"/>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5" name="Footer Placeholder 4">
            <a:extLst>
              <a:ext uri="{FF2B5EF4-FFF2-40B4-BE49-F238E27FC236}">
                <a16:creationId xmlns:a16="http://schemas.microsoft.com/office/drawing/2014/main" id="{3D05B2EA-31B6-17E4-6631-6B58DA679BCF}"/>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CAD8931D-E946-6E48-C963-F440741E85FC}"/>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278353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18D6E-C5EA-0DD3-76B3-D62C2591A98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132E3C-5C13-F722-127B-1306FDBAE4D9}"/>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6742BC-D12C-BC8A-5BC3-5747C667F20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CF98FF-F9AE-673A-84FC-D65146EE6AAC}"/>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6" name="Footer Placeholder 5">
            <a:extLst>
              <a:ext uri="{FF2B5EF4-FFF2-40B4-BE49-F238E27FC236}">
                <a16:creationId xmlns:a16="http://schemas.microsoft.com/office/drawing/2014/main" id="{97F8CB79-06E1-6B49-3B51-22913B4A15D3}"/>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FC2E59A2-C2EE-A06E-2420-EC329C72F882}"/>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155984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86FFF-B657-5AD5-7DEA-D7148BBCB12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ADBAAB-01A0-A5C6-E91B-A337E69516B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B0FEAB-6F53-B108-B60C-DD12A350CF8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EBF0D7-5371-B037-F278-F1AFA0881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1A484F-42BD-4ECA-644A-10E118F6532D}"/>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AA367A-E8A9-12C9-040D-1EDCB96A7056}"/>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8" name="Footer Placeholder 7">
            <a:extLst>
              <a:ext uri="{FF2B5EF4-FFF2-40B4-BE49-F238E27FC236}">
                <a16:creationId xmlns:a16="http://schemas.microsoft.com/office/drawing/2014/main" id="{20EB7B57-1B3D-B604-00F2-E33ED1F758F3}"/>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7BEE2184-7C7A-A48D-4146-B37748AA952B}"/>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819097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E184A-B921-E6BF-E7C4-1E797845E27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2B400A5-E589-F66D-1061-A9D1EF620FEF}"/>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4" name="Footer Placeholder 3">
            <a:extLst>
              <a:ext uri="{FF2B5EF4-FFF2-40B4-BE49-F238E27FC236}">
                <a16:creationId xmlns:a16="http://schemas.microsoft.com/office/drawing/2014/main" id="{E9A8671D-F136-151B-3CB6-3EC6AC2D2E65}"/>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E80ECC0A-DD3A-B9A7-63A4-D17E762B3EDE}"/>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612990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5F4216-CBB5-FAAD-CB9C-E0FDE93247F8}"/>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3" name="Footer Placeholder 2">
            <a:extLst>
              <a:ext uri="{FF2B5EF4-FFF2-40B4-BE49-F238E27FC236}">
                <a16:creationId xmlns:a16="http://schemas.microsoft.com/office/drawing/2014/main" id="{CAD82963-221E-A894-2FB6-8D86926A4A0B}"/>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2854F34E-D561-057E-4AE3-DA5EB6346593}"/>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2019009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0F6B8-A6EC-230E-3635-0275C53AF52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126551-CB85-7AB9-8EF2-8D89E196B91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AD6A82-DC9A-9E22-829E-08446067052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A39836-09DA-8E8E-C7EB-6A88AB27F6E4}"/>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6" name="Footer Placeholder 5">
            <a:extLst>
              <a:ext uri="{FF2B5EF4-FFF2-40B4-BE49-F238E27FC236}">
                <a16:creationId xmlns:a16="http://schemas.microsoft.com/office/drawing/2014/main" id="{51D2D738-FB07-4A80-0AF4-3FA9D8F1FEE9}"/>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6DB145C6-9644-F2E0-C0BC-3807A6A0C58B}"/>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373736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B18AC-33F1-B4CF-8780-FB98408A54B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24E166-BA00-08D3-5287-74DD1E87646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199009-8891-065A-2BC3-AF24E314DF8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CA13F2-024E-B880-A6F9-1A5609A71053}"/>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6" name="Footer Placeholder 5">
            <a:extLst>
              <a:ext uri="{FF2B5EF4-FFF2-40B4-BE49-F238E27FC236}">
                <a16:creationId xmlns:a16="http://schemas.microsoft.com/office/drawing/2014/main" id="{AFA92C04-BBC9-82C7-4BDA-5ED4DE091E4A}"/>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5460B5DC-132B-FB46-E3EA-36AF5FD18E26}"/>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3848770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9831-786E-D4FC-E785-3DDAE34D6C9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6108AF-EA98-6C79-4F3A-C0FBD169740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27F5A5-5DCA-5F83-5CAE-711A7EB1C369}"/>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5" name="Footer Placeholder 4">
            <a:extLst>
              <a:ext uri="{FF2B5EF4-FFF2-40B4-BE49-F238E27FC236}">
                <a16:creationId xmlns:a16="http://schemas.microsoft.com/office/drawing/2014/main" id="{E13B2141-9C05-4FFE-E00F-CC775CBD797F}"/>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42CE9E68-6252-E04B-6B4A-89E1F2BDFA52}"/>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39531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91A5F1-B76F-5C37-F310-282E24937D9D}"/>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AABD8B-2932-BB50-8A28-5683D86CA264}"/>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4F6487-90A0-FC68-B808-17C4A33E1CDD}"/>
              </a:ext>
            </a:extLst>
          </p:cNvPr>
          <p:cNvSpPr>
            <a:spLocks noGrp="1"/>
          </p:cNvSpPr>
          <p:nvPr>
            <p:ph type="dt" sz="half" idx="10"/>
          </p:nvPr>
        </p:nvSpPr>
        <p:spPr>
          <a:xfrm>
            <a:off x="838200" y="6356350"/>
            <a:ext cx="2743200" cy="365125"/>
          </a:xfrm>
          <a:prstGeom prst="rect">
            <a:avLst/>
          </a:prstGeom>
        </p:spPr>
        <p:txBody>
          <a:bodyPr/>
          <a:lstStyle/>
          <a:p>
            <a:fld id="{44EF0B2D-92A6-4268-9844-28BB52ED04B5}" type="datetimeFigureOut">
              <a:rPr lang="en-IN" smtClean="0"/>
              <a:t>03-11-2023</a:t>
            </a:fld>
            <a:endParaRPr lang="en-IN"/>
          </a:p>
        </p:txBody>
      </p:sp>
      <p:sp>
        <p:nvSpPr>
          <p:cNvPr id="5" name="Footer Placeholder 4">
            <a:extLst>
              <a:ext uri="{FF2B5EF4-FFF2-40B4-BE49-F238E27FC236}">
                <a16:creationId xmlns:a16="http://schemas.microsoft.com/office/drawing/2014/main" id="{0A52621B-C3A2-696A-15C7-0DACF7153C08}"/>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499B2FD8-BA3A-0CF9-FFB4-021CA8105DF0}"/>
              </a:ext>
            </a:extLst>
          </p:cNvPr>
          <p:cNvSpPr>
            <a:spLocks noGrp="1"/>
          </p:cNvSpPr>
          <p:nvPr>
            <p:ph type="sldNum" sz="quarter" idx="12"/>
          </p:nvPr>
        </p:nvSpPr>
        <p:spPr>
          <a:xfrm>
            <a:off x="8610600" y="6356350"/>
            <a:ext cx="2743200" cy="365125"/>
          </a:xfrm>
          <a:prstGeom prst="rect">
            <a:avLst/>
          </a:prstGeom>
        </p:spPr>
        <p:txBody>
          <a:bodyPr/>
          <a:lstStyle/>
          <a:p>
            <a:fld id="{FFE42F21-7A9B-4122-B1FF-F618D2D338CA}" type="slidenum">
              <a:rPr lang="en-IN" smtClean="0"/>
              <a:t>‹#›</a:t>
            </a:fld>
            <a:endParaRPr lang="en-IN"/>
          </a:p>
        </p:txBody>
      </p:sp>
    </p:spTree>
    <p:extLst>
      <p:ext uri="{BB962C8B-B14F-4D97-AF65-F5344CB8AC3E}">
        <p14:creationId xmlns:p14="http://schemas.microsoft.com/office/powerpoint/2010/main" val="4027871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A48E41A-452B-41BC-342B-E00B7748DE4C}"/>
              </a:ext>
            </a:extLst>
          </p:cNvPr>
          <p:cNvSpPr txBox="1"/>
          <p:nvPr userDrawn="1"/>
        </p:nvSpPr>
        <p:spPr>
          <a:xfrm rot="20193259">
            <a:off x="483576" y="2910254"/>
            <a:ext cx="11447585" cy="553998"/>
          </a:xfrm>
          <a:prstGeom prst="rect">
            <a:avLst/>
          </a:prstGeom>
          <a:noFill/>
        </p:spPr>
        <p:txBody>
          <a:bodyPr wrap="square" rtlCol="0">
            <a:spAutoFit/>
          </a:bodyPr>
          <a:lstStyle/>
          <a:p>
            <a:r>
              <a:rPr lang="en-US" sz="3000" b="1" dirty="0">
                <a:solidFill>
                  <a:schemeClr val="bg2">
                    <a:lumMod val="90000"/>
                  </a:schemeClr>
                </a:solidFill>
              </a:rPr>
              <a:t>PREPARED BY RINJU RAVINDRAN, ADHOC ASST. PROFESSOR-ECE, GCEK</a:t>
            </a:r>
            <a:endParaRPr lang="en-IN" sz="3000" b="1" dirty="0">
              <a:solidFill>
                <a:schemeClr val="bg2">
                  <a:lumMod val="90000"/>
                </a:schemeClr>
              </a:solidFill>
            </a:endParaRPr>
          </a:p>
        </p:txBody>
      </p:sp>
    </p:spTree>
    <p:extLst>
      <p:ext uri="{BB962C8B-B14F-4D97-AF65-F5344CB8AC3E}">
        <p14:creationId xmlns:p14="http://schemas.microsoft.com/office/powerpoint/2010/main" val="172690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122BC-68CA-12F2-F528-E5F7F02E840B}"/>
              </a:ext>
            </a:extLst>
          </p:cNvPr>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mn-lt"/>
              </a:rPr>
              <a:t>MULTIVIBRATOR</a:t>
            </a:r>
            <a:endParaRPr lang="en-IN" dirty="0"/>
          </a:p>
        </p:txBody>
      </p:sp>
      <p:sp>
        <p:nvSpPr>
          <p:cNvPr id="3" name="Content Placeholder 2">
            <a:extLst>
              <a:ext uri="{FF2B5EF4-FFF2-40B4-BE49-F238E27FC236}">
                <a16:creationId xmlns:a16="http://schemas.microsoft.com/office/drawing/2014/main" id="{52E10796-2270-5A57-1DEA-E7C4DFE5FCD5}"/>
              </a:ext>
            </a:extLst>
          </p:cNvPr>
          <p:cNvSpPr>
            <a:spLocks noGrp="1"/>
          </p:cNvSpPr>
          <p:nvPr>
            <p:ph idx="1"/>
          </p:nvPr>
        </p:nvSpPr>
        <p:spPr/>
        <p:txBody>
          <a:bodyPr>
            <a:noAutofit/>
          </a:bodyPr>
          <a:lstStyle/>
          <a:p>
            <a:pPr algn="just"/>
            <a:r>
              <a:rPr lang="en-US" sz="3600" dirty="0"/>
              <a:t>Electronic </a:t>
            </a:r>
            <a:r>
              <a:rPr lang="en-US" sz="3600" dirty="0" err="1"/>
              <a:t>ckt</a:t>
            </a:r>
            <a:r>
              <a:rPr lang="en-US" sz="3600" dirty="0"/>
              <a:t> which is used to implement 2 state devices like oscillator, timer and flip flop.</a:t>
            </a:r>
          </a:p>
          <a:p>
            <a:pPr algn="just"/>
            <a:r>
              <a:rPr lang="en-US" sz="3600" b="0" i="0" dirty="0">
                <a:solidFill>
                  <a:srgbClr val="000000"/>
                </a:solidFill>
                <a:effectLst/>
              </a:rPr>
              <a:t>It is nothing but a </a:t>
            </a:r>
            <a:r>
              <a:rPr lang="en-US" sz="3600" i="0" dirty="0">
                <a:solidFill>
                  <a:srgbClr val="FF0000"/>
                </a:solidFill>
                <a:effectLst/>
              </a:rPr>
              <a:t>switching circuit. </a:t>
            </a:r>
          </a:p>
          <a:p>
            <a:pPr algn="just"/>
            <a:r>
              <a:rPr lang="en-US" sz="3600" b="0" i="0" dirty="0">
                <a:solidFill>
                  <a:srgbClr val="000000"/>
                </a:solidFill>
                <a:effectLst/>
              </a:rPr>
              <a:t>It generates non-sinusoidal waves such as Square waves, Rectangular waves and Saw tooth waves etc.</a:t>
            </a:r>
          </a:p>
          <a:p>
            <a:pPr algn="just"/>
            <a:r>
              <a:rPr lang="en-US" sz="3600" dirty="0">
                <a:solidFill>
                  <a:srgbClr val="000000"/>
                </a:solidFill>
              </a:rPr>
              <a:t>U</a:t>
            </a:r>
            <a:r>
              <a:rPr lang="en-US" sz="3600" b="0" i="0" dirty="0">
                <a:solidFill>
                  <a:srgbClr val="000000"/>
                </a:solidFill>
                <a:effectLst/>
              </a:rPr>
              <a:t>sed as frequency generators, frequency dividers and generators of time delays and also as memory elements in computers etc.</a:t>
            </a:r>
            <a:endParaRPr lang="en-US" sz="3600" dirty="0"/>
          </a:p>
        </p:txBody>
      </p:sp>
    </p:spTree>
    <p:extLst>
      <p:ext uri="{BB962C8B-B14F-4D97-AF65-F5344CB8AC3E}">
        <p14:creationId xmlns:p14="http://schemas.microsoft.com/office/powerpoint/2010/main" val="3477551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529B9D-93B3-505C-8335-46487A24DB5C}"/>
              </a:ext>
            </a:extLst>
          </p:cNvPr>
          <p:cNvSpPr>
            <a:spLocks noGrp="1"/>
          </p:cNvSpPr>
          <p:nvPr>
            <p:ph idx="1"/>
          </p:nvPr>
        </p:nvSpPr>
        <p:spPr>
          <a:xfrm>
            <a:off x="926977" y="742549"/>
            <a:ext cx="10515600" cy="4351338"/>
          </a:xfrm>
        </p:spPr>
        <p:txBody>
          <a:bodyPr>
            <a:noAutofit/>
          </a:bodyPr>
          <a:lstStyle/>
          <a:p>
            <a:r>
              <a:rPr lang="en-US" sz="3600" dirty="0"/>
              <a:t>2 states refer to 2 voltage levels of multivibrator (high and low). </a:t>
            </a:r>
          </a:p>
          <a:p>
            <a:r>
              <a:rPr lang="en-US" sz="3600" dirty="0"/>
              <a:t>In digital electronics, 1 &amp; 0.</a:t>
            </a:r>
          </a:p>
          <a:p>
            <a:endParaRPr lang="en-US" sz="3600" dirty="0"/>
          </a:p>
          <a:p>
            <a:r>
              <a:rPr lang="en-US" sz="3600" dirty="0"/>
              <a:t>Depending upon the no. of stages, MV can be divided into 3 types:</a:t>
            </a:r>
          </a:p>
          <a:p>
            <a:pPr marL="514350" indent="-514350">
              <a:buFont typeface="+mj-lt"/>
              <a:buAutoNum type="arabicPeriod"/>
            </a:pPr>
            <a:r>
              <a:rPr lang="en-US" sz="3600" dirty="0"/>
              <a:t>Astable MV</a:t>
            </a:r>
          </a:p>
          <a:p>
            <a:pPr marL="514350" indent="-514350">
              <a:buFont typeface="+mj-lt"/>
              <a:buAutoNum type="arabicPeriod"/>
            </a:pPr>
            <a:r>
              <a:rPr lang="en-US" sz="3600" dirty="0"/>
              <a:t>Monostable MV</a:t>
            </a:r>
          </a:p>
          <a:p>
            <a:pPr marL="514350" indent="-514350">
              <a:buFont typeface="+mj-lt"/>
              <a:buAutoNum type="arabicPeriod"/>
            </a:pPr>
            <a:r>
              <a:rPr lang="en-US" sz="3600" dirty="0"/>
              <a:t>Bistable MV</a:t>
            </a:r>
            <a:endParaRPr lang="en-IN" sz="3600" dirty="0"/>
          </a:p>
          <a:p>
            <a:endParaRPr lang="en-IN" sz="3600" dirty="0"/>
          </a:p>
        </p:txBody>
      </p:sp>
    </p:spTree>
    <p:extLst>
      <p:ext uri="{BB962C8B-B14F-4D97-AF65-F5344CB8AC3E}">
        <p14:creationId xmlns:p14="http://schemas.microsoft.com/office/powerpoint/2010/main" val="54671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99024-C853-43CD-1A76-6CBAD6EDD04A}"/>
              </a:ext>
            </a:extLst>
          </p:cNvPr>
          <p:cNvSpPr>
            <a:spLocks noGrp="1"/>
          </p:cNvSpPr>
          <p:nvPr>
            <p:ph type="title"/>
          </p:nvPr>
        </p:nvSpPr>
        <p:spPr/>
        <p:txBody>
          <a:bodyPr/>
          <a:lstStyle/>
          <a:p>
            <a:r>
              <a:rPr lang="en-US" b="0" i="0" dirty="0">
                <a:solidFill>
                  <a:srgbClr val="FF0000"/>
                </a:solidFill>
                <a:effectLst/>
                <a:latin typeface="+mn-lt"/>
              </a:rPr>
              <a:t>Astable Multivibrator</a:t>
            </a:r>
            <a:endParaRPr lang="en-IN" dirty="0">
              <a:solidFill>
                <a:srgbClr val="FF0000"/>
              </a:solidFill>
              <a:latin typeface="+mn-lt"/>
            </a:endParaRPr>
          </a:p>
        </p:txBody>
      </p:sp>
      <p:sp>
        <p:nvSpPr>
          <p:cNvPr id="3" name="Content Placeholder 2">
            <a:extLst>
              <a:ext uri="{FF2B5EF4-FFF2-40B4-BE49-F238E27FC236}">
                <a16:creationId xmlns:a16="http://schemas.microsoft.com/office/drawing/2014/main" id="{6FBE3FB6-4A8A-EFCF-7F89-C0D3BAE61DB9}"/>
              </a:ext>
            </a:extLst>
          </p:cNvPr>
          <p:cNvSpPr>
            <a:spLocks noGrp="1"/>
          </p:cNvSpPr>
          <p:nvPr>
            <p:ph idx="1"/>
          </p:nvPr>
        </p:nvSpPr>
        <p:spPr/>
        <p:txBody>
          <a:bodyPr>
            <a:normAutofit fontScale="92500"/>
          </a:bodyPr>
          <a:lstStyle/>
          <a:p>
            <a:pPr algn="just"/>
            <a:r>
              <a:rPr lang="en-US" sz="3600" b="0" i="0" dirty="0">
                <a:solidFill>
                  <a:srgbClr val="131313"/>
                </a:solidFill>
                <a:effectLst/>
              </a:rPr>
              <a:t>Astable multivibrator does not remain stable in any of the two states. </a:t>
            </a:r>
          </a:p>
          <a:p>
            <a:pPr algn="just"/>
            <a:r>
              <a:rPr lang="en-US" sz="3600" b="0" i="0" dirty="0">
                <a:solidFill>
                  <a:srgbClr val="131313"/>
                </a:solidFill>
                <a:effectLst/>
              </a:rPr>
              <a:t>And the output of the multivibrator continuously changes between the two states. </a:t>
            </a:r>
          </a:p>
          <a:p>
            <a:pPr algn="just"/>
            <a:r>
              <a:rPr lang="en-US" sz="3600" b="0" i="0" dirty="0">
                <a:solidFill>
                  <a:srgbClr val="131313"/>
                </a:solidFill>
                <a:effectLst/>
              </a:rPr>
              <a:t>This type of multivibrator is used in the design of a </a:t>
            </a:r>
            <a:r>
              <a:rPr lang="en-US" sz="3600" b="0" i="0" dirty="0">
                <a:solidFill>
                  <a:srgbClr val="FF0000"/>
                </a:solidFill>
                <a:effectLst/>
              </a:rPr>
              <a:t>relaxation oscillator</a:t>
            </a:r>
            <a:r>
              <a:rPr lang="en-US" sz="3600" b="0" i="0" dirty="0">
                <a:solidFill>
                  <a:srgbClr val="131313"/>
                </a:solidFill>
                <a:effectLst/>
              </a:rPr>
              <a:t>. </a:t>
            </a:r>
          </a:p>
          <a:p>
            <a:pPr algn="just"/>
            <a:r>
              <a:rPr lang="en-US" sz="3600" dirty="0">
                <a:solidFill>
                  <a:srgbClr val="131313"/>
                </a:solidFill>
              </a:rPr>
              <a:t>Time for which o/p remains in the particular state can be determined by the passive components like R and C.</a:t>
            </a:r>
            <a:endParaRPr lang="en-IN" sz="3600" dirty="0"/>
          </a:p>
        </p:txBody>
      </p:sp>
    </p:spTree>
    <p:extLst>
      <p:ext uri="{BB962C8B-B14F-4D97-AF65-F5344CB8AC3E}">
        <p14:creationId xmlns:p14="http://schemas.microsoft.com/office/powerpoint/2010/main" val="373971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F0F4-1B83-6897-84A7-B61FAF4CBEE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8EC4328-5480-ACB7-4589-7BDE533C5727}"/>
              </a:ext>
            </a:extLst>
          </p:cNvPr>
          <p:cNvPicPr>
            <a:picLocks noGrp="1" noChangeAspect="1"/>
          </p:cNvPicPr>
          <p:nvPr>
            <p:ph idx="1"/>
          </p:nvPr>
        </p:nvPicPr>
        <p:blipFill>
          <a:blip r:embed="rId2"/>
          <a:stretch>
            <a:fillRect/>
          </a:stretch>
        </p:blipFill>
        <p:spPr>
          <a:xfrm>
            <a:off x="1881187" y="2239169"/>
            <a:ext cx="8429625" cy="3524250"/>
          </a:xfrm>
        </p:spPr>
      </p:pic>
    </p:spTree>
    <p:extLst>
      <p:ext uri="{BB962C8B-B14F-4D97-AF65-F5344CB8AC3E}">
        <p14:creationId xmlns:p14="http://schemas.microsoft.com/office/powerpoint/2010/main" val="1070092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4FF0-FDA4-B9AC-6F02-3C6DFEA93737}"/>
              </a:ext>
            </a:extLst>
          </p:cNvPr>
          <p:cNvSpPr>
            <a:spLocks noGrp="1"/>
          </p:cNvSpPr>
          <p:nvPr>
            <p:ph type="title"/>
          </p:nvPr>
        </p:nvSpPr>
        <p:spPr/>
        <p:txBody>
          <a:bodyPr/>
          <a:lstStyle/>
          <a:p>
            <a:r>
              <a:rPr lang="en-US" b="0" i="0" dirty="0">
                <a:solidFill>
                  <a:srgbClr val="FF0000"/>
                </a:solidFill>
                <a:effectLst/>
                <a:latin typeface="+mn-lt"/>
              </a:rPr>
              <a:t>Monostable Multivibrator (One shot MV)</a:t>
            </a:r>
            <a:endParaRPr lang="en-IN" dirty="0">
              <a:solidFill>
                <a:srgbClr val="FF0000"/>
              </a:solidFill>
              <a:latin typeface="+mn-lt"/>
            </a:endParaRPr>
          </a:p>
        </p:txBody>
      </p:sp>
      <p:sp>
        <p:nvSpPr>
          <p:cNvPr id="3" name="Content Placeholder 2">
            <a:extLst>
              <a:ext uri="{FF2B5EF4-FFF2-40B4-BE49-F238E27FC236}">
                <a16:creationId xmlns:a16="http://schemas.microsoft.com/office/drawing/2014/main" id="{22D9DD97-3F4E-8B65-BE0D-EBDD5CD983AC}"/>
              </a:ext>
            </a:extLst>
          </p:cNvPr>
          <p:cNvSpPr>
            <a:spLocks noGrp="1"/>
          </p:cNvSpPr>
          <p:nvPr>
            <p:ph idx="1"/>
          </p:nvPr>
        </p:nvSpPr>
        <p:spPr/>
        <p:txBody>
          <a:bodyPr>
            <a:noAutofit/>
          </a:bodyPr>
          <a:lstStyle/>
          <a:p>
            <a:pPr algn="just"/>
            <a:r>
              <a:rPr lang="en-US" sz="3600" b="0" i="0" dirty="0">
                <a:solidFill>
                  <a:srgbClr val="131313"/>
                </a:solidFill>
                <a:effectLst/>
              </a:rPr>
              <a:t>In this, there is </a:t>
            </a:r>
            <a:r>
              <a:rPr lang="en-US" sz="3600" b="0" i="0" dirty="0">
                <a:solidFill>
                  <a:srgbClr val="FF0000"/>
                </a:solidFill>
                <a:effectLst/>
              </a:rPr>
              <a:t>one stable state and one astable state</a:t>
            </a:r>
            <a:r>
              <a:rPr lang="en-US" sz="3600" b="0" i="0" dirty="0">
                <a:solidFill>
                  <a:srgbClr val="131313"/>
                </a:solidFill>
                <a:effectLst/>
              </a:rPr>
              <a:t>. </a:t>
            </a:r>
          </a:p>
          <a:p>
            <a:pPr algn="just"/>
            <a:r>
              <a:rPr lang="en-US" sz="3600" b="0" i="0" dirty="0">
                <a:solidFill>
                  <a:srgbClr val="131313"/>
                </a:solidFill>
                <a:effectLst/>
              </a:rPr>
              <a:t>The MV o/p remains in the stable state but whenever an external trigger signal is applied, the output momentarily goes into the astable state. And after some time it comes back into the stable state. </a:t>
            </a:r>
          </a:p>
          <a:p>
            <a:pPr algn="just"/>
            <a:r>
              <a:rPr lang="en-US" sz="3600" b="0" i="0" dirty="0">
                <a:solidFill>
                  <a:srgbClr val="131313"/>
                </a:solidFill>
                <a:effectLst/>
              </a:rPr>
              <a:t>The time required to come back into the stable state depends on the passive components like R and C. </a:t>
            </a:r>
          </a:p>
          <a:p>
            <a:pPr algn="just"/>
            <a:r>
              <a:rPr lang="en-US" sz="3600" b="0" i="0" dirty="0">
                <a:solidFill>
                  <a:srgbClr val="131313"/>
                </a:solidFill>
                <a:effectLst/>
              </a:rPr>
              <a:t>Used as a </a:t>
            </a:r>
            <a:r>
              <a:rPr lang="en-US" sz="3600" b="0" i="0" dirty="0">
                <a:solidFill>
                  <a:srgbClr val="FF0000"/>
                </a:solidFill>
                <a:effectLst/>
              </a:rPr>
              <a:t>timer</a:t>
            </a:r>
            <a:r>
              <a:rPr lang="en-US" sz="3600" b="0" i="0" dirty="0">
                <a:solidFill>
                  <a:srgbClr val="131313"/>
                </a:solidFill>
                <a:effectLst/>
              </a:rPr>
              <a:t> in many applications.</a:t>
            </a:r>
            <a:endParaRPr lang="en-IN" sz="3600" dirty="0"/>
          </a:p>
        </p:txBody>
      </p:sp>
    </p:spTree>
    <p:extLst>
      <p:ext uri="{BB962C8B-B14F-4D97-AF65-F5344CB8AC3E}">
        <p14:creationId xmlns:p14="http://schemas.microsoft.com/office/powerpoint/2010/main" val="2842299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F755471-4914-DA00-E43F-77317364F8A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53CB449-28D3-AC8C-718D-98F0A819ECC4}"/>
              </a:ext>
            </a:extLst>
          </p:cNvPr>
          <p:cNvPicPr>
            <a:picLocks noGrp="1" noChangeAspect="1"/>
          </p:cNvPicPr>
          <p:nvPr>
            <p:ph sz="half" idx="1"/>
          </p:nvPr>
        </p:nvPicPr>
        <p:blipFill>
          <a:blip r:embed="rId2"/>
          <a:stretch>
            <a:fillRect/>
          </a:stretch>
        </p:blipFill>
        <p:spPr>
          <a:xfrm>
            <a:off x="201039" y="1864312"/>
            <a:ext cx="5818761" cy="3624140"/>
          </a:xfrm>
        </p:spPr>
      </p:pic>
      <p:pic>
        <p:nvPicPr>
          <p:cNvPr id="9" name="Content Placeholder 8">
            <a:extLst>
              <a:ext uri="{FF2B5EF4-FFF2-40B4-BE49-F238E27FC236}">
                <a16:creationId xmlns:a16="http://schemas.microsoft.com/office/drawing/2014/main" id="{6A5CDA89-60C0-90FE-8EE6-4FC6B826AF57}"/>
              </a:ext>
            </a:extLst>
          </p:cNvPr>
          <p:cNvPicPr>
            <a:picLocks noGrp="1" noChangeAspect="1"/>
          </p:cNvPicPr>
          <p:nvPr>
            <p:ph sz="half" idx="2"/>
          </p:nvPr>
        </p:nvPicPr>
        <p:blipFill>
          <a:blip r:embed="rId3"/>
          <a:stretch>
            <a:fillRect/>
          </a:stretch>
        </p:blipFill>
        <p:spPr>
          <a:xfrm>
            <a:off x="6282431" y="1864313"/>
            <a:ext cx="5578943" cy="3624139"/>
          </a:xfrm>
        </p:spPr>
      </p:pic>
    </p:spTree>
    <p:extLst>
      <p:ext uri="{BB962C8B-B14F-4D97-AF65-F5344CB8AC3E}">
        <p14:creationId xmlns:p14="http://schemas.microsoft.com/office/powerpoint/2010/main" val="3200471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262D49-B124-F90C-207E-4529255F0506}"/>
              </a:ext>
            </a:extLst>
          </p:cNvPr>
          <p:cNvSpPr>
            <a:spLocks noGrp="1"/>
          </p:cNvSpPr>
          <p:nvPr>
            <p:ph type="title"/>
          </p:nvPr>
        </p:nvSpPr>
        <p:spPr>
          <a:xfrm>
            <a:off x="838200" y="65056"/>
            <a:ext cx="10515600" cy="1325563"/>
          </a:xfrm>
        </p:spPr>
        <p:txBody>
          <a:bodyPr/>
          <a:lstStyle/>
          <a:p>
            <a:r>
              <a:rPr lang="en-US" b="0" i="0" dirty="0">
                <a:solidFill>
                  <a:srgbClr val="FF0000"/>
                </a:solidFill>
                <a:effectLst/>
                <a:latin typeface="Roboto" panose="02000000000000000000" pitchFamily="2" charset="0"/>
              </a:rPr>
              <a:t>Bistable Multivibrator</a:t>
            </a:r>
            <a:endParaRPr lang="en-IN" dirty="0">
              <a:solidFill>
                <a:srgbClr val="FF0000"/>
              </a:solidFill>
            </a:endParaRPr>
          </a:p>
        </p:txBody>
      </p:sp>
      <p:sp>
        <p:nvSpPr>
          <p:cNvPr id="6" name="Content Placeholder 5">
            <a:extLst>
              <a:ext uri="{FF2B5EF4-FFF2-40B4-BE49-F238E27FC236}">
                <a16:creationId xmlns:a16="http://schemas.microsoft.com/office/drawing/2014/main" id="{BB795838-756D-8DCC-4232-6FF003EDE1ED}"/>
              </a:ext>
            </a:extLst>
          </p:cNvPr>
          <p:cNvSpPr>
            <a:spLocks noGrp="1"/>
          </p:cNvSpPr>
          <p:nvPr>
            <p:ph idx="1"/>
          </p:nvPr>
        </p:nvSpPr>
        <p:spPr>
          <a:xfrm>
            <a:off x="1006876" y="1390619"/>
            <a:ext cx="10515600" cy="4351338"/>
          </a:xfrm>
        </p:spPr>
        <p:txBody>
          <a:bodyPr>
            <a:noAutofit/>
          </a:bodyPr>
          <a:lstStyle/>
          <a:p>
            <a:pPr algn="just"/>
            <a:r>
              <a:rPr lang="en-US" sz="3600" b="0" i="0" dirty="0">
                <a:solidFill>
                  <a:srgbClr val="131313"/>
                </a:solidFill>
                <a:effectLst/>
              </a:rPr>
              <a:t>Has two stable states. </a:t>
            </a:r>
          </a:p>
          <a:p>
            <a:pPr algn="just"/>
            <a:r>
              <a:rPr lang="en-US" sz="3600" b="0" i="0" dirty="0">
                <a:solidFill>
                  <a:srgbClr val="131313"/>
                </a:solidFill>
                <a:effectLst/>
              </a:rPr>
              <a:t>The output used to be in any one of the two stable states. </a:t>
            </a:r>
          </a:p>
          <a:p>
            <a:pPr algn="just"/>
            <a:r>
              <a:rPr lang="en-US" sz="3600" dirty="0">
                <a:solidFill>
                  <a:srgbClr val="131313"/>
                </a:solidFill>
              </a:rPr>
              <a:t>W</a:t>
            </a:r>
            <a:r>
              <a:rPr lang="en-US" sz="3600" b="0" i="0" dirty="0">
                <a:solidFill>
                  <a:srgbClr val="131313"/>
                </a:solidFill>
                <a:effectLst/>
              </a:rPr>
              <a:t>henever an external trigger signal is applied, the output goes from one stable state to another stable state. </a:t>
            </a:r>
          </a:p>
          <a:p>
            <a:pPr algn="just"/>
            <a:r>
              <a:rPr lang="en-US" sz="3600" b="0" i="0" dirty="0">
                <a:solidFill>
                  <a:srgbClr val="131313"/>
                </a:solidFill>
                <a:effectLst/>
              </a:rPr>
              <a:t>If no triggering action is applied thereafter, then it remains in the new stable state. </a:t>
            </a:r>
          </a:p>
          <a:p>
            <a:pPr algn="just"/>
            <a:r>
              <a:rPr lang="en-US" sz="3600" b="0" i="0" dirty="0">
                <a:solidFill>
                  <a:srgbClr val="131313"/>
                </a:solidFill>
                <a:effectLst/>
              </a:rPr>
              <a:t>The bistable multivibrator is one kind of </a:t>
            </a:r>
            <a:r>
              <a:rPr lang="en-US" sz="3600" b="0" i="0" dirty="0">
                <a:solidFill>
                  <a:srgbClr val="FF0000"/>
                </a:solidFill>
                <a:effectLst/>
              </a:rPr>
              <a:t>flip-flop</a:t>
            </a:r>
            <a:r>
              <a:rPr lang="en-US" sz="3600" b="0" i="0" dirty="0">
                <a:solidFill>
                  <a:srgbClr val="131313"/>
                </a:solidFill>
                <a:effectLst/>
              </a:rPr>
              <a:t> circuit.</a:t>
            </a:r>
            <a:endParaRPr lang="en-IN" sz="3600" dirty="0"/>
          </a:p>
        </p:txBody>
      </p:sp>
    </p:spTree>
    <p:extLst>
      <p:ext uri="{BB962C8B-B14F-4D97-AF65-F5344CB8AC3E}">
        <p14:creationId xmlns:p14="http://schemas.microsoft.com/office/powerpoint/2010/main" val="531818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6F643BA-A2BB-E492-1D64-1BB754FDE597}"/>
              </a:ext>
            </a:extLst>
          </p:cNvPr>
          <p:cNvPicPr>
            <a:picLocks noGrp="1" noChangeAspect="1"/>
          </p:cNvPicPr>
          <p:nvPr>
            <p:ph idx="1"/>
          </p:nvPr>
        </p:nvPicPr>
        <p:blipFill>
          <a:blip r:embed="rId2"/>
          <a:stretch>
            <a:fillRect/>
          </a:stretch>
        </p:blipFill>
        <p:spPr>
          <a:xfrm>
            <a:off x="2003394" y="365125"/>
            <a:ext cx="8185211" cy="5793092"/>
          </a:xfrm>
        </p:spPr>
      </p:pic>
    </p:spTree>
    <p:extLst>
      <p:ext uri="{BB962C8B-B14F-4D97-AF65-F5344CB8AC3E}">
        <p14:creationId xmlns:p14="http://schemas.microsoft.com/office/powerpoint/2010/main" val="3164575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11D2E5-F95C-4858-B4E9-97C557044239}"/>
              </a:ext>
            </a:extLst>
          </p:cNvPr>
          <p:cNvSpPr>
            <a:spLocks noGrp="1"/>
          </p:cNvSpPr>
          <p:nvPr>
            <p:ph idx="1"/>
          </p:nvPr>
        </p:nvSpPr>
        <p:spPr>
          <a:xfrm>
            <a:off x="838200" y="444823"/>
            <a:ext cx="10515600" cy="4351338"/>
          </a:xfrm>
        </p:spPr>
        <p:txBody>
          <a:bodyPr>
            <a:normAutofit/>
          </a:bodyPr>
          <a:lstStyle/>
          <a:p>
            <a:pPr algn="just"/>
            <a:r>
              <a:rPr lang="en-US" sz="3600" b="0" i="0" dirty="0">
                <a:solidFill>
                  <a:srgbClr val="131313"/>
                </a:solidFill>
                <a:effectLst/>
              </a:rPr>
              <a:t>All the three types of multivibrators can be designed using either op-amp, transistor pairs or 555 timer IC. </a:t>
            </a:r>
            <a:br>
              <a:rPr lang="en-US" sz="3600" dirty="0"/>
            </a:br>
            <a:endParaRPr lang="en-IN" sz="3600" dirty="0"/>
          </a:p>
        </p:txBody>
      </p:sp>
      <p:pic>
        <p:nvPicPr>
          <p:cNvPr id="5" name="Picture 4">
            <a:extLst>
              <a:ext uri="{FF2B5EF4-FFF2-40B4-BE49-F238E27FC236}">
                <a16:creationId xmlns:a16="http://schemas.microsoft.com/office/drawing/2014/main" id="{ADEAD2BC-8A0A-1A61-A71D-D1BB8CF8243A}"/>
              </a:ext>
            </a:extLst>
          </p:cNvPr>
          <p:cNvPicPr>
            <a:picLocks noChangeAspect="1"/>
          </p:cNvPicPr>
          <p:nvPr/>
        </p:nvPicPr>
        <p:blipFill>
          <a:blip r:embed="rId2"/>
          <a:stretch>
            <a:fillRect/>
          </a:stretch>
        </p:blipFill>
        <p:spPr>
          <a:xfrm>
            <a:off x="1376594" y="2087640"/>
            <a:ext cx="9563100" cy="3943350"/>
          </a:xfrm>
          <a:prstGeom prst="rect">
            <a:avLst/>
          </a:prstGeom>
        </p:spPr>
      </p:pic>
    </p:spTree>
    <p:extLst>
      <p:ext uri="{BB962C8B-B14F-4D97-AF65-F5344CB8AC3E}">
        <p14:creationId xmlns:p14="http://schemas.microsoft.com/office/powerpoint/2010/main" val="2202878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7693-1257-14D5-856F-EF4C97C80AFF}"/>
              </a:ext>
            </a:extLst>
          </p:cNvPr>
          <p:cNvSpPr>
            <a:spLocks noGrp="1"/>
          </p:cNvSpPr>
          <p:nvPr>
            <p:ph type="title"/>
          </p:nvPr>
        </p:nvSpPr>
        <p:spPr/>
        <p:txBody>
          <a:bodyPr/>
          <a:lstStyle/>
          <a:p>
            <a:pPr algn="ctr"/>
            <a:r>
              <a:rPr lang="en-US" b="1" dirty="0">
                <a:solidFill>
                  <a:srgbClr val="FF0000"/>
                </a:solidFill>
                <a:effectLst>
                  <a:outerShdw blurRad="38100" dist="38100" dir="2700000" algn="tl">
                    <a:srgbClr val="000000">
                      <a:alpha val="43137"/>
                    </a:srgbClr>
                  </a:outerShdw>
                </a:effectLst>
                <a:latin typeface="+mn-lt"/>
              </a:rPr>
              <a:t>SQUARE WAVE GENERATOR (ASTABLE MULTIVIBRATOR)</a:t>
            </a:r>
            <a:endParaRPr lang="en-IN" b="1" dirty="0"/>
          </a:p>
        </p:txBody>
      </p:sp>
      <p:sp>
        <p:nvSpPr>
          <p:cNvPr id="3" name="Content Placeholder 2">
            <a:extLst>
              <a:ext uri="{FF2B5EF4-FFF2-40B4-BE49-F238E27FC236}">
                <a16:creationId xmlns:a16="http://schemas.microsoft.com/office/drawing/2014/main" id="{115C8BDD-9758-5316-09EC-B2E8018DB259}"/>
              </a:ext>
            </a:extLst>
          </p:cNvPr>
          <p:cNvSpPr>
            <a:spLocks noGrp="1"/>
          </p:cNvSpPr>
          <p:nvPr>
            <p:ph idx="1"/>
          </p:nvPr>
        </p:nvSpPr>
        <p:spPr/>
        <p:txBody>
          <a:bodyPr>
            <a:normAutofit/>
          </a:bodyPr>
          <a:lstStyle/>
          <a:p>
            <a:pPr algn="just"/>
            <a:r>
              <a:rPr lang="en-US" sz="3200" dirty="0">
                <a:solidFill>
                  <a:srgbClr val="131313"/>
                </a:solidFill>
              </a:rPr>
              <a:t>B</a:t>
            </a:r>
            <a:r>
              <a:rPr lang="en-US" sz="3200" b="0" i="0" dirty="0">
                <a:solidFill>
                  <a:srgbClr val="131313"/>
                </a:solidFill>
                <a:effectLst/>
              </a:rPr>
              <a:t>oth states are astable state and output used to change continuously between the two states.</a:t>
            </a:r>
          </a:p>
          <a:p>
            <a:pPr algn="just"/>
            <a:r>
              <a:rPr lang="en-US" sz="3200" dirty="0">
                <a:solidFill>
                  <a:srgbClr val="131313"/>
                </a:solidFill>
              </a:rPr>
              <a:t>Used to design relaxation </a:t>
            </a:r>
            <a:r>
              <a:rPr lang="en-US" sz="3200" dirty="0" err="1">
                <a:solidFill>
                  <a:srgbClr val="131313"/>
                </a:solidFill>
              </a:rPr>
              <a:t>oscr</a:t>
            </a:r>
            <a:r>
              <a:rPr lang="en-US" sz="3200" dirty="0">
                <a:solidFill>
                  <a:srgbClr val="131313"/>
                </a:solidFill>
              </a:rPr>
              <a:t> (o/p is non sinusoidal).</a:t>
            </a:r>
            <a:br>
              <a:rPr lang="en-US" sz="3200" dirty="0"/>
            </a:br>
            <a:r>
              <a:rPr lang="en-US" sz="3200" b="0" i="0" dirty="0">
                <a:solidFill>
                  <a:srgbClr val="202124"/>
                </a:solidFill>
                <a:effectLst/>
              </a:rPr>
              <a:t>A relaxation oscillator is </a:t>
            </a:r>
            <a:r>
              <a:rPr lang="en-US" sz="3200" b="0" i="0" dirty="0">
                <a:solidFill>
                  <a:srgbClr val="040C28"/>
                </a:solidFill>
                <a:effectLst/>
              </a:rPr>
              <a:t>an oscillator based upon the behavior of a physical system's return to equilibrium after being disturbed</a:t>
            </a:r>
            <a:r>
              <a:rPr lang="en-US" sz="3200" b="0" i="0" dirty="0">
                <a:solidFill>
                  <a:srgbClr val="202124"/>
                </a:solidFill>
                <a:effectLst/>
              </a:rPr>
              <a:t>. </a:t>
            </a:r>
            <a:endParaRPr lang="en-US" sz="3200" dirty="0">
              <a:solidFill>
                <a:srgbClr val="131313"/>
              </a:solidFill>
            </a:endParaRPr>
          </a:p>
          <a:p>
            <a:pPr algn="just"/>
            <a:r>
              <a:rPr lang="en-IN" sz="3200" dirty="0"/>
              <a:t>Op amp used with +</a:t>
            </a:r>
            <a:r>
              <a:rPr lang="en-IN" sz="3200" dirty="0" err="1"/>
              <a:t>ve</a:t>
            </a:r>
            <a:r>
              <a:rPr lang="en-IN" sz="3200" dirty="0"/>
              <a:t> f/b.</a:t>
            </a:r>
          </a:p>
          <a:p>
            <a:pPr algn="just"/>
            <a:endParaRPr lang="en-IN" sz="3200" dirty="0"/>
          </a:p>
        </p:txBody>
      </p:sp>
      <p:pic>
        <p:nvPicPr>
          <p:cNvPr id="5" name="Picture 4">
            <a:extLst>
              <a:ext uri="{FF2B5EF4-FFF2-40B4-BE49-F238E27FC236}">
                <a16:creationId xmlns:a16="http://schemas.microsoft.com/office/drawing/2014/main" id="{B6C1ACF4-13CE-A148-B089-1DD5197082DE}"/>
              </a:ext>
            </a:extLst>
          </p:cNvPr>
          <p:cNvPicPr>
            <a:picLocks noChangeAspect="1"/>
          </p:cNvPicPr>
          <p:nvPr/>
        </p:nvPicPr>
        <p:blipFill>
          <a:blip r:embed="rId2"/>
          <a:stretch>
            <a:fillRect/>
          </a:stretch>
        </p:blipFill>
        <p:spPr>
          <a:xfrm>
            <a:off x="6544084" y="4560395"/>
            <a:ext cx="4809716" cy="2173318"/>
          </a:xfrm>
          <a:prstGeom prst="rect">
            <a:avLst/>
          </a:prstGeom>
        </p:spPr>
      </p:pic>
    </p:spTree>
    <p:extLst>
      <p:ext uri="{BB962C8B-B14F-4D97-AF65-F5344CB8AC3E}">
        <p14:creationId xmlns:p14="http://schemas.microsoft.com/office/powerpoint/2010/main" val="3414269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AED70-8229-597C-030F-B3836114544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3E16A66-DEEA-AB11-2726-B9FDEEEE0322}"/>
              </a:ext>
            </a:extLst>
          </p:cNvPr>
          <p:cNvPicPr>
            <a:picLocks noGrp="1" noChangeAspect="1"/>
          </p:cNvPicPr>
          <p:nvPr>
            <p:ph idx="1"/>
          </p:nvPr>
        </p:nvPicPr>
        <p:blipFill rotWithShape="1">
          <a:blip r:embed="rId2"/>
          <a:srcRect l="5616" t="8846" r="5030" b="408"/>
          <a:stretch/>
        </p:blipFill>
        <p:spPr>
          <a:xfrm>
            <a:off x="2553277" y="1045661"/>
            <a:ext cx="6305139" cy="4298696"/>
          </a:xfrm>
        </p:spPr>
      </p:pic>
    </p:spTree>
    <p:extLst>
      <p:ext uri="{BB962C8B-B14F-4D97-AF65-F5344CB8AC3E}">
        <p14:creationId xmlns:p14="http://schemas.microsoft.com/office/powerpoint/2010/main" val="3145050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200B7-3813-C06F-9905-221B818DB1F9}"/>
                  </a:ext>
                </a:extLst>
              </p:cNvPr>
              <p:cNvSpPr>
                <a:spLocks noGrp="1"/>
              </p:cNvSpPr>
              <p:nvPr>
                <p:ph idx="1"/>
              </p:nvPr>
            </p:nvSpPr>
            <p:spPr>
              <a:xfrm>
                <a:off x="1065320" y="609383"/>
                <a:ext cx="10288480" cy="5986725"/>
              </a:xfrm>
            </p:spPr>
            <p:txBody>
              <a:bodyPr>
                <a:noAutofit/>
              </a:bodyPr>
              <a:lstStyle/>
              <a:p>
                <a:pPr marL="0" indent="0" algn="just">
                  <a:buNone/>
                </a:pPr>
                <a:r>
                  <a:rPr lang="en-US" sz="3600" dirty="0"/>
                  <a:t>Schmitt trigger</a:t>
                </a:r>
              </a:p>
              <a:p>
                <a:pPr algn="just"/>
                <a:r>
                  <a:rPr lang="en-US" sz="3600" dirty="0"/>
                  <a:t>Fraction of o/p is fed back to </a:t>
                </a:r>
                <a:r>
                  <a:rPr lang="en-US" sz="3600" dirty="0" err="1"/>
                  <a:t>i</a:t>
                </a:r>
                <a:r>
                  <a:rPr lang="en-US" sz="3600" dirty="0"/>
                  <a:t>/p.</a:t>
                </a:r>
              </a:p>
              <a:p>
                <a:pPr algn="just"/>
                <a:r>
                  <a:rPr lang="en-US" sz="3600" dirty="0" err="1"/>
                  <a:t>Bcoz</a:t>
                </a:r>
                <a:r>
                  <a:rPr lang="en-US" sz="3600" dirty="0"/>
                  <a:t> of +</a:t>
                </a:r>
                <a:r>
                  <a:rPr lang="en-US" sz="3600" dirty="0" err="1"/>
                  <a:t>ve</a:t>
                </a:r>
                <a:r>
                  <a:rPr lang="en-US" sz="3600" dirty="0"/>
                  <a:t> f/b, o/p </a:t>
                </a:r>
                <a:r>
                  <a:rPr lang="en-US" sz="3600" dirty="0" err="1"/>
                  <a:t>shud</a:t>
                </a:r>
                <a:r>
                  <a:rPr lang="en-US" sz="3600" dirty="0"/>
                  <a:t> grow continuously.</a:t>
                </a:r>
              </a:p>
              <a:p>
                <a:pPr algn="just"/>
                <a:r>
                  <a:rPr lang="en-US" sz="3600" dirty="0"/>
                  <a:t>But its not possible as already discussed. </a:t>
                </a:r>
              </a:p>
              <a:p>
                <a:pPr algn="just"/>
                <a:r>
                  <a:rPr lang="en-US" sz="3600" dirty="0"/>
                  <a:t>Restricted by supply voltages.</a:t>
                </a:r>
              </a:p>
              <a:p>
                <a:pPr algn="just"/>
                <a:r>
                  <a:rPr lang="en-US" sz="3600" dirty="0"/>
                  <a:t>Let initially o/p of Schmitt trigger is +</a:t>
                </a:r>
                <a:r>
                  <a:rPr lang="en-US" sz="3600" dirty="0" err="1"/>
                  <a:t>Vsat</a:t>
                </a:r>
                <a:r>
                  <a:rPr lang="en-US" sz="3600" dirty="0"/>
                  <a:t>. </a:t>
                </a:r>
              </a:p>
              <a:p>
                <a:pPr algn="just"/>
                <a:r>
                  <a:rPr lang="en-US" sz="3600" dirty="0"/>
                  <a:t>Then V</a:t>
                </a:r>
                <a:r>
                  <a:rPr lang="en-US" sz="3600" baseline="30000" dirty="0"/>
                  <a:t>+</a:t>
                </a:r>
                <a:r>
                  <a:rPr lang="en-US" sz="3600" dirty="0"/>
                  <a:t> = </a:t>
                </a:r>
                <a:r>
                  <a:rPr lang="en-US" sz="3600" dirty="0" err="1"/>
                  <a:t>V</a:t>
                </a:r>
                <a:r>
                  <a:rPr lang="en-US" sz="3600" baseline="-25000" dirty="0" err="1"/>
                  <a:t>sat</a:t>
                </a:r>
                <a:r>
                  <a:rPr lang="en-US" sz="3600" dirty="0"/>
                  <a:t> </a:t>
                </a:r>
                <a14:m>
                  <m:oMath xmlns:m="http://schemas.openxmlformats.org/officeDocument/2006/math">
                    <m:f>
                      <m:fPr>
                        <m:ctrlPr>
                          <a:rPr lang="en-US" sz="3600" i="1" smtClean="0">
                            <a:latin typeface="Cambria Math" panose="02040503050406030204" pitchFamily="18" charset="0"/>
                          </a:rPr>
                        </m:ctrlPr>
                      </m:fPr>
                      <m:num>
                        <m:r>
                          <m:rPr>
                            <m:nor/>
                          </m:rPr>
                          <a:rPr lang="en-US" sz="3600" dirty="0"/>
                          <m:t>R</m:t>
                        </m:r>
                        <m:r>
                          <m:rPr>
                            <m:nor/>
                          </m:rPr>
                          <a:rPr lang="en-US" sz="3600" baseline="-25000" dirty="0"/>
                          <m:t>2</m:t>
                        </m:r>
                      </m:num>
                      <m:den>
                        <m:r>
                          <m:rPr>
                            <m:nor/>
                          </m:rPr>
                          <a:rPr lang="en-US" sz="3600" dirty="0"/>
                          <m:t>R</m:t>
                        </m:r>
                        <m:r>
                          <m:rPr>
                            <m:nor/>
                          </m:rPr>
                          <a:rPr lang="en-US" sz="3600" b="0" i="0" baseline="-25000" dirty="0" smtClean="0"/>
                          <m:t>1</m:t>
                        </m:r>
                        <m:r>
                          <m:rPr>
                            <m:nor/>
                          </m:rPr>
                          <a:rPr lang="en-US" sz="3600" b="0" i="0" smtClean="0"/>
                          <m:t>+</m:t>
                        </m:r>
                        <m:r>
                          <m:rPr>
                            <m:nor/>
                          </m:rPr>
                          <a:rPr lang="en-US" sz="3600" dirty="0"/>
                          <m:t>R</m:t>
                        </m:r>
                        <m:r>
                          <m:rPr>
                            <m:nor/>
                          </m:rPr>
                          <a:rPr lang="en-US" sz="3600" baseline="-25000" dirty="0"/>
                          <m:t>2</m:t>
                        </m:r>
                      </m:den>
                    </m:f>
                  </m:oMath>
                </a14:m>
                <a:r>
                  <a:rPr lang="en-IN" sz="3600" dirty="0"/>
                  <a:t> = </a:t>
                </a:r>
                <a:r>
                  <a:rPr lang="el-GR" sz="3600" dirty="0"/>
                  <a:t>β</a:t>
                </a:r>
                <a:r>
                  <a:rPr lang="en-US" sz="3600" dirty="0"/>
                  <a:t> </a:t>
                </a:r>
                <a:r>
                  <a:rPr lang="en-US" sz="3600" dirty="0" err="1"/>
                  <a:t>V</a:t>
                </a:r>
                <a:r>
                  <a:rPr lang="en-US" sz="3600" baseline="-25000" dirty="0" err="1"/>
                  <a:t>sat</a:t>
                </a:r>
                <a:r>
                  <a:rPr lang="en-US" sz="3600" dirty="0"/>
                  <a:t> </a:t>
                </a:r>
              </a:p>
              <a:p>
                <a:pPr algn="just"/>
                <a:r>
                  <a:rPr lang="en-US" sz="3600" dirty="0"/>
                  <a:t>When V</a:t>
                </a:r>
                <a:r>
                  <a:rPr lang="en-US" sz="3600" baseline="-25000" dirty="0"/>
                  <a:t>in </a:t>
                </a:r>
                <a:r>
                  <a:rPr lang="en-US" sz="3600" dirty="0"/>
                  <a:t>&lt; V</a:t>
                </a:r>
                <a:r>
                  <a:rPr lang="en-US" sz="3600" baseline="30000" dirty="0"/>
                  <a:t>+</a:t>
                </a:r>
                <a:r>
                  <a:rPr lang="en-US" sz="3600" baseline="-25000" dirty="0"/>
                  <a:t>  </a:t>
                </a:r>
                <a:r>
                  <a:rPr lang="en-US" sz="3600" dirty="0"/>
                  <a:t>---------- o/p +</a:t>
                </a:r>
                <a:r>
                  <a:rPr lang="en-US" sz="3600" dirty="0" err="1"/>
                  <a:t>V</a:t>
                </a:r>
                <a:r>
                  <a:rPr lang="en-US" sz="3600" baseline="-25000" dirty="0" err="1"/>
                  <a:t>sat</a:t>
                </a:r>
                <a:r>
                  <a:rPr lang="en-US" sz="3600" dirty="0"/>
                  <a:t>  </a:t>
                </a:r>
              </a:p>
              <a:p>
                <a:pPr algn="just"/>
                <a:r>
                  <a:rPr lang="en-US" sz="3600" dirty="0"/>
                  <a:t>When V</a:t>
                </a:r>
                <a:r>
                  <a:rPr lang="en-US" sz="3600" baseline="-25000" dirty="0"/>
                  <a:t>in </a:t>
                </a:r>
                <a:r>
                  <a:rPr lang="en-US" sz="3600" dirty="0"/>
                  <a:t>&gt; V</a:t>
                </a:r>
                <a:r>
                  <a:rPr lang="en-US" sz="3600" baseline="30000" dirty="0"/>
                  <a:t>+</a:t>
                </a:r>
                <a:r>
                  <a:rPr lang="en-US" sz="3600" baseline="-25000" dirty="0"/>
                  <a:t>  </a:t>
                </a:r>
                <a:r>
                  <a:rPr lang="en-US" sz="3600" dirty="0"/>
                  <a:t>---------- o/p -</a:t>
                </a:r>
                <a:r>
                  <a:rPr lang="en-US" sz="3600" dirty="0" err="1"/>
                  <a:t>V</a:t>
                </a:r>
                <a:r>
                  <a:rPr lang="en-US" sz="3600" baseline="-25000" dirty="0" err="1"/>
                  <a:t>sat</a:t>
                </a:r>
                <a:r>
                  <a:rPr lang="en-US" sz="3600" dirty="0"/>
                  <a:t> </a:t>
                </a:r>
                <a:endParaRPr lang="en-IN" sz="3600" dirty="0"/>
              </a:p>
              <a:p>
                <a:pPr algn="just"/>
                <a:endParaRPr lang="en-IN" sz="3600" dirty="0"/>
              </a:p>
            </p:txBody>
          </p:sp>
        </mc:Choice>
        <mc:Fallback xmlns="">
          <p:sp>
            <p:nvSpPr>
              <p:cNvPr id="3" name="Content Placeholder 2">
                <a:extLst>
                  <a:ext uri="{FF2B5EF4-FFF2-40B4-BE49-F238E27FC236}">
                    <a16:creationId xmlns:a16="http://schemas.microsoft.com/office/drawing/2014/main" id="{871200B7-3813-C06F-9905-221B818DB1F9}"/>
                  </a:ext>
                </a:extLst>
              </p:cNvPr>
              <p:cNvSpPr>
                <a:spLocks noGrp="1" noRot="1" noChangeAspect="1" noMove="1" noResize="1" noEditPoints="1" noAdjustHandles="1" noChangeArrowheads="1" noChangeShapeType="1" noTextEdit="1"/>
              </p:cNvSpPr>
              <p:nvPr>
                <p:ph idx="1"/>
              </p:nvPr>
            </p:nvSpPr>
            <p:spPr>
              <a:xfrm>
                <a:off x="1065320" y="609383"/>
                <a:ext cx="10288480" cy="5986725"/>
              </a:xfrm>
              <a:blipFill>
                <a:blip r:embed="rId2"/>
                <a:stretch>
                  <a:fillRect l="-1836" t="-2546" b="-1222"/>
                </a:stretch>
              </a:blipFill>
            </p:spPr>
            <p:txBody>
              <a:bodyPr/>
              <a:lstStyle/>
              <a:p>
                <a:r>
                  <a:rPr lang="en-IN">
                    <a:noFill/>
                  </a:rPr>
                  <a:t> </a:t>
                </a:r>
              </a:p>
            </p:txBody>
          </p:sp>
        </mc:Fallback>
      </mc:AlternateContent>
    </p:spTree>
    <p:extLst>
      <p:ext uri="{BB962C8B-B14F-4D97-AF65-F5344CB8AC3E}">
        <p14:creationId xmlns:p14="http://schemas.microsoft.com/office/powerpoint/2010/main" val="3273844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F6CB2B-657C-CA67-8249-1C4ABD9A3B3E}"/>
                  </a:ext>
                </a:extLst>
              </p:cNvPr>
              <p:cNvSpPr>
                <a:spLocks noGrp="1"/>
              </p:cNvSpPr>
              <p:nvPr>
                <p:ph idx="1"/>
              </p:nvPr>
            </p:nvSpPr>
            <p:spPr>
              <a:xfrm>
                <a:off x="971366" y="396320"/>
                <a:ext cx="10515600" cy="4351338"/>
              </a:xfrm>
            </p:spPr>
            <p:txBody>
              <a:bodyPr>
                <a:normAutofit/>
              </a:bodyPr>
              <a:lstStyle/>
              <a:p>
                <a:r>
                  <a:rPr lang="en-US" sz="3600" dirty="0"/>
                  <a:t>Now V</a:t>
                </a:r>
                <a:r>
                  <a:rPr lang="en-US" sz="3600" baseline="30000" dirty="0"/>
                  <a:t>+</a:t>
                </a:r>
                <a:r>
                  <a:rPr lang="en-US" sz="3600" dirty="0"/>
                  <a:t> = -</a:t>
                </a:r>
                <a:r>
                  <a:rPr lang="en-US" sz="3600" dirty="0" err="1"/>
                  <a:t>V</a:t>
                </a:r>
                <a:r>
                  <a:rPr lang="en-US" sz="3600" baseline="-25000" dirty="0" err="1"/>
                  <a:t>sat</a:t>
                </a:r>
                <a:r>
                  <a:rPr lang="en-US" sz="3600" dirty="0"/>
                  <a:t> </a:t>
                </a:r>
                <a14:m>
                  <m:oMath xmlns:m="http://schemas.openxmlformats.org/officeDocument/2006/math">
                    <m:f>
                      <m:fPr>
                        <m:ctrlPr>
                          <a:rPr lang="en-US" sz="3600" i="1" smtClean="0">
                            <a:latin typeface="Cambria Math" panose="02040503050406030204" pitchFamily="18" charset="0"/>
                          </a:rPr>
                        </m:ctrlPr>
                      </m:fPr>
                      <m:num>
                        <m:r>
                          <m:rPr>
                            <m:nor/>
                          </m:rPr>
                          <a:rPr lang="en-US" sz="3600" dirty="0"/>
                          <m:t>R</m:t>
                        </m:r>
                        <m:r>
                          <m:rPr>
                            <m:nor/>
                          </m:rPr>
                          <a:rPr lang="en-US" sz="3600" baseline="-25000" dirty="0"/>
                          <m:t>2</m:t>
                        </m:r>
                      </m:num>
                      <m:den>
                        <m:r>
                          <m:rPr>
                            <m:nor/>
                          </m:rPr>
                          <a:rPr lang="en-US" sz="3600" dirty="0"/>
                          <m:t>R</m:t>
                        </m:r>
                        <m:r>
                          <m:rPr>
                            <m:nor/>
                          </m:rPr>
                          <a:rPr lang="en-US" sz="3600" b="0" i="0" baseline="-25000" dirty="0" smtClean="0"/>
                          <m:t>1</m:t>
                        </m:r>
                        <m:r>
                          <m:rPr>
                            <m:nor/>
                          </m:rPr>
                          <a:rPr lang="en-US" sz="3600" b="0" i="0" smtClean="0"/>
                          <m:t>+</m:t>
                        </m:r>
                        <m:r>
                          <m:rPr>
                            <m:nor/>
                          </m:rPr>
                          <a:rPr lang="en-US" sz="3600" dirty="0"/>
                          <m:t>R</m:t>
                        </m:r>
                        <m:r>
                          <m:rPr>
                            <m:nor/>
                          </m:rPr>
                          <a:rPr lang="en-US" sz="3600" baseline="-25000" dirty="0"/>
                          <m:t>2</m:t>
                        </m:r>
                      </m:den>
                    </m:f>
                  </m:oMath>
                </a14:m>
                <a:r>
                  <a:rPr lang="en-IN" sz="3600" dirty="0"/>
                  <a:t> = -</a:t>
                </a:r>
                <a:r>
                  <a:rPr lang="el-GR" sz="3600" dirty="0"/>
                  <a:t>β</a:t>
                </a:r>
                <a:r>
                  <a:rPr lang="en-US" sz="3600" dirty="0"/>
                  <a:t> </a:t>
                </a:r>
                <a:r>
                  <a:rPr lang="en-US" sz="3600" dirty="0" err="1"/>
                  <a:t>V</a:t>
                </a:r>
                <a:r>
                  <a:rPr lang="en-US" sz="3600" baseline="-25000" dirty="0" err="1"/>
                  <a:t>sat</a:t>
                </a:r>
                <a:r>
                  <a:rPr lang="en-US" sz="3600" dirty="0"/>
                  <a:t> </a:t>
                </a:r>
              </a:p>
              <a:p>
                <a:r>
                  <a:rPr lang="en-US" sz="3600" dirty="0"/>
                  <a:t>This again changes when  V</a:t>
                </a:r>
                <a:r>
                  <a:rPr lang="en-US" sz="3600" baseline="-25000" dirty="0"/>
                  <a:t>in </a:t>
                </a:r>
                <a:r>
                  <a:rPr lang="en-US" sz="3600" dirty="0"/>
                  <a:t>&lt; V</a:t>
                </a:r>
                <a:r>
                  <a:rPr lang="en-US" sz="3600" baseline="30000" dirty="0"/>
                  <a:t>+</a:t>
                </a:r>
                <a:endParaRPr lang="en-IN" sz="3600" dirty="0"/>
              </a:p>
            </p:txBody>
          </p:sp>
        </mc:Choice>
        <mc:Fallback xmlns="">
          <p:sp>
            <p:nvSpPr>
              <p:cNvPr id="3" name="Content Placeholder 2">
                <a:extLst>
                  <a:ext uri="{FF2B5EF4-FFF2-40B4-BE49-F238E27FC236}">
                    <a16:creationId xmlns:a16="http://schemas.microsoft.com/office/drawing/2014/main" id="{3CF6CB2B-657C-CA67-8249-1C4ABD9A3B3E}"/>
                  </a:ext>
                </a:extLst>
              </p:cNvPr>
              <p:cNvSpPr>
                <a:spLocks noGrp="1" noRot="1" noChangeAspect="1" noMove="1" noResize="1" noEditPoints="1" noAdjustHandles="1" noChangeArrowheads="1" noChangeShapeType="1" noTextEdit="1"/>
              </p:cNvSpPr>
              <p:nvPr>
                <p:ph idx="1"/>
              </p:nvPr>
            </p:nvSpPr>
            <p:spPr>
              <a:xfrm>
                <a:off x="971366" y="396320"/>
                <a:ext cx="10515600" cy="4351338"/>
              </a:xfrm>
              <a:blipFill>
                <a:blip r:embed="rId2"/>
                <a:stretch>
                  <a:fillRect l="-1565"/>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5C1D71CA-C784-7C98-F0E7-2DF90042EFD5}"/>
              </a:ext>
            </a:extLst>
          </p:cNvPr>
          <p:cNvPicPr>
            <a:picLocks noChangeAspect="1"/>
          </p:cNvPicPr>
          <p:nvPr/>
        </p:nvPicPr>
        <p:blipFill>
          <a:blip r:embed="rId3"/>
          <a:stretch>
            <a:fillRect/>
          </a:stretch>
        </p:blipFill>
        <p:spPr>
          <a:xfrm>
            <a:off x="2601156" y="2320821"/>
            <a:ext cx="7326115" cy="3866915"/>
          </a:xfrm>
          <a:prstGeom prst="rect">
            <a:avLst/>
          </a:prstGeom>
        </p:spPr>
      </p:pic>
    </p:spTree>
    <p:extLst>
      <p:ext uri="{BB962C8B-B14F-4D97-AF65-F5344CB8AC3E}">
        <p14:creationId xmlns:p14="http://schemas.microsoft.com/office/powerpoint/2010/main" val="2278310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B99F1-D7ED-4C5D-A99E-16B3AE8B2C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FA36CF-91C6-2085-8AFC-C01189A3DE04}"/>
              </a:ext>
            </a:extLst>
          </p:cNvPr>
          <p:cNvSpPr>
            <a:spLocks noGrp="1"/>
          </p:cNvSpPr>
          <p:nvPr>
            <p:ph idx="1"/>
          </p:nvPr>
        </p:nvSpPr>
        <p:spPr/>
        <p:txBody>
          <a:bodyPr>
            <a:normAutofit/>
          </a:bodyPr>
          <a:lstStyle/>
          <a:p>
            <a:pPr algn="just"/>
            <a:r>
              <a:rPr lang="en-US" sz="3600" dirty="0"/>
              <a:t>In the Schmitt trigger, </a:t>
            </a:r>
            <a:r>
              <a:rPr lang="en-US" sz="3600" dirty="0" err="1"/>
              <a:t>i</a:t>
            </a:r>
            <a:r>
              <a:rPr lang="en-US" sz="3600" dirty="0"/>
              <a:t>/p is applied externally. </a:t>
            </a:r>
          </a:p>
          <a:p>
            <a:pPr algn="just"/>
            <a:r>
              <a:rPr lang="en-US" sz="3600" dirty="0"/>
              <a:t>But if we provide f/b from o/p to </a:t>
            </a:r>
            <a:r>
              <a:rPr lang="en-US" sz="3600" dirty="0" err="1"/>
              <a:t>i</a:t>
            </a:r>
            <a:r>
              <a:rPr lang="en-US" sz="3600" dirty="0"/>
              <a:t>/p via R and C, then the same </a:t>
            </a:r>
            <a:r>
              <a:rPr lang="en-US" sz="3600" dirty="0" err="1"/>
              <a:t>ckt</a:t>
            </a:r>
            <a:r>
              <a:rPr lang="en-US" sz="3600" dirty="0"/>
              <a:t> can be used as an astable MV.</a:t>
            </a:r>
            <a:endParaRPr lang="en-IN" sz="3600" dirty="0"/>
          </a:p>
        </p:txBody>
      </p:sp>
    </p:spTree>
    <p:extLst>
      <p:ext uri="{BB962C8B-B14F-4D97-AF65-F5344CB8AC3E}">
        <p14:creationId xmlns:p14="http://schemas.microsoft.com/office/powerpoint/2010/main" val="218840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D0239F2-2E9B-7583-3A5D-F4EA556EE74A}"/>
              </a:ext>
            </a:extLst>
          </p:cNvPr>
          <p:cNvPicPr>
            <a:picLocks noGrp="1" noChangeAspect="1"/>
          </p:cNvPicPr>
          <p:nvPr>
            <p:ph idx="1"/>
          </p:nvPr>
        </p:nvPicPr>
        <p:blipFill>
          <a:blip r:embed="rId2"/>
          <a:stretch>
            <a:fillRect/>
          </a:stretch>
        </p:blipFill>
        <p:spPr>
          <a:xfrm>
            <a:off x="2314896" y="146189"/>
            <a:ext cx="7370642" cy="6565622"/>
          </a:xfrm>
          <a:prstGeom prst="rect">
            <a:avLst/>
          </a:prstGeom>
        </p:spPr>
      </p:pic>
    </p:spTree>
    <p:extLst>
      <p:ext uri="{BB962C8B-B14F-4D97-AF65-F5344CB8AC3E}">
        <p14:creationId xmlns:p14="http://schemas.microsoft.com/office/powerpoint/2010/main" val="2814981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03EB-1C1A-F4F3-0D68-B08FA9154814}"/>
              </a:ext>
            </a:extLst>
          </p:cNvPr>
          <p:cNvSpPr>
            <a:spLocks noGrp="1"/>
          </p:cNvSpPr>
          <p:nvPr>
            <p:ph type="title"/>
          </p:nvPr>
        </p:nvSpPr>
        <p:spPr/>
        <p:txBody>
          <a:bodyPr/>
          <a:lstStyle/>
          <a:p>
            <a:r>
              <a:rPr lang="en-US" b="1" dirty="0">
                <a:latin typeface="+mn-lt"/>
              </a:rPr>
              <a:t>Working</a:t>
            </a:r>
            <a:endParaRPr lang="en-IN" b="1" dirty="0">
              <a:latin typeface="+mn-lt"/>
            </a:endParaRPr>
          </a:p>
        </p:txBody>
      </p:sp>
      <p:sp>
        <p:nvSpPr>
          <p:cNvPr id="3" name="Content Placeholder 2">
            <a:extLst>
              <a:ext uri="{FF2B5EF4-FFF2-40B4-BE49-F238E27FC236}">
                <a16:creationId xmlns:a16="http://schemas.microsoft.com/office/drawing/2014/main" id="{29406549-879C-FBDE-263F-59AD3D03400D}"/>
              </a:ext>
            </a:extLst>
          </p:cNvPr>
          <p:cNvSpPr>
            <a:spLocks noGrp="1"/>
          </p:cNvSpPr>
          <p:nvPr>
            <p:ph sz="half" idx="1"/>
          </p:nvPr>
        </p:nvSpPr>
        <p:spPr/>
        <p:txBody>
          <a:bodyPr>
            <a:normAutofit/>
          </a:bodyPr>
          <a:lstStyle/>
          <a:p>
            <a:pPr algn="just"/>
            <a:r>
              <a:rPr lang="en-US" sz="3000" dirty="0"/>
              <a:t>Lets assume initial voltage across this </a:t>
            </a:r>
            <a:r>
              <a:rPr lang="en-US" sz="3000" dirty="0" err="1"/>
              <a:t>ckt</a:t>
            </a:r>
            <a:r>
              <a:rPr lang="en-US" sz="3000" dirty="0"/>
              <a:t> is +</a:t>
            </a:r>
            <a:r>
              <a:rPr lang="en-US" sz="3000" dirty="0" err="1"/>
              <a:t>V</a:t>
            </a:r>
            <a:r>
              <a:rPr lang="en-US" sz="3000" baseline="-25000" dirty="0" err="1"/>
              <a:t>sat</a:t>
            </a:r>
            <a:r>
              <a:rPr lang="en-US" sz="3000" baseline="-25000" dirty="0"/>
              <a:t> </a:t>
            </a:r>
            <a:r>
              <a:rPr lang="en-US" sz="3000" dirty="0"/>
              <a:t>.</a:t>
            </a:r>
          </a:p>
          <a:p>
            <a:pPr algn="just"/>
            <a:r>
              <a:rPr lang="en-US" sz="3000" dirty="0"/>
              <a:t>So capacitor starts charging thru this path. </a:t>
            </a:r>
          </a:p>
          <a:p>
            <a:pPr algn="just"/>
            <a:r>
              <a:rPr lang="en-US" sz="3000" dirty="0"/>
              <a:t>Assume ideal op amp. So no current flow into op amp.</a:t>
            </a:r>
          </a:p>
          <a:p>
            <a:pPr algn="just"/>
            <a:r>
              <a:rPr lang="en-US" sz="3000" dirty="0"/>
              <a:t>As soon as cap starts charging, the V will get build up across this </a:t>
            </a:r>
            <a:r>
              <a:rPr lang="en-US" sz="3000" dirty="0" err="1"/>
              <a:t>capr</a:t>
            </a:r>
            <a:r>
              <a:rPr lang="en-US" sz="3000" dirty="0"/>
              <a:t>.</a:t>
            </a:r>
            <a:endParaRPr lang="en-IN" sz="3000" dirty="0"/>
          </a:p>
        </p:txBody>
      </p:sp>
      <p:pic>
        <p:nvPicPr>
          <p:cNvPr id="10" name="Picture 9">
            <a:extLst>
              <a:ext uri="{FF2B5EF4-FFF2-40B4-BE49-F238E27FC236}">
                <a16:creationId xmlns:a16="http://schemas.microsoft.com/office/drawing/2014/main" id="{106B0542-8A6D-17CA-4768-D7C9D5BB4C87}"/>
              </a:ext>
            </a:extLst>
          </p:cNvPr>
          <p:cNvPicPr>
            <a:picLocks noChangeAspect="1"/>
          </p:cNvPicPr>
          <p:nvPr/>
        </p:nvPicPr>
        <p:blipFill rotWithShape="1">
          <a:blip r:embed="rId2"/>
          <a:srcRect l="2086" t="3839" r="1414" b="2171"/>
          <a:stretch/>
        </p:blipFill>
        <p:spPr>
          <a:xfrm>
            <a:off x="6496138" y="1572174"/>
            <a:ext cx="4787379" cy="4351337"/>
          </a:xfrm>
          <a:prstGeom prst="rect">
            <a:avLst/>
          </a:prstGeom>
        </p:spPr>
      </p:pic>
    </p:spTree>
    <p:extLst>
      <p:ext uri="{BB962C8B-B14F-4D97-AF65-F5344CB8AC3E}">
        <p14:creationId xmlns:p14="http://schemas.microsoft.com/office/powerpoint/2010/main" val="318342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DCF2131-5DDC-9CD8-2E10-366736365C1F}"/>
              </a:ext>
            </a:extLst>
          </p:cNvPr>
          <p:cNvSpPr>
            <a:spLocks noGrp="1"/>
          </p:cNvSpPr>
          <p:nvPr>
            <p:ph idx="1"/>
          </p:nvPr>
        </p:nvSpPr>
        <p:spPr>
          <a:xfrm>
            <a:off x="1051264" y="529485"/>
            <a:ext cx="10515600" cy="5942336"/>
          </a:xfrm>
        </p:spPr>
        <p:txBody>
          <a:bodyPr>
            <a:noAutofit/>
          </a:bodyPr>
          <a:lstStyle/>
          <a:p>
            <a:pPr algn="just"/>
            <a:r>
              <a:rPr lang="en-US" sz="3600" dirty="0"/>
              <a:t>V at node a will also build up.</a:t>
            </a:r>
          </a:p>
          <a:p>
            <a:pPr algn="just"/>
            <a:r>
              <a:rPr lang="en-IN" sz="3600" dirty="0"/>
              <a:t>Whenever V</a:t>
            </a:r>
            <a:r>
              <a:rPr lang="en-IN" sz="3600" baseline="-25000" dirty="0"/>
              <a:t>a </a:t>
            </a:r>
            <a:r>
              <a:rPr lang="en-IN" sz="3600" dirty="0"/>
              <a:t>reaches V</a:t>
            </a:r>
            <a:r>
              <a:rPr lang="en-IN" sz="3600" baseline="-25000" dirty="0"/>
              <a:t>UT</a:t>
            </a:r>
            <a:r>
              <a:rPr lang="en-IN" sz="3600" dirty="0"/>
              <a:t> or in this case lets say equal to </a:t>
            </a:r>
            <a:r>
              <a:rPr lang="el-GR" sz="3600" dirty="0"/>
              <a:t>β</a:t>
            </a:r>
            <a:r>
              <a:rPr lang="en-US" sz="3600" dirty="0"/>
              <a:t> </a:t>
            </a:r>
            <a:r>
              <a:rPr lang="en-US" sz="3600" dirty="0" err="1"/>
              <a:t>V</a:t>
            </a:r>
            <a:r>
              <a:rPr lang="en-US" sz="3600" baseline="-25000" dirty="0" err="1"/>
              <a:t>sat</a:t>
            </a:r>
            <a:r>
              <a:rPr lang="en-US" sz="3600" baseline="-25000" dirty="0"/>
              <a:t> </a:t>
            </a:r>
            <a:r>
              <a:rPr lang="en-US" sz="3600" dirty="0"/>
              <a:t>, then V at inv node will be slightly &gt; that at non inv node. </a:t>
            </a:r>
            <a:r>
              <a:rPr lang="en-IN" sz="3600" dirty="0"/>
              <a:t> </a:t>
            </a:r>
          </a:p>
          <a:p>
            <a:pPr algn="just"/>
            <a:r>
              <a:rPr lang="en-IN" sz="3600" dirty="0"/>
              <a:t>So o/p changes to –</a:t>
            </a:r>
            <a:r>
              <a:rPr lang="en-IN" sz="3600" dirty="0" err="1"/>
              <a:t>V</a:t>
            </a:r>
            <a:r>
              <a:rPr lang="en-IN" sz="3600" baseline="-25000" dirty="0" err="1"/>
              <a:t>sat</a:t>
            </a:r>
            <a:r>
              <a:rPr lang="en-IN" sz="3600" dirty="0"/>
              <a:t>. </a:t>
            </a:r>
          </a:p>
          <a:p>
            <a:pPr algn="just"/>
            <a:r>
              <a:rPr lang="en-IN" sz="3600" dirty="0"/>
              <a:t>Now </a:t>
            </a:r>
            <a:r>
              <a:rPr lang="en-IN" sz="3600" dirty="0" err="1"/>
              <a:t>capr</a:t>
            </a:r>
            <a:r>
              <a:rPr lang="en-IN" sz="3600" dirty="0"/>
              <a:t> starts charging to the –</a:t>
            </a:r>
            <a:r>
              <a:rPr lang="en-IN" sz="3600" dirty="0" err="1"/>
              <a:t>ve</a:t>
            </a:r>
            <a:r>
              <a:rPr lang="en-IN" sz="3600" dirty="0"/>
              <a:t> saturation voltage.</a:t>
            </a:r>
          </a:p>
          <a:p>
            <a:pPr algn="just"/>
            <a:r>
              <a:rPr lang="en-IN" sz="3600" dirty="0"/>
              <a:t>As soon as the voltage </a:t>
            </a:r>
            <a:r>
              <a:rPr lang="en-IN" sz="3600" dirty="0" err="1"/>
              <a:t>jz</a:t>
            </a:r>
            <a:r>
              <a:rPr lang="en-IN" sz="3600" dirty="0"/>
              <a:t> goes below –</a:t>
            </a:r>
            <a:r>
              <a:rPr lang="en-IN" sz="3600" dirty="0" err="1"/>
              <a:t>V</a:t>
            </a:r>
            <a:r>
              <a:rPr lang="en-IN" sz="3600" baseline="-25000" dirty="0" err="1"/>
              <a:t>sat</a:t>
            </a:r>
            <a:r>
              <a:rPr lang="en-IN" sz="3600" dirty="0"/>
              <a:t> , at that time V at non </a:t>
            </a:r>
            <a:r>
              <a:rPr lang="en-IN" sz="3600" dirty="0" err="1"/>
              <a:t>inv</a:t>
            </a:r>
            <a:r>
              <a:rPr lang="en-IN" sz="3600" dirty="0"/>
              <a:t> terminal is slightly &gt; that of </a:t>
            </a:r>
            <a:r>
              <a:rPr lang="en-IN" sz="3600" dirty="0" err="1"/>
              <a:t>inv</a:t>
            </a:r>
            <a:r>
              <a:rPr lang="en-IN" sz="3600" dirty="0"/>
              <a:t> terminal.</a:t>
            </a:r>
          </a:p>
          <a:p>
            <a:pPr algn="just"/>
            <a:r>
              <a:rPr lang="en-IN" sz="3600" dirty="0"/>
              <a:t>Once again o/p switch from –</a:t>
            </a:r>
            <a:r>
              <a:rPr lang="en-IN" sz="3600" dirty="0" err="1"/>
              <a:t>V</a:t>
            </a:r>
            <a:r>
              <a:rPr lang="en-IN" sz="3600" baseline="-25000" dirty="0" err="1"/>
              <a:t>sat</a:t>
            </a:r>
            <a:r>
              <a:rPr lang="en-IN" sz="3600" dirty="0"/>
              <a:t> to + </a:t>
            </a:r>
            <a:r>
              <a:rPr lang="en-IN" sz="3600" dirty="0" err="1"/>
              <a:t>V</a:t>
            </a:r>
            <a:r>
              <a:rPr lang="en-IN" sz="3600" baseline="-25000" dirty="0" err="1"/>
              <a:t>sat</a:t>
            </a:r>
            <a:r>
              <a:rPr lang="en-IN" sz="3600" dirty="0"/>
              <a:t> .</a:t>
            </a:r>
          </a:p>
        </p:txBody>
      </p:sp>
    </p:spTree>
    <p:extLst>
      <p:ext uri="{BB962C8B-B14F-4D97-AF65-F5344CB8AC3E}">
        <p14:creationId xmlns:p14="http://schemas.microsoft.com/office/powerpoint/2010/main" val="2836702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1EBBBA-990C-EAC5-F3DA-F962E60C0DD6}"/>
              </a:ext>
            </a:extLst>
          </p:cNvPr>
          <p:cNvSpPr>
            <a:spLocks noGrp="1"/>
          </p:cNvSpPr>
          <p:nvPr>
            <p:ph idx="1"/>
          </p:nvPr>
        </p:nvSpPr>
        <p:spPr>
          <a:xfrm>
            <a:off x="918099" y="831326"/>
            <a:ext cx="10515600" cy="5676006"/>
          </a:xfrm>
        </p:spPr>
        <p:txBody>
          <a:bodyPr>
            <a:normAutofit/>
          </a:bodyPr>
          <a:lstStyle/>
          <a:p>
            <a:pPr algn="just"/>
            <a:r>
              <a:rPr lang="en-US" sz="3600" dirty="0"/>
              <a:t>In this way, by charging and discharging of capacitor, we will get a square wave at o/p.</a:t>
            </a:r>
          </a:p>
          <a:p>
            <a:pPr algn="just"/>
            <a:r>
              <a:rPr lang="en-US" sz="3600" dirty="0"/>
              <a:t>Time period of astable MV depends on the value of this R and C.</a:t>
            </a:r>
          </a:p>
          <a:p>
            <a:pPr algn="just"/>
            <a:r>
              <a:rPr lang="en-US" sz="3600" dirty="0"/>
              <a:t>It also depends on the value of the upper &amp; lower threshold voltage.</a:t>
            </a:r>
          </a:p>
          <a:p>
            <a:pPr algn="just"/>
            <a:r>
              <a:rPr lang="en-US" sz="3600" dirty="0"/>
              <a:t>So eventually we can say that it depends on R1 and R2.</a:t>
            </a:r>
          </a:p>
          <a:p>
            <a:pPr algn="just"/>
            <a:endParaRPr lang="en-IN" sz="3600" dirty="0"/>
          </a:p>
        </p:txBody>
      </p:sp>
    </p:spTree>
    <p:extLst>
      <p:ext uri="{BB962C8B-B14F-4D97-AF65-F5344CB8AC3E}">
        <p14:creationId xmlns:p14="http://schemas.microsoft.com/office/powerpoint/2010/main" val="2291625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F866D-C870-F595-E459-2F7B19FA306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16E8105-A3D5-C8B7-71DF-FC71ACE85A82}"/>
              </a:ext>
            </a:extLst>
          </p:cNvPr>
          <p:cNvPicPr>
            <a:picLocks noGrp="1" noChangeAspect="1"/>
          </p:cNvPicPr>
          <p:nvPr>
            <p:ph idx="1"/>
          </p:nvPr>
        </p:nvPicPr>
        <p:blipFill>
          <a:blip r:embed="rId2"/>
          <a:stretch>
            <a:fillRect/>
          </a:stretch>
        </p:blipFill>
        <p:spPr>
          <a:xfrm>
            <a:off x="1180730" y="430957"/>
            <a:ext cx="10104195" cy="5783411"/>
          </a:xfrm>
        </p:spPr>
      </p:pic>
    </p:spTree>
    <p:extLst>
      <p:ext uri="{BB962C8B-B14F-4D97-AF65-F5344CB8AC3E}">
        <p14:creationId xmlns:p14="http://schemas.microsoft.com/office/powerpoint/2010/main" val="2082074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3281C-30C5-768F-8AD2-476706E6DD99}"/>
              </a:ext>
            </a:extLst>
          </p:cNvPr>
          <p:cNvSpPr>
            <a:spLocks noGrp="1"/>
          </p:cNvSpPr>
          <p:nvPr>
            <p:ph type="title"/>
          </p:nvPr>
        </p:nvSpPr>
        <p:spPr/>
        <p:txBody>
          <a:bodyPr/>
          <a:lstStyle/>
          <a:p>
            <a:r>
              <a:rPr lang="en-US" b="1" dirty="0">
                <a:solidFill>
                  <a:srgbClr val="FF0000"/>
                </a:solidFill>
                <a:latin typeface="+mn-lt"/>
              </a:rPr>
              <a:t>Derivation</a:t>
            </a:r>
            <a:endParaRPr lang="en-IN" b="1" dirty="0">
              <a:solidFill>
                <a:srgbClr val="FF0000"/>
              </a:solidFill>
              <a:latin typeface="+mn-lt"/>
            </a:endParaRPr>
          </a:p>
        </p:txBody>
      </p:sp>
      <p:pic>
        <p:nvPicPr>
          <p:cNvPr id="13" name="Content Placeholder 12">
            <a:extLst>
              <a:ext uri="{FF2B5EF4-FFF2-40B4-BE49-F238E27FC236}">
                <a16:creationId xmlns:a16="http://schemas.microsoft.com/office/drawing/2014/main" id="{D60EA6AD-1A13-9415-E903-0375DC1CAD60}"/>
              </a:ext>
            </a:extLst>
          </p:cNvPr>
          <p:cNvPicPr>
            <a:picLocks noGrp="1" noChangeAspect="1"/>
          </p:cNvPicPr>
          <p:nvPr>
            <p:ph idx="1"/>
          </p:nvPr>
        </p:nvPicPr>
        <p:blipFill>
          <a:blip r:embed="rId2"/>
          <a:stretch>
            <a:fillRect/>
          </a:stretch>
        </p:blipFill>
        <p:spPr>
          <a:xfrm>
            <a:off x="2139518" y="1298300"/>
            <a:ext cx="7927759" cy="5416096"/>
          </a:xfrm>
        </p:spPr>
      </p:pic>
    </p:spTree>
    <p:extLst>
      <p:ext uri="{BB962C8B-B14F-4D97-AF65-F5344CB8AC3E}">
        <p14:creationId xmlns:p14="http://schemas.microsoft.com/office/powerpoint/2010/main" val="3250691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508320-7126-0416-4CCA-B1C6CADCB91A}"/>
                  </a:ext>
                </a:extLst>
              </p:cNvPr>
              <p:cNvSpPr>
                <a:spLocks noGrp="1"/>
              </p:cNvSpPr>
              <p:nvPr>
                <p:ph idx="1"/>
              </p:nvPr>
            </p:nvSpPr>
            <p:spPr>
              <a:xfrm>
                <a:off x="900344" y="857958"/>
                <a:ext cx="10515600" cy="5658251"/>
              </a:xfrm>
            </p:spPr>
            <p:txBody>
              <a:bodyPr>
                <a:noAutofit/>
              </a:bodyPr>
              <a:lstStyle/>
              <a:p>
                <a:r>
                  <a:rPr lang="en-US" sz="3600" dirty="0"/>
                  <a:t>Assume V initially across cap = - </a:t>
                </a:r>
                <a:r>
                  <a:rPr lang="el-GR" sz="3600" dirty="0"/>
                  <a:t>β</a:t>
                </a:r>
                <a:r>
                  <a:rPr lang="en-US" sz="3600" dirty="0"/>
                  <a:t> </a:t>
                </a:r>
                <a:r>
                  <a:rPr lang="en-US" sz="3600" dirty="0" err="1"/>
                  <a:t>V</a:t>
                </a:r>
                <a:r>
                  <a:rPr lang="en-US" sz="3600" baseline="-25000" dirty="0" err="1"/>
                  <a:t>sat</a:t>
                </a:r>
                <a:r>
                  <a:rPr lang="en-US" sz="3600" baseline="-25000" dirty="0"/>
                  <a:t> </a:t>
                </a:r>
              </a:p>
              <a:p>
                <a:r>
                  <a:rPr lang="en-US" sz="3600" dirty="0"/>
                  <a:t>and it is charging towards +</a:t>
                </a:r>
                <a:r>
                  <a:rPr lang="en-US" sz="3600" dirty="0" err="1"/>
                  <a:t>V</a:t>
                </a:r>
                <a:r>
                  <a:rPr lang="en-US" sz="3600" baseline="-25000" dirty="0" err="1"/>
                  <a:t>sat</a:t>
                </a:r>
                <a:r>
                  <a:rPr lang="en-US" sz="3600" dirty="0"/>
                  <a:t>. </a:t>
                </a:r>
              </a:p>
              <a:p>
                <a:r>
                  <a:rPr lang="en-IN" sz="3600" dirty="0"/>
                  <a:t>V across capacitor </a:t>
                </a:r>
              </a:p>
              <a:p>
                <a:pPr marL="0" indent="0">
                  <a:buNone/>
                </a:pPr>
                <a:r>
                  <a:rPr lang="en-IN" sz="3600" b="1" dirty="0">
                    <a:solidFill>
                      <a:srgbClr val="FF0000"/>
                    </a:solidFill>
                  </a:rPr>
                  <a:t>V</a:t>
                </a:r>
                <a:r>
                  <a:rPr lang="en-IN" sz="3600" b="1" baseline="-25000" dirty="0" err="1">
                    <a:solidFill>
                      <a:srgbClr val="FF0000"/>
                    </a:solidFill>
                  </a:rPr>
                  <a:t>c</a:t>
                </a:r>
                <a:r>
                  <a:rPr lang="en-IN" sz="3600" b="1" dirty="0">
                    <a:solidFill>
                      <a:srgbClr val="FF0000"/>
                    </a:solidFill>
                  </a:rPr>
                  <a:t>(t) = </a:t>
                </a:r>
                <a:r>
                  <a:rPr lang="en-IN" sz="3600" b="1" dirty="0" err="1">
                    <a:solidFill>
                      <a:srgbClr val="FF0000"/>
                    </a:solidFill>
                  </a:rPr>
                  <a:t>V</a:t>
                </a:r>
                <a:r>
                  <a:rPr lang="en-IN" sz="3600" b="1" baseline="-25000" dirty="0" err="1">
                    <a:solidFill>
                      <a:srgbClr val="FF0000"/>
                    </a:solidFill>
                  </a:rPr>
                  <a:t>final</a:t>
                </a:r>
                <a:r>
                  <a:rPr lang="en-IN" sz="3600" b="1" baseline="-25000" dirty="0">
                    <a:solidFill>
                      <a:srgbClr val="FF0000"/>
                    </a:solidFill>
                  </a:rPr>
                  <a:t> </a:t>
                </a:r>
                <a:r>
                  <a:rPr lang="en-IN" sz="3600" b="1" dirty="0">
                    <a:solidFill>
                      <a:srgbClr val="FF0000"/>
                    </a:solidFill>
                  </a:rPr>
                  <a:t>+ [ </a:t>
                </a:r>
                <a:r>
                  <a:rPr lang="en-IN" sz="3600" b="1" dirty="0" err="1">
                    <a:solidFill>
                      <a:srgbClr val="FF0000"/>
                    </a:solidFill>
                  </a:rPr>
                  <a:t>V</a:t>
                </a:r>
                <a:r>
                  <a:rPr lang="en-IN" sz="3600" b="1" baseline="-25000" dirty="0" err="1">
                    <a:solidFill>
                      <a:srgbClr val="FF0000"/>
                    </a:solidFill>
                  </a:rPr>
                  <a:t>initial</a:t>
                </a:r>
                <a:r>
                  <a:rPr lang="en-IN" sz="3600" b="1" dirty="0">
                    <a:solidFill>
                      <a:srgbClr val="FF0000"/>
                    </a:solidFill>
                  </a:rPr>
                  <a:t> – </a:t>
                </a:r>
                <a:r>
                  <a:rPr lang="en-IN" sz="3600" b="1" dirty="0" err="1">
                    <a:solidFill>
                      <a:srgbClr val="FF0000"/>
                    </a:solidFill>
                  </a:rPr>
                  <a:t>V</a:t>
                </a:r>
                <a:r>
                  <a:rPr lang="en-IN" sz="3600" b="1" baseline="-25000" dirty="0" err="1">
                    <a:solidFill>
                      <a:srgbClr val="FF0000"/>
                    </a:solidFill>
                  </a:rPr>
                  <a:t>final</a:t>
                </a:r>
                <a:r>
                  <a:rPr lang="en-IN" sz="3600" b="1" dirty="0">
                    <a:solidFill>
                      <a:srgbClr val="FF0000"/>
                    </a:solidFill>
                  </a:rPr>
                  <a:t> ] </a:t>
                </a:r>
                <a14:m>
                  <m:oMath xmlns:m="http://schemas.openxmlformats.org/officeDocument/2006/math">
                    <m:sSup>
                      <m:sSupPr>
                        <m:ctrlPr>
                          <a:rPr lang="en-IN" sz="3600" b="1" i="1" smtClean="0">
                            <a:solidFill>
                              <a:srgbClr val="FF0000"/>
                            </a:solidFill>
                            <a:latin typeface="Cambria Math" panose="02040503050406030204" pitchFamily="18" charset="0"/>
                          </a:rPr>
                        </m:ctrlPr>
                      </m:sSupPr>
                      <m:e>
                        <m:r>
                          <a:rPr lang="en-US" sz="3600" b="1" i="1" smtClean="0">
                            <a:solidFill>
                              <a:srgbClr val="FF0000"/>
                            </a:solidFill>
                            <a:latin typeface="Cambria Math" panose="02040503050406030204" pitchFamily="18" charset="0"/>
                          </a:rPr>
                          <m:t>𝒆</m:t>
                        </m:r>
                      </m:e>
                      <m:sup>
                        <m:r>
                          <m:rPr>
                            <m:nor/>
                          </m:rPr>
                          <a:rPr lang="en-IN" sz="3600" b="1" dirty="0">
                            <a:solidFill>
                              <a:srgbClr val="FF0000"/>
                            </a:solidFill>
                          </a:rPr>
                          <m:t>–</m:t>
                        </m:r>
                        <m:r>
                          <m:rPr>
                            <m:nor/>
                          </m:rPr>
                          <a:rPr lang="en-IN" sz="3600" b="1" dirty="0">
                            <a:solidFill>
                              <a:srgbClr val="FF0000"/>
                            </a:solidFill>
                          </a:rPr>
                          <m:t>t</m:t>
                        </m:r>
                        <m:r>
                          <m:rPr>
                            <m:nor/>
                          </m:rPr>
                          <a:rPr lang="en-IN" sz="3600" b="1" dirty="0">
                            <a:solidFill>
                              <a:srgbClr val="FF0000"/>
                            </a:solidFill>
                          </a:rPr>
                          <m:t>/</m:t>
                        </m:r>
                        <m:r>
                          <m:rPr>
                            <m:nor/>
                          </m:rPr>
                          <a:rPr lang="en-IN" sz="3600" b="1" dirty="0">
                            <a:solidFill>
                              <a:srgbClr val="FF0000"/>
                            </a:solidFill>
                          </a:rPr>
                          <m:t>RC</m:t>
                        </m:r>
                      </m:sup>
                    </m:sSup>
                  </m:oMath>
                </a14:m>
                <a:r>
                  <a:rPr lang="en-IN" sz="3600" b="1" dirty="0">
                    <a:solidFill>
                      <a:srgbClr val="FF0000"/>
                    </a:solidFill>
                  </a:rPr>
                  <a:t> </a:t>
                </a:r>
              </a:p>
              <a:p>
                <a:r>
                  <a:rPr lang="en-IN" sz="3600" dirty="0" err="1"/>
                  <a:t>V</a:t>
                </a:r>
                <a:r>
                  <a:rPr lang="en-IN" sz="3600" baseline="-25000" dirty="0" err="1"/>
                  <a:t>final</a:t>
                </a:r>
                <a:r>
                  <a:rPr lang="en-IN" sz="3600" baseline="-25000" dirty="0"/>
                  <a:t> </a:t>
                </a:r>
                <a:r>
                  <a:rPr lang="en-IN" sz="3600" dirty="0"/>
                  <a:t> is the V towards which the capacitor is charging. </a:t>
                </a:r>
              </a:p>
              <a:p>
                <a:pPr marL="0" indent="0">
                  <a:buNone/>
                </a:pPr>
                <a:r>
                  <a:rPr lang="en-IN" sz="3600" dirty="0" err="1"/>
                  <a:t>V</a:t>
                </a:r>
                <a:r>
                  <a:rPr lang="en-IN" sz="3600" baseline="-25000" dirty="0" err="1"/>
                  <a:t>final</a:t>
                </a:r>
                <a:r>
                  <a:rPr lang="en-IN" sz="3600" dirty="0"/>
                  <a:t> = +</a:t>
                </a:r>
                <a:r>
                  <a:rPr lang="en-IN" sz="3600" dirty="0" err="1"/>
                  <a:t>V</a:t>
                </a:r>
                <a:r>
                  <a:rPr lang="en-IN" sz="3600" baseline="-25000" dirty="0" err="1"/>
                  <a:t>sat</a:t>
                </a:r>
                <a:r>
                  <a:rPr lang="en-IN" sz="3600" dirty="0"/>
                  <a:t> </a:t>
                </a:r>
              </a:p>
              <a:p>
                <a:pPr marL="0" indent="0">
                  <a:buNone/>
                </a:pPr>
                <a:r>
                  <a:rPr lang="en-IN" sz="3600" dirty="0" err="1"/>
                  <a:t>V</a:t>
                </a:r>
                <a:r>
                  <a:rPr lang="en-IN" sz="3600" baseline="-25000" dirty="0" err="1"/>
                  <a:t>initial</a:t>
                </a:r>
                <a:r>
                  <a:rPr lang="en-IN" sz="3600" baseline="-25000" dirty="0"/>
                  <a:t> </a:t>
                </a:r>
                <a:r>
                  <a:rPr lang="en-IN" sz="3600" dirty="0"/>
                  <a:t>= </a:t>
                </a:r>
                <a:r>
                  <a:rPr lang="en-US" sz="3600" dirty="0"/>
                  <a:t>- </a:t>
                </a:r>
                <a:r>
                  <a:rPr lang="el-GR" sz="3600" dirty="0"/>
                  <a:t>β</a:t>
                </a:r>
                <a:r>
                  <a:rPr lang="en-US" sz="3600" dirty="0"/>
                  <a:t> </a:t>
                </a:r>
                <a:r>
                  <a:rPr lang="en-US" sz="3600" dirty="0" err="1"/>
                  <a:t>V</a:t>
                </a:r>
                <a:r>
                  <a:rPr lang="en-US" sz="3600" baseline="-25000" dirty="0" err="1"/>
                  <a:t>sat</a:t>
                </a:r>
                <a:r>
                  <a:rPr lang="en-US" sz="3600" baseline="-25000" dirty="0"/>
                  <a:t> </a:t>
                </a:r>
              </a:p>
              <a:p>
                <a:pPr marL="0" indent="0">
                  <a:buNone/>
                </a:pPr>
                <a:r>
                  <a:rPr lang="en-IN" sz="3600" dirty="0"/>
                  <a:t>We need to find time t</a:t>
                </a:r>
                <a:r>
                  <a:rPr lang="en-IN" sz="3600" baseline="-25000" dirty="0"/>
                  <a:t>1</a:t>
                </a:r>
                <a:r>
                  <a:rPr lang="en-IN" sz="3600" dirty="0"/>
                  <a:t> which is required by </a:t>
                </a:r>
                <a:r>
                  <a:rPr lang="en-IN" sz="3600" dirty="0" err="1"/>
                  <a:t>capr</a:t>
                </a:r>
                <a:r>
                  <a:rPr lang="en-IN" sz="3600" dirty="0"/>
                  <a:t> to charge from </a:t>
                </a:r>
                <a:r>
                  <a:rPr lang="en-US" sz="3600" dirty="0"/>
                  <a:t>- </a:t>
                </a:r>
                <a:r>
                  <a:rPr lang="el-GR" sz="3600" dirty="0"/>
                  <a:t>β</a:t>
                </a:r>
                <a:r>
                  <a:rPr lang="en-US" sz="3600" dirty="0"/>
                  <a:t> </a:t>
                </a:r>
                <a:r>
                  <a:rPr lang="en-US" sz="3600" dirty="0" err="1"/>
                  <a:t>V</a:t>
                </a:r>
                <a:r>
                  <a:rPr lang="en-US" sz="3600" baseline="-25000" dirty="0" err="1"/>
                  <a:t>sat</a:t>
                </a:r>
                <a:r>
                  <a:rPr lang="en-US" sz="3600" baseline="-25000" dirty="0"/>
                  <a:t> </a:t>
                </a:r>
                <a:r>
                  <a:rPr lang="en-US" sz="3600" dirty="0"/>
                  <a:t>to + </a:t>
                </a:r>
                <a:r>
                  <a:rPr lang="el-GR" sz="3600" dirty="0"/>
                  <a:t>β</a:t>
                </a:r>
                <a:r>
                  <a:rPr lang="en-US" sz="3600" dirty="0"/>
                  <a:t> </a:t>
                </a:r>
                <a:r>
                  <a:rPr lang="en-US" sz="3600" dirty="0" err="1"/>
                  <a:t>V</a:t>
                </a:r>
                <a:r>
                  <a:rPr lang="en-US" sz="3600" baseline="-25000" dirty="0" err="1"/>
                  <a:t>sat</a:t>
                </a:r>
                <a:r>
                  <a:rPr lang="en-US" sz="3600" baseline="-25000" dirty="0"/>
                  <a:t> .</a:t>
                </a:r>
                <a:endParaRPr lang="en-IN" sz="3600" dirty="0"/>
              </a:p>
            </p:txBody>
          </p:sp>
        </mc:Choice>
        <mc:Fallback xmlns="">
          <p:sp>
            <p:nvSpPr>
              <p:cNvPr id="3" name="Content Placeholder 2">
                <a:extLst>
                  <a:ext uri="{FF2B5EF4-FFF2-40B4-BE49-F238E27FC236}">
                    <a16:creationId xmlns:a16="http://schemas.microsoft.com/office/drawing/2014/main" id="{0C508320-7126-0416-4CCA-B1C6CADCB91A}"/>
                  </a:ext>
                </a:extLst>
              </p:cNvPr>
              <p:cNvSpPr>
                <a:spLocks noGrp="1" noRot="1" noChangeAspect="1" noMove="1" noResize="1" noEditPoints="1" noAdjustHandles="1" noChangeArrowheads="1" noChangeShapeType="1" noTextEdit="1"/>
              </p:cNvSpPr>
              <p:nvPr>
                <p:ph idx="1"/>
              </p:nvPr>
            </p:nvSpPr>
            <p:spPr>
              <a:xfrm>
                <a:off x="900344" y="857958"/>
                <a:ext cx="10515600" cy="5658251"/>
              </a:xfrm>
              <a:blipFill>
                <a:blip r:embed="rId2"/>
                <a:stretch>
                  <a:fillRect l="-1797" t="-2694" r="-580" b="-1940"/>
                </a:stretch>
              </a:blipFill>
            </p:spPr>
            <p:txBody>
              <a:bodyPr/>
              <a:lstStyle/>
              <a:p>
                <a:r>
                  <a:rPr lang="en-IN">
                    <a:noFill/>
                  </a:rPr>
                  <a:t> </a:t>
                </a:r>
              </a:p>
            </p:txBody>
          </p:sp>
        </mc:Fallback>
      </mc:AlternateContent>
    </p:spTree>
    <p:extLst>
      <p:ext uri="{BB962C8B-B14F-4D97-AF65-F5344CB8AC3E}">
        <p14:creationId xmlns:p14="http://schemas.microsoft.com/office/powerpoint/2010/main" val="4005043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EA6201B-4FF0-9C33-6736-95B46D242261}"/>
                  </a:ext>
                </a:extLst>
              </p:cNvPr>
              <p:cNvSpPr>
                <a:spLocks noGrp="1"/>
              </p:cNvSpPr>
              <p:nvPr>
                <p:ph type="title"/>
              </p:nvPr>
            </p:nvSpPr>
            <p:spPr/>
            <p:txBody>
              <a:bodyPr>
                <a:normAutofit fontScale="90000"/>
              </a:bodyPr>
              <a:lstStyle/>
              <a:p>
                <a:r>
                  <a:rPr lang="en-IN" sz="4400" dirty="0">
                    <a:solidFill>
                      <a:schemeClr val="tx1"/>
                    </a:solidFill>
                    <a:latin typeface="+mn-lt"/>
                  </a:rPr>
                  <a:t>V</a:t>
                </a:r>
                <a:r>
                  <a:rPr lang="en-IN" sz="4400" baseline="-25000" dirty="0" err="1">
                    <a:solidFill>
                      <a:schemeClr val="tx1"/>
                    </a:solidFill>
                    <a:latin typeface="+mn-lt"/>
                  </a:rPr>
                  <a:t>c</a:t>
                </a:r>
                <a:r>
                  <a:rPr lang="en-IN" sz="4400" dirty="0">
                    <a:solidFill>
                      <a:schemeClr val="tx1"/>
                    </a:solidFill>
                    <a:latin typeface="+mn-lt"/>
                  </a:rPr>
                  <a:t>(t</a:t>
                </a:r>
                <a:r>
                  <a:rPr lang="en-IN" sz="4400" baseline="-25000" dirty="0">
                    <a:solidFill>
                      <a:schemeClr val="tx1"/>
                    </a:solidFill>
                    <a:latin typeface="+mn-lt"/>
                  </a:rPr>
                  <a:t>1</a:t>
                </a:r>
                <a:r>
                  <a:rPr lang="en-IN" sz="4400" dirty="0">
                    <a:solidFill>
                      <a:schemeClr val="tx1"/>
                    </a:solidFill>
                    <a:latin typeface="+mn-lt"/>
                  </a:rPr>
                  <a:t>) = </a:t>
                </a:r>
                <a:r>
                  <a:rPr lang="en-IN" sz="4400" dirty="0" err="1">
                    <a:solidFill>
                      <a:schemeClr val="tx1"/>
                    </a:solidFill>
                    <a:latin typeface="+mn-lt"/>
                  </a:rPr>
                  <a:t>V</a:t>
                </a:r>
                <a:r>
                  <a:rPr lang="en-IN" sz="4400" baseline="-25000" dirty="0" err="1">
                    <a:solidFill>
                      <a:schemeClr val="tx1"/>
                    </a:solidFill>
                    <a:latin typeface="+mn-lt"/>
                  </a:rPr>
                  <a:t>sat</a:t>
                </a:r>
                <a:r>
                  <a:rPr lang="en-IN" sz="4400" baseline="-25000" dirty="0">
                    <a:solidFill>
                      <a:schemeClr val="tx1"/>
                    </a:solidFill>
                    <a:latin typeface="+mn-lt"/>
                  </a:rPr>
                  <a:t> </a:t>
                </a:r>
                <a:r>
                  <a:rPr lang="en-IN" sz="4400" dirty="0">
                    <a:solidFill>
                      <a:schemeClr val="tx1"/>
                    </a:solidFill>
                    <a:latin typeface="+mn-lt"/>
                  </a:rPr>
                  <a:t>+ [</a:t>
                </a:r>
                <a:r>
                  <a:rPr lang="en-US" dirty="0">
                    <a:solidFill>
                      <a:schemeClr val="tx1"/>
                    </a:solidFill>
                    <a:latin typeface="+mn-lt"/>
                  </a:rPr>
                  <a:t>- </a:t>
                </a:r>
                <a:r>
                  <a:rPr lang="el-GR" dirty="0">
                    <a:solidFill>
                      <a:schemeClr val="tx1"/>
                    </a:solidFill>
                    <a:latin typeface="+mn-lt"/>
                  </a:rPr>
                  <a:t>β</a:t>
                </a:r>
                <a:r>
                  <a:rPr lang="en-US" dirty="0">
                    <a:solidFill>
                      <a:schemeClr val="tx1"/>
                    </a:solidFill>
                    <a:latin typeface="+mn-lt"/>
                  </a:rPr>
                  <a:t> </a:t>
                </a:r>
                <a:r>
                  <a:rPr lang="en-US" dirty="0" err="1">
                    <a:solidFill>
                      <a:schemeClr val="tx1"/>
                    </a:solidFill>
                    <a:latin typeface="+mn-lt"/>
                  </a:rPr>
                  <a:t>V</a:t>
                </a:r>
                <a:r>
                  <a:rPr lang="en-US" baseline="-25000" dirty="0" err="1">
                    <a:solidFill>
                      <a:schemeClr val="tx1"/>
                    </a:solidFill>
                    <a:latin typeface="+mn-lt"/>
                  </a:rPr>
                  <a:t>sat</a:t>
                </a:r>
                <a:r>
                  <a:rPr lang="en-IN" sz="4400" dirty="0">
                    <a:solidFill>
                      <a:schemeClr val="tx1"/>
                    </a:solidFill>
                    <a:latin typeface="+mn-lt"/>
                  </a:rPr>
                  <a:t> – </a:t>
                </a:r>
                <a:r>
                  <a:rPr lang="en-IN" sz="4400" dirty="0" err="1">
                    <a:solidFill>
                      <a:schemeClr val="tx1"/>
                    </a:solidFill>
                    <a:latin typeface="+mn-lt"/>
                  </a:rPr>
                  <a:t>V</a:t>
                </a:r>
                <a:r>
                  <a:rPr lang="en-IN" sz="4400" baseline="-25000" dirty="0" err="1">
                    <a:solidFill>
                      <a:schemeClr val="tx1"/>
                    </a:solidFill>
                    <a:latin typeface="+mn-lt"/>
                  </a:rPr>
                  <a:t>sat</a:t>
                </a:r>
                <a:r>
                  <a:rPr lang="en-IN" sz="4400" dirty="0">
                    <a:solidFill>
                      <a:schemeClr val="tx1"/>
                    </a:solidFill>
                    <a:latin typeface="+mn-lt"/>
                  </a:rPr>
                  <a:t> ] </a:t>
                </a:r>
                <a14:m>
                  <m:oMath xmlns:m="http://schemas.openxmlformats.org/officeDocument/2006/math">
                    <m:sSup>
                      <m:sSupPr>
                        <m:ctrlPr>
                          <a:rPr lang="en-IN" sz="4400" i="1" smtClean="0">
                            <a:solidFill>
                              <a:schemeClr val="tx1"/>
                            </a:solidFill>
                            <a:latin typeface="Cambria Math" panose="02040503050406030204" pitchFamily="18" charset="0"/>
                          </a:rPr>
                        </m:ctrlPr>
                      </m:sSupPr>
                      <m:e>
                        <m:r>
                          <a:rPr lang="en-US" sz="4400" b="0" i="1" smtClean="0">
                            <a:solidFill>
                              <a:schemeClr val="tx1"/>
                            </a:solidFill>
                            <a:latin typeface="Cambria Math" panose="02040503050406030204" pitchFamily="18" charset="0"/>
                          </a:rPr>
                          <m:t>𝑒</m:t>
                        </m:r>
                      </m:e>
                      <m:sup>
                        <m:r>
                          <m:rPr>
                            <m:nor/>
                          </m:rPr>
                          <a:rPr lang="en-IN" sz="4400" dirty="0">
                            <a:solidFill>
                              <a:schemeClr val="tx1"/>
                            </a:solidFill>
                            <a:latin typeface="+mn-lt"/>
                          </a:rPr>
                          <m:t>–</m:t>
                        </m:r>
                        <m:r>
                          <m:rPr>
                            <m:nor/>
                          </m:rPr>
                          <a:rPr lang="en-IN" dirty="0">
                            <a:solidFill>
                              <a:schemeClr val="tx1"/>
                            </a:solidFill>
                            <a:latin typeface="+mn-lt"/>
                          </a:rPr>
                          <m:t>t</m:t>
                        </m:r>
                        <m:r>
                          <m:rPr>
                            <m:nor/>
                          </m:rPr>
                          <a:rPr lang="en-IN" baseline="-25000" dirty="0">
                            <a:solidFill>
                              <a:schemeClr val="tx1"/>
                            </a:solidFill>
                            <a:latin typeface="+mn-lt"/>
                          </a:rPr>
                          <m:t>1</m:t>
                        </m:r>
                        <m:r>
                          <m:rPr>
                            <m:nor/>
                          </m:rPr>
                          <a:rPr lang="en-IN" sz="4400" dirty="0">
                            <a:solidFill>
                              <a:schemeClr val="tx1"/>
                            </a:solidFill>
                            <a:latin typeface="+mn-lt"/>
                          </a:rPr>
                          <m:t>/</m:t>
                        </m:r>
                        <m:r>
                          <m:rPr>
                            <m:nor/>
                          </m:rPr>
                          <a:rPr lang="en-IN" sz="4400" dirty="0">
                            <a:solidFill>
                              <a:schemeClr val="tx1"/>
                            </a:solidFill>
                            <a:latin typeface="+mn-lt"/>
                          </a:rPr>
                          <m:t>RC</m:t>
                        </m:r>
                      </m:sup>
                    </m:sSup>
                  </m:oMath>
                </a14:m>
                <a:r>
                  <a:rPr lang="en-IN" sz="4400" dirty="0">
                    <a:solidFill>
                      <a:schemeClr val="tx1"/>
                    </a:solidFill>
                    <a:latin typeface="+mn-lt"/>
                  </a:rPr>
                  <a:t> </a:t>
                </a:r>
                <a:br>
                  <a:rPr lang="en-IN" sz="4400" dirty="0">
                    <a:solidFill>
                      <a:srgbClr val="FF0000"/>
                    </a:solidFill>
                  </a:rPr>
                </a:br>
                <a:endParaRPr lang="en-IN" dirty="0"/>
              </a:p>
            </p:txBody>
          </p:sp>
        </mc:Choice>
        <mc:Fallback xmlns="">
          <p:sp>
            <p:nvSpPr>
              <p:cNvPr id="2" name="Title 1">
                <a:extLst>
                  <a:ext uri="{FF2B5EF4-FFF2-40B4-BE49-F238E27FC236}">
                    <a16:creationId xmlns:a16="http://schemas.microsoft.com/office/drawing/2014/main" id="{9EA6201B-4FF0-9C33-6736-95B46D242261}"/>
                  </a:ext>
                </a:extLst>
              </p:cNvPr>
              <p:cNvSpPr>
                <a:spLocks noGrp="1" noRot="1" noChangeAspect="1" noMove="1" noResize="1" noEditPoints="1" noAdjustHandles="1" noChangeArrowheads="1" noChangeShapeType="1" noTextEdit="1"/>
              </p:cNvSpPr>
              <p:nvPr>
                <p:ph type="title"/>
              </p:nvPr>
            </p:nvSpPr>
            <p:spPr>
              <a:blipFill>
                <a:blip r:embed="rId2"/>
                <a:stretch>
                  <a:fillRect l="-2087" t="-27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95A45-FDA2-FBF9-D5EB-ACDD80E8C7CD}"/>
                  </a:ext>
                </a:extLst>
              </p:cNvPr>
              <p:cNvSpPr>
                <a:spLocks noGrp="1"/>
              </p:cNvSpPr>
              <p:nvPr>
                <p:ph idx="1"/>
              </p:nvPr>
            </p:nvSpPr>
            <p:spPr>
              <a:xfrm>
                <a:off x="838200" y="1461641"/>
                <a:ext cx="10515600" cy="5031234"/>
              </a:xfrm>
            </p:spPr>
            <p:txBody>
              <a:bodyPr>
                <a:normAutofit/>
              </a:bodyPr>
              <a:lstStyle/>
              <a:p>
                <a:pPr marL="0" indent="0">
                  <a:buNone/>
                </a:pPr>
                <a:r>
                  <a:rPr lang="el-GR" sz="3600" dirty="0">
                    <a:solidFill>
                      <a:schemeClr val="tx1"/>
                    </a:solidFill>
                  </a:rPr>
                  <a:t>β</a:t>
                </a:r>
                <a:r>
                  <a:rPr lang="en-US" sz="3600" dirty="0">
                    <a:solidFill>
                      <a:schemeClr val="tx1"/>
                    </a:solidFill>
                  </a:rPr>
                  <a:t> </a:t>
                </a:r>
                <a:r>
                  <a:rPr lang="en-US" sz="3600" dirty="0" err="1">
                    <a:solidFill>
                      <a:schemeClr val="tx1"/>
                    </a:solidFill>
                  </a:rPr>
                  <a:t>V</a:t>
                </a:r>
                <a:r>
                  <a:rPr lang="en-US" sz="3600" baseline="-25000" dirty="0" err="1">
                    <a:solidFill>
                      <a:schemeClr val="tx1"/>
                    </a:solidFill>
                  </a:rPr>
                  <a:t>sat</a:t>
                </a:r>
                <a:r>
                  <a:rPr lang="en-US" sz="3600" baseline="-25000" dirty="0">
                    <a:solidFill>
                      <a:schemeClr val="tx1"/>
                    </a:solidFill>
                  </a:rPr>
                  <a:t> </a:t>
                </a:r>
                <a:r>
                  <a:rPr lang="en-US" sz="3600" dirty="0">
                    <a:solidFill>
                      <a:schemeClr val="tx1"/>
                    </a:solidFill>
                  </a:rPr>
                  <a:t> = </a:t>
                </a:r>
                <a:r>
                  <a:rPr lang="en-IN" sz="3600" dirty="0">
                    <a:solidFill>
                      <a:schemeClr val="tx1"/>
                    </a:solidFill>
                  </a:rPr>
                  <a:t>V</a:t>
                </a:r>
                <a:r>
                  <a:rPr lang="en-IN" sz="3600" baseline="-25000" dirty="0" err="1">
                    <a:solidFill>
                      <a:schemeClr val="tx1"/>
                    </a:solidFill>
                  </a:rPr>
                  <a:t>sat</a:t>
                </a:r>
                <a:r>
                  <a:rPr lang="en-IN" sz="3600" baseline="-25000" dirty="0">
                    <a:solidFill>
                      <a:schemeClr val="tx1"/>
                    </a:solidFill>
                  </a:rPr>
                  <a:t> </a:t>
                </a:r>
                <a:r>
                  <a:rPr lang="en-IN" sz="3600" dirty="0">
                    <a:solidFill>
                      <a:schemeClr val="tx1"/>
                    </a:solidFill>
                  </a:rPr>
                  <a:t>+ [</a:t>
                </a:r>
                <a:r>
                  <a:rPr lang="en-US" sz="3600" dirty="0">
                    <a:solidFill>
                      <a:schemeClr val="tx1"/>
                    </a:solidFill>
                  </a:rPr>
                  <a:t>- </a:t>
                </a:r>
                <a:r>
                  <a:rPr lang="el-GR" sz="3600" dirty="0">
                    <a:solidFill>
                      <a:schemeClr val="tx1"/>
                    </a:solidFill>
                  </a:rPr>
                  <a:t>β</a:t>
                </a:r>
                <a:r>
                  <a:rPr lang="en-US" sz="3600" dirty="0">
                    <a:solidFill>
                      <a:schemeClr val="tx1"/>
                    </a:solidFill>
                  </a:rPr>
                  <a:t> </a:t>
                </a:r>
                <a:r>
                  <a:rPr lang="en-US" sz="3600" dirty="0" err="1">
                    <a:solidFill>
                      <a:schemeClr val="tx1"/>
                    </a:solidFill>
                  </a:rPr>
                  <a:t>V</a:t>
                </a:r>
                <a:r>
                  <a:rPr lang="en-US" sz="3600" baseline="-25000" dirty="0" err="1">
                    <a:solidFill>
                      <a:schemeClr val="tx1"/>
                    </a:solidFill>
                  </a:rPr>
                  <a:t>sat</a:t>
                </a:r>
                <a:r>
                  <a:rPr lang="en-IN" sz="3600" dirty="0">
                    <a:solidFill>
                      <a:schemeClr val="tx1"/>
                    </a:solidFill>
                  </a:rPr>
                  <a:t> – </a:t>
                </a:r>
                <a:r>
                  <a:rPr lang="en-IN" sz="3600" dirty="0" err="1">
                    <a:solidFill>
                      <a:schemeClr val="tx1"/>
                    </a:solidFill>
                  </a:rPr>
                  <a:t>V</a:t>
                </a:r>
                <a:r>
                  <a:rPr lang="en-IN" sz="3600" baseline="-25000" dirty="0" err="1">
                    <a:solidFill>
                      <a:schemeClr val="tx1"/>
                    </a:solidFill>
                  </a:rPr>
                  <a:t>sat</a:t>
                </a:r>
                <a:r>
                  <a:rPr lang="en-IN" sz="3600" dirty="0">
                    <a:solidFill>
                      <a:schemeClr val="tx1"/>
                    </a:solidFill>
                  </a:rPr>
                  <a:t> ] </a:t>
                </a:r>
                <a14:m>
                  <m:oMath xmlns:m="http://schemas.openxmlformats.org/officeDocument/2006/math">
                    <m:sSup>
                      <m:sSupPr>
                        <m:ctrlPr>
                          <a:rPr lang="en-IN" sz="360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𝑒</m:t>
                        </m:r>
                      </m:e>
                      <m:sup>
                        <m:r>
                          <m:rPr>
                            <m:nor/>
                          </m:rPr>
                          <a:rPr lang="en-IN" sz="3600" dirty="0">
                            <a:solidFill>
                              <a:schemeClr val="tx1"/>
                            </a:solidFill>
                          </a:rPr>
                          <m:t>–</m:t>
                        </m:r>
                        <m:r>
                          <m:rPr>
                            <m:nor/>
                          </m:rPr>
                          <a:rPr lang="en-IN" sz="3600" dirty="0">
                            <a:solidFill>
                              <a:schemeClr val="tx1"/>
                            </a:solidFill>
                          </a:rPr>
                          <m:t>t</m:t>
                        </m:r>
                        <m:r>
                          <m:rPr>
                            <m:nor/>
                          </m:rPr>
                          <a:rPr lang="en-IN" sz="3600" baseline="-25000" dirty="0">
                            <a:solidFill>
                              <a:schemeClr val="tx1"/>
                            </a:solidFill>
                          </a:rPr>
                          <m:t>1</m:t>
                        </m:r>
                        <m:r>
                          <m:rPr>
                            <m:nor/>
                          </m:rPr>
                          <a:rPr lang="en-IN" sz="3600" dirty="0">
                            <a:solidFill>
                              <a:schemeClr val="tx1"/>
                            </a:solidFill>
                          </a:rPr>
                          <m:t>/</m:t>
                        </m:r>
                        <m:r>
                          <m:rPr>
                            <m:nor/>
                          </m:rPr>
                          <a:rPr lang="en-IN" sz="3600" dirty="0">
                            <a:solidFill>
                              <a:schemeClr val="tx1"/>
                            </a:solidFill>
                          </a:rPr>
                          <m:t>RC</m:t>
                        </m:r>
                      </m:sup>
                    </m:sSup>
                  </m:oMath>
                </a14:m>
                <a:r>
                  <a:rPr lang="en-IN" sz="3600" dirty="0">
                    <a:solidFill>
                      <a:schemeClr val="tx1"/>
                    </a:solidFill>
                  </a:rPr>
                  <a:t> </a:t>
                </a:r>
              </a:p>
              <a:p>
                <a:endParaRPr lang="en-US" sz="3600" dirty="0">
                  <a:solidFill>
                    <a:schemeClr val="tx1"/>
                  </a:solidFill>
                </a:endParaRPr>
              </a:p>
              <a:p>
                <a:pPr marL="0" indent="0">
                  <a:buNone/>
                </a:pPr>
                <a:r>
                  <a:rPr lang="el-GR" sz="3600" dirty="0">
                    <a:solidFill>
                      <a:schemeClr val="tx1"/>
                    </a:solidFill>
                  </a:rPr>
                  <a:t>β </a:t>
                </a:r>
                <a:r>
                  <a:rPr lang="en-US" sz="3600" dirty="0">
                    <a:solidFill>
                      <a:schemeClr val="tx1"/>
                    </a:solidFill>
                  </a:rPr>
                  <a:t>-1 =- [1+</a:t>
                </a:r>
                <a:r>
                  <a:rPr lang="el-GR" sz="3600" dirty="0">
                    <a:solidFill>
                      <a:schemeClr val="tx1"/>
                    </a:solidFill>
                  </a:rPr>
                  <a:t>β</a:t>
                </a:r>
                <a:r>
                  <a:rPr lang="en-IN" sz="3600" dirty="0">
                    <a:solidFill>
                      <a:schemeClr val="tx1"/>
                    </a:solidFill>
                  </a:rPr>
                  <a:t> ] </a:t>
                </a:r>
                <a14:m>
                  <m:oMath xmlns:m="http://schemas.openxmlformats.org/officeDocument/2006/math">
                    <m:sSup>
                      <m:sSupPr>
                        <m:ctrlPr>
                          <a:rPr lang="en-IN" sz="360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𝑒</m:t>
                        </m:r>
                      </m:e>
                      <m:sup>
                        <m:r>
                          <m:rPr>
                            <m:nor/>
                          </m:rPr>
                          <a:rPr lang="en-IN" sz="3600" dirty="0">
                            <a:solidFill>
                              <a:schemeClr val="tx1"/>
                            </a:solidFill>
                          </a:rPr>
                          <m:t>–</m:t>
                        </m:r>
                        <m:r>
                          <m:rPr>
                            <m:nor/>
                          </m:rPr>
                          <a:rPr lang="en-IN" sz="3600" dirty="0">
                            <a:solidFill>
                              <a:schemeClr val="tx1"/>
                            </a:solidFill>
                          </a:rPr>
                          <m:t>t</m:t>
                        </m:r>
                        <m:r>
                          <m:rPr>
                            <m:nor/>
                          </m:rPr>
                          <a:rPr lang="en-IN" sz="3600" baseline="-25000" dirty="0">
                            <a:solidFill>
                              <a:schemeClr val="tx1"/>
                            </a:solidFill>
                          </a:rPr>
                          <m:t>1</m:t>
                        </m:r>
                        <m:r>
                          <m:rPr>
                            <m:nor/>
                          </m:rPr>
                          <a:rPr lang="en-IN" sz="3600" dirty="0">
                            <a:solidFill>
                              <a:schemeClr val="tx1"/>
                            </a:solidFill>
                          </a:rPr>
                          <m:t>/</m:t>
                        </m:r>
                        <m:r>
                          <m:rPr>
                            <m:nor/>
                          </m:rPr>
                          <a:rPr lang="en-IN" sz="3600" dirty="0">
                            <a:solidFill>
                              <a:schemeClr val="tx1"/>
                            </a:solidFill>
                          </a:rPr>
                          <m:t>RC</m:t>
                        </m:r>
                      </m:sup>
                    </m:sSup>
                  </m:oMath>
                </a14:m>
                <a:r>
                  <a:rPr lang="en-IN" sz="3600" dirty="0">
                    <a:solidFill>
                      <a:schemeClr val="tx1"/>
                    </a:solidFill>
                  </a:rPr>
                  <a:t> </a:t>
                </a:r>
              </a:p>
              <a:p>
                <a:endParaRPr lang="en-US" sz="3600" i="1" dirty="0"/>
              </a:p>
              <a:p>
                <a:pPr marL="0" indent="0">
                  <a:buNone/>
                </a:pPr>
                <a14:m>
                  <m:oMath xmlns:m="http://schemas.openxmlformats.org/officeDocument/2006/math">
                    <m:d>
                      <m:dPr>
                        <m:ctrlPr>
                          <a:rPr lang="en-US" sz="3600" i="1" smtClean="0">
                            <a:latin typeface="Cambria Math" panose="02040503050406030204" pitchFamily="18" charset="0"/>
                          </a:rPr>
                        </m:ctrlPr>
                      </m:dPr>
                      <m:e>
                        <m:f>
                          <m:fPr>
                            <m:ctrlPr>
                              <a:rPr lang="en-US" sz="3600" i="1" smtClean="0">
                                <a:latin typeface="Cambria Math" panose="02040503050406030204" pitchFamily="18" charset="0"/>
                              </a:rPr>
                            </m:ctrlPr>
                          </m:fPr>
                          <m:num>
                            <m:r>
                              <a:rPr lang="en-US" sz="3600" b="0" i="1" smtClean="0">
                                <a:latin typeface="Cambria Math" panose="02040503050406030204" pitchFamily="18" charset="0"/>
                              </a:rPr>
                              <m:t>1+</m:t>
                            </m:r>
                            <m:r>
                              <m:rPr>
                                <m:sty m:val="p"/>
                              </m:rPr>
                              <a:rPr lang="el-GR" sz="3600" b="0" i="1" smtClean="0">
                                <a:latin typeface="Cambria Math" panose="02040503050406030204" pitchFamily="18" charset="0"/>
                              </a:rPr>
                              <m:t>β</m:t>
                            </m:r>
                          </m:num>
                          <m:den>
                            <m:r>
                              <a:rPr lang="en-US" sz="3600" b="0" i="1" smtClean="0">
                                <a:latin typeface="Cambria Math" panose="02040503050406030204" pitchFamily="18" charset="0"/>
                              </a:rPr>
                              <m:t>1−</m:t>
                            </m:r>
                            <m:r>
                              <m:rPr>
                                <m:sty m:val="p"/>
                              </m:rPr>
                              <a:rPr lang="el-GR" sz="3600" b="0" i="1" smtClean="0">
                                <a:latin typeface="Cambria Math" panose="02040503050406030204" pitchFamily="18" charset="0"/>
                              </a:rPr>
                              <m:t>β</m:t>
                            </m:r>
                          </m:den>
                        </m:f>
                      </m:e>
                    </m:d>
                  </m:oMath>
                </a14:m>
                <a:r>
                  <a:rPr lang="en-IN" sz="3600" dirty="0">
                    <a:solidFill>
                      <a:schemeClr val="tx1"/>
                    </a:solidFill>
                  </a:rPr>
                  <a:t> = </a:t>
                </a:r>
                <a14:m>
                  <m:oMath xmlns:m="http://schemas.openxmlformats.org/officeDocument/2006/math">
                    <m:sSup>
                      <m:sSupPr>
                        <m:ctrlPr>
                          <a:rPr lang="en-IN" sz="3600" i="1">
                            <a:latin typeface="Cambria Math" panose="02040503050406030204" pitchFamily="18" charset="0"/>
                          </a:rPr>
                        </m:ctrlPr>
                      </m:sSupPr>
                      <m:e>
                        <m:r>
                          <a:rPr lang="en-US" sz="3600" i="1">
                            <a:latin typeface="Cambria Math" panose="02040503050406030204" pitchFamily="18" charset="0"/>
                          </a:rPr>
                          <m:t>𝑒</m:t>
                        </m:r>
                      </m:e>
                      <m:sup>
                        <m:r>
                          <m:rPr>
                            <m:nor/>
                          </m:rPr>
                          <a:rPr lang="en-IN" sz="3600" dirty="0"/>
                          <m:t>t</m:t>
                        </m:r>
                        <m:r>
                          <m:rPr>
                            <m:nor/>
                          </m:rPr>
                          <a:rPr lang="en-IN" sz="3600" baseline="-25000" dirty="0"/>
                          <m:t>1</m:t>
                        </m:r>
                        <m:r>
                          <m:rPr>
                            <m:nor/>
                          </m:rPr>
                          <a:rPr lang="en-IN" sz="3600" dirty="0"/>
                          <m:t>/</m:t>
                        </m:r>
                        <m:r>
                          <m:rPr>
                            <m:nor/>
                          </m:rPr>
                          <a:rPr lang="en-IN" sz="3600" dirty="0"/>
                          <m:t>RC</m:t>
                        </m:r>
                      </m:sup>
                    </m:sSup>
                  </m:oMath>
                </a14:m>
                <a:r>
                  <a:rPr lang="en-IN" sz="3600" dirty="0"/>
                  <a:t> </a:t>
                </a:r>
              </a:p>
              <a:p>
                <a:pPr marL="0" indent="0" algn="ctr">
                  <a:buNone/>
                </a:pPr>
                <a:r>
                  <a:rPr lang="en-IN" sz="3600" b="1" dirty="0">
                    <a:solidFill>
                      <a:srgbClr val="FF0000"/>
                    </a:solidFill>
                  </a:rPr>
                  <a:t>t</a:t>
                </a:r>
                <a:r>
                  <a:rPr lang="en-IN" sz="3600" b="1" baseline="-25000" dirty="0">
                    <a:solidFill>
                      <a:srgbClr val="FF0000"/>
                    </a:solidFill>
                  </a:rPr>
                  <a:t>1</a:t>
                </a:r>
                <a:r>
                  <a:rPr lang="en-IN" sz="3600" b="1" dirty="0">
                    <a:solidFill>
                      <a:srgbClr val="FF0000"/>
                    </a:solidFill>
                  </a:rPr>
                  <a:t> = RC </a:t>
                </a:r>
                <a:r>
                  <a:rPr lang="en-US" sz="3600" b="1" dirty="0">
                    <a:solidFill>
                      <a:srgbClr val="FF0000"/>
                    </a:solidFill>
                  </a:rPr>
                  <a:t>ln </a:t>
                </a:r>
                <a14:m>
                  <m:oMath xmlns:m="http://schemas.openxmlformats.org/officeDocument/2006/math">
                    <m:d>
                      <m:dPr>
                        <m:ctrlPr>
                          <a:rPr lang="en-US" sz="3600" b="1" i="1" smtClean="0">
                            <a:solidFill>
                              <a:srgbClr val="FF0000"/>
                            </a:solidFill>
                            <a:latin typeface="Cambria Math" panose="02040503050406030204" pitchFamily="18" charset="0"/>
                          </a:rPr>
                        </m:ctrlPr>
                      </m:dPr>
                      <m:e>
                        <m:f>
                          <m:fPr>
                            <m:ctrlPr>
                              <a:rPr lang="en-US" sz="3600" b="1" i="1" smtClean="0">
                                <a:solidFill>
                                  <a:srgbClr val="FF0000"/>
                                </a:solidFill>
                                <a:latin typeface="Cambria Math" panose="02040503050406030204" pitchFamily="18" charset="0"/>
                              </a:rPr>
                            </m:ctrlPr>
                          </m:fPr>
                          <m:num>
                            <m:r>
                              <a:rPr lang="en-US" sz="3600" b="1" i="1" smtClean="0">
                                <a:solidFill>
                                  <a:srgbClr val="FF0000"/>
                                </a:solidFill>
                                <a:latin typeface="Cambria Math" panose="02040503050406030204" pitchFamily="18" charset="0"/>
                              </a:rPr>
                              <m:t>𝟏</m:t>
                            </m:r>
                            <m:r>
                              <a:rPr lang="en-US" sz="3600" b="1" i="1" smtClean="0">
                                <a:solidFill>
                                  <a:srgbClr val="FF0000"/>
                                </a:solidFill>
                                <a:latin typeface="Cambria Math" panose="02040503050406030204" pitchFamily="18" charset="0"/>
                              </a:rPr>
                              <m:t>+</m:t>
                            </m:r>
                            <m:r>
                              <a:rPr lang="el-GR" sz="3600" b="1" i="1" smtClean="0">
                                <a:solidFill>
                                  <a:srgbClr val="FF0000"/>
                                </a:solidFill>
                                <a:latin typeface="Cambria Math" panose="02040503050406030204" pitchFamily="18" charset="0"/>
                              </a:rPr>
                              <m:t>𝜷</m:t>
                            </m:r>
                          </m:num>
                          <m:den>
                            <m:r>
                              <a:rPr lang="en-US" sz="3600" b="1" i="1" smtClean="0">
                                <a:solidFill>
                                  <a:srgbClr val="FF0000"/>
                                </a:solidFill>
                                <a:latin typeface="Cambria Math" panose="02040503050406030204" pitchFamily="18" charset="0"/>
                              </a:rPr>
                              <m:t>𝟏</m:t>
                            </m:r>
                            <m:r>
                              <a:rPr lang="en-US" sz="3600" b="1" i="1" smtClean="0">
                                <a:solidFill>
                                  <a:srgbClr val="FF0000"/>
                                </a:solidFill>
                                <a:latin typeface="Cambria Math" panose="02040503050406030204" pitchFamily="18" charset="0"/>
                              </a:rPr>
                              <m:t>−</m:t>
                            </m:r>
                            <m:r>
                              <a:rPr lang="el-GR" sz="3600" b="1" i="1" smtClean="0">
                                <a:solidFill>
                                  <a:srgbClr val="FF0000"/>
                                </a:solidFill>
                                <a:latin typeface="Cambria Math" panose="02040503050406030204" pitchFamily="18" charset="0"/>
                              </a:rPr>
                              <m:t>𝜷</m:t>
                            </m:r>
                          </m:den>
                        </m:f>
                      </m:e>
                    </m:d>
                  </m:oMath>
                </a14:m>
                <a:endParaRPr lang="en-IN" sz="3600" b="1" dirty="0"/>
              </a:p>
              <a:p>
                <a:pPr marL="0" indent="0">
                  <a:buNone/>
                </a:pPr>
                <a:endParaRPr lang="en-IN" sz="3600"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93395A45-FDA2-FBF9-D5EB-ACDD80E8C7CD}"/>
                  </a:ext>
                </a:extLst>
              </p:cNvPr>
              <p:cNvSpPr>
                <a:spLocks noGrp="1" noRot="1" noChangeAspect="1" noMove="1" noResize="1" noEditPoints="1" noAdjustHandles="1" noChangeArrowheads="1" noChangeShapeType="1" noTextEdit="1"/>
              </p:cNvSpPr>
              <p:nvPr>
                <p:ph idx="1"/>
              </p:nvPr>
            </p:nvSpPr>
            <p:spPr>
              <a:xfrm>
                <a:off x="838200" y="1461641"/>
                <a:ext cx="10515600" cy="5031234"/>
              </a:xfrm>
              <a:blipFill>
                <a:blip r:embed="rId3"/>
                <a:stretch>
                  <a:fillRect l="-1797" t="-848"/>
                </a:stretch>
              </a:blipFill>
            </p:spPr>
            <p:txBody>
              <a:bodyPr/>
              <a:lstStyle/>
              <a:p>
                <a:r>
                  <a:rPr lang="en-IN">
                    <a:noFill/>
                  </a:rPr>
                  <a:t> </a:t>
                </a:r>
              </a:p>
            </p:txBody>
          </p:sp>
        </mc:Fallback>
      </mc:AlternateContent>
    </p:spTree>
    <p:extLst>
      <p:ext uri="{BB962C8B-B14F-4D97-AF65-F5344CB8AC3E}">
        <p14:creationId xmlns:p14="http://schemas.microsoft.com/office/powerpoint/2010/main" val="622418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64AD6-6D8A-5FC8-0C75-B82EFA54EF0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96DCFB9-A2D9-120A-8A00-97EEE2EAFCDA}"/>
              </a:ext>
            </a:extLst>
          </p:cNvPr>
          <p:cNvPicPr>
            <a:picLocks noGrp="1" noChangeAspect="1"/>
          </p:cNvPicPr>
          <p:nvPr>
            <p:ph idx="1"/>
          </p:nvPr>
        </p:nvPicPr>
        <p:blipFill>
          <a:blip r:embed="rId2"/>
          <a:stretch>
            <a:fillRect/>
          </a:stretch>
        </p:blipFill>
        <p:spPr>
          <a:xfrm>
            <a:off x="1391661" y="754602"/>
            <a:ext cx="9408678" cy="5599914"/>
          </a:xfrm>
        </p:spPr>
      </p:pic>
    </p:spTree>
    <p:extLst>
      <p:ext uri="{BB962C8B-B14F-4D97-AF65-F5344CB8AC3E}">
        <p14:creationId xmlns:p14="http://schemas.microsoft.com/office/powerpoint/2010/main" val="3855179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6ACEC4-EB93-3F02-61E8-0CCEBDEA351A}"/>
              </a:ext>
            </a:extLst>
          </p:cNvPr>
          <p:cNvSpPr>
            <a:spLocks noGrp="1"/>
          </p:cNvSpPr>
          <p:nvPr>
            <p:ph idx="1"/>
          </p:nvPr>
        </p:nvSpPr>
        <p:spPr>
          <a:xfrm>
            <a:off x="838200" y="644894"/>
            <a:ext cx="10515600" cy="5818049"/>
          </a:xfrm>
        </p:spPr>
        <p:txBody>
          <a:bodyPr>
            <a:normAutofit/>
          </a:bodyPr>
          <a:lstStyle/>
          <a:p>
            <a:pPr algn="just"/>
            <a:r>
              <a:rPr lang="en-IN" sz="3600" dirty="0"/>
              <a:t>Here as the +</a:t>
            </a:r>
            <a:r>
              <a:rPr lang="en-IN" sz="3600" dirty="0" err="1"/>
              <a:t>ve</a:t>
            </a:r>
            <a:r>
              <a:rPr lang="en-IN" sz="3600" dirty="0"/>
              <a:t> and –</a:t>
            </a:r>
            <a:r>
              <a:rPr lang="en-IN" sz="3600" dirty="0" err="1"/>
              <a:t>ve</a:t>
            </a:r>
            <a:r>
              <a:rPr lang="en-IN" sz="3600" dirty="0"/>
              <a:t> saturation voltages are equal, duty cycle of square wave will be 50%. </a:t>
            </a:r>
          </a:p>
          <a:p>
            <a:pPr algn="just"/>
            <a:r>
              <a:rPr lang="en-IN" sz="3600" dirty="0"/>
              <a:t>If upper and lower threshold V are different, then duty cycle will be &gt; or &lt; 50%.</a:t>
            </a:r>
          </a:p>
          <a:p>
            <a:r>
              <a:rPr lang="en-IN" sz="3600" dirty="0"/>
              <a:t>Here as duty cycle is 50% , we can say that t</a:t>
            </a:r>
            <a:r>
              <a:rPr lang="en-IN" sz="3600" baseline="-25000" dirty="0"/>
              <a:t>1</a:t>
            </a:r>
            <a:r>
              <a:rPr lang="en-IN" sz="3600" dirty="0"/>
              <a:t> = t</a:t>
            </a:r>
            <a:r>
              <a:rPr lang="en-IN" sz="3600" baseline="-25000" dirty="0"/>
              <a:t>2</a:t>
            </a:r>
            <a:r>
              <a:rPr lang="en-IN" sz="3600" dirty="0"/>
              <a:t>.</a:t>
            </a:r>
          </a:p>
          <a:p>
            <a:pPr marL="0" indent="0" algn="ctr">
              <a:buNone/>
            </a:pPr>
            <a:endParaRPr lang="en-IN" sz="3600" dirty="0"/>
          </a:p>
          <a:p>
            <a:pPr marL="0" indent="0">
              <a:buNone/>
            </a:pPr>
            <a:r>
              <a:rPr lang="en-IN" sz="3600" dirty="0" err="1"/>
              <a:t>V</a:t>
            </a:r>
            <a:r>
              <a:rPr lang="en-IN" sz="3600" baseline="-25000" dirty="0" err="1"/>
              <a:t>initial</a:t>
            </a:r>
            <a:r>
              <a:rPr lang="en-IN" sz="3600" baseline="-25000" dirty="0"/>
              <a:t> </a:t>
            </a:r>
            <a:r>
              <a:rPr lang="en-IN" sz="3600" dirty="0"/>
              <a:t>= </a:t>
            </a:r>
            <a:r>
              <a:rPr lang="el-GR" sz="3600" dirty="0"/>
              <a:t>β</a:t>
            </a:r>
            <a:r>
              <a:rPr lang="en-US" sz="3600" dirty="0"/>
              <a:t> </a:t>
            </a:r>
            <a:r>
              <a:rPr lang="en-US" sz="3600" dirty="0" err="1"/>
              <a:t>V</a:t>
            </a:r>
            <a:r>
              <a:rPr lang="en-US" sz="3600" baseline="-25000" dirty="0" err="1"/>
              <a:t>sat</a:t>
            </a:r>
            <a:r>
              <a:rPr lang="en-US" sz="3600" baseline="-25000" dirty="0"/>
              <a:t> </a:t>
            </a:r>
          </a:p>
          <a:p>
            <a:pPr marL="0" indent="0">
              <a:buNone/>
            </a:pPr>
            <a:r>
              <a:rPr lang="en-IN" sz="3600" dirty="0" err="1"/>
              <a:t>V</a:t>
            </a:r>
            <a:r>
              <a:rPr lang="en-IN" sz="3600" baseline="-25000" dirty="0" err="1"/>
              <a:t>final</a:t>
            </a:r>
            <a:r>
              <a:rPr lang="en-IN" sz="3600" dirty="0"/>
              <a:t> = -</a:t>
            </a:r>
            <a:r>
              <a:rPr lang="en-IN" sz="3600" dirty="0" err="1"/>
              <a:t>V</a:t>
            </a:r>
            <a:r>
              <a:rPr lang="en-IN" sz="3600" baseline="-25000" dirty="0" err="1"/>
              <a:t>sat</a:t>
            </a:r>
            <a:r>
              <a:rPr lang="en-IN" sz="3600" dirty="0"/>
              <a:t> </a:t>
            </a:r>
          </a:p>
          <a:p>
            <a:pPr marL="0" indent="0">
              <a:buNone/>
            </a:pPr>
            <a:endParaRPr lang="en-IN" sz="3600" dirty="0"/>
          </a:p>
        </p:txBody>
      </p:sp>
    </p:spTree>
    <p:extLst>
      <p:ext uri="{BB962C8B-B14F-4D97-AF65-F5344CB8AC3E}">
        <p14:creationId xmlns:p14="http://schemas.microsoft.com/office/powerpoint/2010/main" val="3770412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7320E5D-6E59-3CFF-A573-EF8CB4617186}"/>
                  </a:ext>
                </a:extLst>
              </p:cNvPr>
              <p:cNvSpPr>
                <a:spLocks noGrp="1"/>
              </p:cNvSpPr>
              <p:nvPr>
                <p:ph type="title"/>
              </p:nvPr>
            </p:nvSpPr>
            <p:spPr/>
            <p:txBody>
              <a:bodyPr>
                <a:normAutofit fontScale="90000"/>
              </a:bodyPr>
              <a:lstStyle/>
              <a:p>
                <a:r>
                  <a:rPr lang="en-IN" sz="4400" dirty="0" err="1">
                    <a:solidFill>
                      <a:schemeClr val="tx1"/>
                    </a:solidFill>
                    <a:latin typeface="+mn-lt"/>
                  </a:rPr>
                  <a:t>V</a:t>
                </a:r>
                <a:r>
                  <a:rPr lang="en-IN" sz="4400" baseline="-25000" dirty="0" err="1">
                    <a:solidFill>
                      <a:schemeClr val="tx1"/>
                    </a:solidFill>
                    <a:latin typeface="+mn-lt"/>
                  </a:rPr>
                  <a:t>c</a:t>
                </a:r>
                <a:r>
                  <a:rPr lang="en-IN" sz="4400" dirty="0">
                    <a:solidFill>
                      <a:schemeClr val="tx1"/>
                    </a:solidFill>
                    <a:latin typeface="+mn-lt"/>
                  </a:rPr>
                  <a:t>(t</a:t>
                </a:r>
                <a:r>
                  <a:rPr lang="en-IN" sz="4400" baseline="-25000" dirty="0">
                    <a:solidFill>
                      <a:schemeClr val="tx1"/>
                    </a:solidFill>
                    <a:latin typeface="+mn-lt"/>
                  </a:rPr>
                  <a:t>2</a:t>
                </a:r>
                <a:r>
                  <a:rPr lang="en-IN" sz="4400" dirty="0">
                    <a:solidFill>
                      <a:schemeClr val="tx1"/>
                    </a:solidFill>
                    <a:latin typeface="+mn-lt"/>
                  </a:rPr>
                  <a:t>) = -</a:t>
                </a:r>
                <a:r>
                  <a:rPr lang="en-IN" sz="4400" dirty="0" err="1">
                    <a:solidFill>
                      <a:schemeClr val="tx1"/>
                    </a:solidFill>
                    <a:latin typeface="+mn-lt"/>
                  </a:rPr>
                  <a:t>V</a:t>
                </a:r>
                <a:r>
                  <a:rPr lang="en-IN" sz="4400" baseline="-25000" dirty="0" err="1">
                    <a:solidFill>
                      <a:schemeClr val="tx1"/>
                    </a:solidFill>
                    <a:latin typeface="+mn-lt"/>
                  </a:rPr>
                  <a:t>sat</a:t>
                </a:r>
                <a:r>
                  <a:rPr lang="en-IN" sz="4400" baseline="-25000" dirty="0">
                    <a:solidFill>
                      <a:schemeClr val="tx1"/>
                    </a:solidFill>
                    <a:latin typeface="+mn-lt"/>
                  </a:rPr>
                  <a:t> </a:t>
                </a:r>
                <a:r>
                  <a:rPr lang="en-IN" sz="4400" dirty="0">
                    <a:solidFill>
                      <a:schemeClr val="tx1"/>
                    </a:solidFill>
                    <a:latin typeface="+mn-lt"/>
                  </a:rPr>
                  <a:t>+ [</a:t>
                </a:r>
                <a:r>
                  <a:rPr lang="el-GR" dirty="0">
                    <a:solidFill>
                      <a:schemeClr val="tx1"/>
                    </a:solidFill>
                    <a:latin typeface="+mn-lt"/>
                  </a:rPr>
                  <a:t>β</a:t>
                </a:r>
                <a:r>
                  <a:rPr lang="en-US" dirty="0">
                    <a:solidFill>
                      <a:schemeClr val="tx1"/>
                    </a:solidFill>
                    <a:latin typeface="+mn-lt"/>
                  </a:rPr>
                  <a:t> </a:t>
                </a:r>
                <a:r>
                  <a:rPr lang="en-US" dirty="0" err="1">
                    <a:solidFill>
                      <a:schemeClr val="tx1"/>
                    </a:solidFill>
                    <a:latin typeface="+mn-lt"/>
                  </a:rPr>
                  <a:t>V</a:t>
                </a:r>
                <a:r>
                  <a:rPr lang="en-US" baseline="-25000" dirty="0" err="1">
                    <a:solidFill>
                      <a:schemeClr val="tx1"/>
                    </a:solidFill>
                    <a:latin typeface="+mn-lt"/>
                  </a:rPr>
                  <a:t>sat</a:t>
                </a:r>
                <a:r>
                  <a:rPr lang="en-IN" sz="4400" dirty="0">
                    <a:solidFill>
                      <a:schemeClr val="tx1"/>
                    </a:solidFill>
                    <a:latin typeface="+mn-lt"/>
                  </a:rPr>
                  <a:t> + </a:t>
                </a:r>
                <a:r>
                  <a:rPr lang="en-IN" sz="4400" dirty="0" err="1">
                    <a:solidFill>
                      <a:schemeClr val="tx1"/>
                    </a:solidFill>
                    <a:latin typeface="+mn-lt"/>
                  </a:rPr>
                  <a:t>V</a:t>
                </a:r>
                <a:r>
                  <a:rPr lang="en-IN" sz="4400" baseline="-25000" dirty="0" err="1">
                    <a:solidFill>
                      <a:schemeClr val="tx1"/>
                    </a:solidFill>
                    <a:latin typeface="+mn-lt"/>
                  </a:rPr>
                  <a:t>sat</a:t>
                </a:r>
                <a:r>
                  <a:rPr lang="en-IN" sz="4400" dirty="0">
                    <a:solidFill>
                      <a:schemeClr val="tx1"/>
                    </a:solidFill>
                    <a:latin typeface="+mn-lt"/>
                  </a:rPr>
                  <a:t> ] </a:t>
                </a:r>
                <a14:m>
                  <m:oMath xmlns:m="http://schemas.openxmlformats.org/officeDocument/2006/math">
                    <m:sSup>
                      <m:sSupPr>
                        <m:ctrlPr>
                          <a:rPr lang="en-IN" sz="4400" i="1" smtClean="0">
                            <a:solidFill>
                              <a:schemeClr val="tx1"/>
                            </a:solidFill>
                            <a:latin typeface="Cambria Math" panose="02040503050406030204" pitchFamily="18" charset="0"/>
                          </a:rPr>
                        </m:ctrlPr>
                      </m:sSupPr>
                      <m:e>
                        <m:r>
                          <a:rPr lang="en-US" sz="4400" b="0" i="1" smtClean="0">
                            <a:solidFill>
                              <a:schemeClr val="tx1"/>
                            </a:solidFill>
                            <a:latin typeface="Cambria Math" panose="02040503050406030204" pitchFamily="18" charset="0"/>
                          </a:rPr>
                          <m:t>𝑒</m:t>
                        </m:r>
                      </m:e>
                      <m:sup>
                        <m:r>
                          <m:rPr>
                            <m:nor/>
                          </m:rPr>
                          <a:rPr lang="en-IN" sz="4400" dirty="0">
                            <a:solidFill>
                              <a:schemeClr val="tx1"/>
                            </a:solidFill>
                            <a:latin typeface="+mn-lt"/>
                          </a:rPr>
                          <m:t>–</m:t>
                        </m:r>
                        <m:r>
                          <m:rPr>
                            <m:nor/>
                          </m:rPr>
                          <a:rPr lang="en-IN" dirty="0">
                            <a:solidFill>
                              <a:schemeClr val="tx1"/>
                            </a:solidFill>
                            <a:latin typeface="+mn-lt"/>
                          </a:rPr>
                          <m:t>t</m:t>
                        </m:r>
                        <m:r>
                          <m:rPr>
                            <m:nor/>
                          </m:rPr>
                          <a:rPr lang="en-US" b="0" i="0" baseline="-25000" dirty="0" smtClean="0">
                            <a:solidFill>
                              <a:schemeClr val="tx1"/>
                            </a:solidFill>
                            <a:latin typeface="+mn-lt"/>
                          </a:rPr>
                          <m:t>2</m:t>
                        </m:r>
                        <m:r>
                          <m:rPr>
                            <m:nor/>
                          </m:rPr>
                          <a:rPr lang="en-IN" sz="4400" dirty="0">
                            <a:solidFill>
                              <a:schemeClr val="tx1"/>
                            </a:solidFill>
                            <a:latin typeface="+mn-lt"/>
                          </a:rPr>
                          <m:t>/</m:t>
                        </m:r>
                        <m:r>
                          <m:rPr>
                            <m:nor/>
                          </m:rPr>
                          <a:rPr lang="en-IN" sz="4400" dirty="0">
                            <a:solidFill>
                              <a:schemeClr val="tx1"/>
                            </a:solidFill>
                            <a:latin typeface="+mn-lt"/>
                          </a:rPr>
                          <m:t>RC</m:t>
                        </m:r>
                      </m:sup>
                    </m:sSup>
                  </m:oMath>
                </a14:m>
                <a:r>
                  <a:rPr lang="en-IN" sz="4400" dirty="0">
                    <a:solidFill>
                      <a:schemeClr val="tx1"/>
                    </a:solidFill>
                    <a:latin typeface="+mn-lt"/>
                  </a:rPr>
                  <a:t> </a:t>
                </a:r>
                <a:br>
                  <a:rPr lang="en-IN" sz="4400" dirty="0">
                    <a:solidFill>
                      <a:srgbClr val="FF0000"/>
                    </a:solidFill>
                  </a:rPr>
                </a:br>
                <a:endParaRPr lang="en-IN" dirty="0"/>
              </a:p>
            </p:txBody>
          </p:sp>
        </mc:Choice>
        <mc:Fallback xmlns="">
          <p:sp>
            <p:nvSpPr>
              <p:cNvPr id="2" name="Title 1">
                <a:extLst>
                  <a:ext uri="{FF2B5EF4-FFF2-40B4-BE49-F238E27FC236}">
                    <a16:creationId xmlns:a16="http://schemas.microsoft.com/office/drawing/2014/main" id="{97320E5D-6E59-3CFF-A573-EF8CB4617186}"/>
                  </a:ext>
                </a:extLst>
              </p:cNvPr>
              <p:cNvSpPr>
                <a:spLocks noGrp="1" noRot="1" noChangeAspect="1" noMove="1" noResize="1" noEditPoints="1" noAdjustHandles="1" noChangeArrowheads="1" noChangeShapeType="1" noTextEdit="1"/>
              </p:cNvSpPr>
              <p:nvPr>
                <p:ph type="title"/>
              </p:nvPr>
            </p:nvSpPr>
            <p:spPr>
              <a:blipFill>
                <a:blip r:embed="rId2"/>
                <a:stretch>
                  <a:fillRect l="-2087" t="-27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FECE4E-1FAF-54FE-F90B-94DACF95EEE9}"/>
                  </a:ext>
                </a:extLst>
              </p:cNvPr>
              <p:cNvSpPr>
                <a:spLocks noGrp="1"/>
              </p:cNvSpPr>
              <p:nvPr>
                <p:ph idx="1"/>
              </p:nvPr>
            </p:nvSpPr>
            <p:spPr>
              <a:xfrm>
                <a:off x="838200" y="1426130"/>
                <a:ext cx="10515600" cy="4965792"/>
              </a:xfrm>
            </p:spPr>
            <p:txBody>
              <a:bodyPr>
                <a:normAutofit/>
              </a:bodyPr>
              <a:lstStyle/>
              <a:p>
                <a:pPr marL="0" indent="0">
                  <a:buNone/>
                </a:pPr>
                <a:r>
                  <a:rPr lang="en-US" sz="3600" dirty="0">
                    <a:solidFill>
                      <a:schemeClr val="tx1"/>
                    </a:solidFill>
                  </a:rPr>
                  <a:t>-</a:t>
                </a:r>
                <a:r>
                  <a:rPr lang="el-GR" sz="3600" dirty="0">
                    <a:solidFill>
                      <a:schemeClr val="tx1"/>
                    </a:solidFill>
                  </a:rPr>
                  <a:t>β</a:t>
                </a:r>
                <a:r>
                  <a:rPr lang="en-US" sz="3600" dirty="0">
                    <a:solidFill>
                      <a:schemeClr val="tx1"/>
                    </a:solidFill>
                  </a:rPr>
                  <a:t> </a:t>
                </a:r>
                <a:r>
                  <a:rPr lang="en-US" sz="3600" dirty="0" err="1">
                    <a:solidFill>
                      <a:schemeClr val="tx1"/>
                    </a:solidFill>
                  </a:rPr>
                  <a:t>V</a:t>
                </a:r>
                <a:r>
                  <a:rPr lang="en-US" sz="3600" baseline="-25000" dirty="0" err="1">
                    <a:solidFill>
                      <a:schemeClr val="tx1"/>
                    </a:solidFill>
                  </a:rPr>
                  <a:t>sat</a:t>
                </a:r>
                <a:r>
                  <a:rPr lang="en-US" sz="3600" baseline="-25000" dirty="0">
                    <a:solidFill>
                      <a:schemeClr val="tx1"/>
                    </a:solidFill>
                  </a:rPr>
                  <a:t> </a:t>
                </a:r>
                <a:r>
                  <a:rPr lang="en-US" sz="3600" dirty="0">
                    <a:solidFill>
                      <a:schemeClr val="tx1"/>
                    </a:solidFill>
                  </a:rPr>
                  <a:t>= </a:t>
                </a:r>
                <a:r>
                  <a:rPr lang="en-IN" sz="3600" dirty="0">
                    <a:solidFill>
                      <a:schemeClr val="tx1"/>
                    </a:solidFill>
                  </a:rPr>
                  <a:t>-</a:t>
                </a:r>
                <a:r>
                  <a:rPr lang="en-IN" sz="3600" dirty="0" err="1">
                    <a:solidFill>
                      <a:schemeClr val="tx1"/>
                    </a:solidFill>
                  </a:rPr>
                  <a:t>V</a:t>
                </a:r>
                <a:r>
                  <a:rPr lang="en-IN" sz="3600" baseline="-25000" dirty="0" err="1">
                    <a:solidFill>
                      <a:schemeClr val="tx1"/>
                    </a:solidFill>
                  </a:rPr>
                  <a:t>sat</a:t>
                </a:r>
                <a:r>
                  <a:rPr lang="en-IN" sz="3600" baseline="-25000" dirty="0">
                    <a:solidFill>
                      <a:schemeClr val="tx1"/>
                    </a:solidFill>
                  </a:rPr>
                  <a:t> </a:t>
                </a:r>
                <a:r>
                  <a:rPr lang="en-IN" sz="3600" dirty="0">
                    <a:solidFill>
                      <a:schemeClr val="tx1"/>
                    </a:solidFill>
                  </a:rPr>
                  <a:t>+ [</a:t>
                </a:r>
                <a:r>
                  <a:rPr lang="el-GR" sz="3600" dirty="0">
                    <a:solidFill>
                      <a:schemeClr val="tx1"/>
                    </a:solidFill>
                  </a:rPr>
                  <a:t>β</a:t>
                </a:r>
                <a:r>
                  <a:rPr lang="en-US" sz="3600" dirty="0">
                    <a:solidFill>
                      <a:schemeClr val="tx1"/>
                    </a:solidFill>
                  </a:rPr>
                  <a:t> </a:t>
                </a:r>
                <a:r>
                  <a:rPr lang="en-US" sz="3600" dirty="0" err="1">
                    <a:solidFill>
                      <a:schemeClr val="tx1"/>
                    </a:solidFill>
                  </a:rPr>
                  <a:t>V</a:t>
                </a:r>
                <a:r>
                  <a:rPr lang="en-US" sz="3600" baseline="-25000" dirty="0" err="1">
                    <a:solidFill>
                      <a:schemeClr val="tx1"/>
                    </a:solidFill>
                  </a:rPr>
                  <a:t>sat</a:t>
                </a:r>
                <a:r>
                  <a:rPr lang="en-IN" sz="3600" dirty="0">
                    <a:solidFill>
                      <a:schemeClr val="tx1"/>
                    </a:solidFill>
                  </a:rPr>
                  <a:t> + </a:t>
                </a:r>
                <a:r>
                  <a:rPr lang="en-IN" sz="3600" dirty="0" err="1">
                    <a:solidFill>
                      <a:schemeClr val="tx1"/>
                    </a:solidFill>
                  </a:rPr>
                  <a:t>V</a:t>
                </a:r>
                <a:r>
                  <a:rPr lang="en-IN" sz="3600" baseline="-25000" dirty="0" err="1">
                    <a:solidFill>
                      <a:schemeClr val="tx1"/>
                    </a:solidFill>
                  </a:rPr>
                  <a:t>sat</a:t>
                </a:r>
                <a:r>
                  <a:rPr lang="en-IN" sz="3600" dirty="0">
                    <a:solidFill>
                      <a:schemeClr val="tx1"/>
                    </a:solidFill>
                  </a:rPr>
                  <a:t> ] </a:t>
                </a:r>
                <a14:m>
                  <m:oMath xmlns:m="http://schemas.openxmlformats.org/officeDocument/2006/math">
                    <m:sSup>
                      <m:sSupPr>
                        <m:ctrlPr>
                          <a:rPr lang="en-IN" sz="360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𝑒</m:t>
                        </m:r>
                      </m:e>
                      <m:sup>
                        <m:r>
                          <m:rPr>
                            <m:nor/>
                          </m:rPr>
                          <a:rPr lang="en-IN" sz="3600" dirty="0">
                            <a:solidFill>
                              <a:schemeClr val="tx1"/>
                            </a:solidFill>
                          </a:rPr>
                          <m:t>–</m:t>
                        </m:r>
                        <m:r>
                          <m:rPr>
                            <m:nor/>
                          </m:rPr>
                          <a:rPr lang="en-IN" sz="3600" dirty="0">
                            <a:solidFill>
                              <a:schemeClr val="tx1"/>
                            </a:solidFill>
                          </a:rPr>
                          <m:t>t</m:t>
                        </m:r>
                        <m:r>
                          <m:rPr>
                            <m:nor/>
                          </m:rPr>
                          <a:rPr lang="en-US" sz="3600" b="0" i="0" baseline="-25000" dirty="0" smtClean="0">
                            <a:solidFill>
                              <a:schemeClr val="tx1"/>
                            </a:solidFill>
                          </a:rPr>
                          <m:t>2</m:t>
                        </m:r>
                        <m:r>
                          <m:rPr>
                            <m:nor/>
                          </m:rPr>
                          <a:rPr lang="en-IN" sz="3600" dirty="0">
                            <a:solidFill>
                              <a:schemeClr val="tx1"/>
                            </a:solidFill>
                          </a:rPr>
                          <m:t>/</m:t>
                        </m:r>
                        <m:r>
                          <m:rPr>
                            <m:nor/>
                          </m:rPr>
                          <a:rPr lang="en-IN" sz="3600" dirty="0">
                            <a:solidFill>
                              <a:schemeClr val="tx1"/>
                            </a:solidFill>
                          </a:rPr>
                          <m:t>RC</m:t>
                        </m:r>
                      </m:sup>
                    </m:sSup>
                  </m:oMath>
                </a14:m>
                <a:r>
                  <a:rPr lang="en-IN" sz="3600" dirty="0">
                    <a:solidFill>
                      <a:schemeClr val="tx1"/>
                    </a:solidFill>
                  </a:rPr>
                  <a:t> </a:t>
                </a:r>
              </a:p>
              <a:p>
                <a:endParaRPr lang="en-US" sz="3600" dirty="0">
                  <a:solidFill>
                    <a:schemeClr val="tx1"/>
                  </a:solidFill>
                </a:endParaRPr>
              </a:p>
              <a:p>
                <a:pPr marL="0" indent="0">
                  <a:buNone/>
                </a:pPr>
                <a:r>
                  <a:rPr lang="en-US" sz="3600" dirty="0">
                    <a:solidFill>
                      <a:schemeClr val="tx1"/>
                    </a:solidFill>
                  </a:rPr>
                  <a:t>1- </a:t>
                </a:r>
                <a:r>
                  <a:rPr lang="el-GR" sz="3600" dirty="0">
                    <a:solidFill>
                      <a:schemeClr val="tx1"/>
                    </a:solidFill>
                  </a:rPr>
                  <a:t>β </a:t>
                </a:r>
                <a:r>
                  <a:rPr lang="en-US" sz="3600" dirty="0">
                    <a:solidFill>
                      <a:schemeClr val="tx1"/>
                    </a:solidFill>
                  </a:rPr>
                  <a:t> = [1+</a:t>
                </a:r>
                <a:r>
                  <a:rPr lang="el-GR" sz="3600" dirty="0">
                    <a:solidFill>
                      <a:schemeClr val="tx1"/>
                    </a:solidFill>
                  </a:rPr>
                  <a:t>β</a:t>
                </a:r>
                <a:r>
                  <a:rPr lang="en-IN" sz="3600" dirty="0">
                    <a:solidFill>
                      <a:schemeClr val="tx1"/>
                    </a:solidFill>
                  </a:rPr>
                  <a:t> ] </a:t>
                </a:r>
                <a14:m>
                  <m:oMath xmlns:m="http://schemas.openxmlformats.org/officeDocument/2006/math">
                    <m:sSup>
                      <m:sSupPr>
                        <m:ctrlPr>
                          <a:rPr lang="en-IN" sz="360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𝑒</m:t>
                        </m:r>
                      </m:e>
                      <m:sup>
                        <m:r>
                          <m:rPr>
                            <m:nor/>
                          </m:rPr>
                          <a:rPr lang="en-IN" sz="3600" dirty="0">
                            <a:solidFill>
                              <a:schemeClr val="tx1"/>
                            </a:solidFill>
                          </a:rPr>
                          <m:t>–</m:t>
                        </m:r>
                        <m:r>
                          <m:rPr>
                            <m:nor/>
                          </m:rPr>
                          <a:rPr lang="en-IN" sz="3600" dirty="0">
                            <a:solidFill>
                              <a:schemeClr val="tx1"/>
                            </a:solidFill>
                          </a:rPr>
                          <m:t>t</m:t>
                        </m:r>
                        <m:r>
                          <m:rPr>
                            <m:nor/>
                          </m:rPr>
                          <a:rPr lang="en-US" sz="3600" b="0" i="0" baseline="-25000" dirty="0" smtClean="0">
                            <a:solidFill>
                              <a:schemeClr val="tx1"/>
                            </a:solidFill>
                          </a:rPr>
                          <m:t>2</m:t>
                        </m:r>
                        <m:r>
                          <m:rPr>
                            <m:nor/>
                          </m:rPr>
                          <a:rPr lang="en-IN" sz="3600" dirty="0">
                            <a:solidFill>
                              <a:schemeClr val="tx1"/>
                            </a:solidFill>
                          </a:rPr>
                          <m:t>/</m:t>
                        </m:r>
                        <m:r>
                          <m:rPr>
                            <m:nor/>
                          </m:rPr>
                          <a:rPr lang="en-IN" sz="3600" dirty="0">
                            <a:solidFill>
                              <a:schemeClr val="tx1"/>
                            </a:solidFill>
                          </a:rPr>
                          <m:t>RC</m:t>
                        </m:r>
                      </m:sup>
                    </m:sSup>
                  </m:oMath>
                </a14:m>
                <a:r>
                  <a:rPr lang="en-IN" sz="3600" dirty="0">
                    <a:solidFill>
                      <a:schemeClr val="tx1"/>
                    </a:solidFill>
                  </a:rPr>
                  <a:t> </a:t>
                </a:r>
              </a:p>
              <a:p>
                <a:endParaRPr lang="en-IN" sz="3600" dirty="0">
                  <a:solidFill>
                    <a:schemeClr val="tx1"/>
                  </a:solidFill>
                </a:endParaRPr>
              </a:p>
              <a:p>
                <a:pPr marL="0" indent="0">
                  <a:buNone/>
                </a:pPr>
                <a:r>
                  <a:rPr lang="en-IN" sz="3600" dirty="0">
                    <a:solidFill>
                      <a:schemeClr val="tx1"/>
                    </a:solidFill>
                  </a:rPr>
                  <a:t> </a:t>
                </a:r>
                <a14:m>
                  <m:oMath xmlns:m="http://schemas.openxmlformats.org/officeDocument/2006/math">
                    <m:d>
                      <m:dPr>
                        <m:ctrlPr>
                          <a:rPr lang="en-US" sz="3600" i="1" smtClean="0">
                            <a:latin typeface="Cambria Math" panose="02040503050406030204" pitchFamily="18" charset="0"/>
                          </a:rPr>
                        </m:ctrlPr>
                      </m:dPr>
                      <m:e>
                        <m:f>
                          <m:fPr>
                            <m:ctrlPr>
                              <a:rPr lang="en-US" sz="3600" i="1" smtClean="0">
                                <a:latin typeface="Cambria Math" panose="02040503050406030204" pitchFamily="18" charset="0"/>
                              </a:rPr>
                            </m:ctrlPr>
                          </m:fPr>
                          <m:num>
                            <m:r>
                              <a:rPr lang="en-US" sz="3600" b="0" i="1" smtClean="0">
                                <a:latin typeface="Cambria Math" panose="02040503050406030204" pitchFamily="18" charset="0"/>
                              </a:rPr>
                              <m:t>1+</m:t>
                            </m:r>
                            <m:r>
                              <m:rPr>
                                <m:sty m:val="p"/>
                              </m:rPr>
                              <a:rPr lang="el-GR" sz="3600" b="0" i="1" smtClean="0">
                                <a:latin typeface="Cambria Math" panose="02040503050406030204" pitchFamily="18" charset="0"/>
                              </a:rPr>
                              <m:t>β</m:t>
                            </m:r>
                          </m:num>
                          <m:den>
                            <m:r>
                              <a:rPr lang="en-US" sz="3600" b="0" i="1" smtClean="0">
                                <a:latin typeface="Cambria Math" panose="02040503050406030204" pitchFamily="18" charset="0"/>
                              </a:rPr>
                              <m:t>1−</m:t>
                            </m:r>
                            <m:r>
                              <m:rPr>
                                <m:sty m:val="p"/>
                              </m:rPr>
                              <a:rPr lang="el-GR" sz="3600" b="0" i="1" smtClean="0">
                                <a:latin typeface="Cambria Math" panose="02040503050406030204" pitchFamily="18" charset="0"/>
                              </a:rPr>
                              <m:t>β</m:t>
                            </m:r>
                          </m:den>
                        </m:f>
                      </m:e>
                    </m:d>
                  </m:oMath>
                </a14:m>
                <a:r>
                  <a:rPr lang="en-IN" sz="3600" dirty="0">
                    <a:solidFill>
                      <a:schemeClr val="tx1"/>
                    </a:solidFill>
                  </a:rPr>
                  <a:t> = </a:t>
                </a:r>
                <a14:m>
                  <m:oMath xmlns:m="http://schemas.openxmlformats.org/officeDocument/2006/math">
                    <m:sSup>
                      <m:sSupPr>
                        <m:ctrlPr>
                          <a:rPr lang="en-IN" sz="3600" i="1">
                            <a:latin typeface="Cambria Math" panose="02040503050406030204" pitchFamily="18" charset="0"/>
                          </a:rPr>
                        </m:ctrlPr>
                      </m:sSupPr>
                      <m:e>
                        <m:r>
                          <a:rPr lang="en-US" sz="3600" i="1">
                            <a:latin typeface="Cambria Math" panose="02040503050406030204" pitchFamily="18" charset="0"/>
                          </a:rPr>
                          <m:t>𝑒</m:t>
                        </m:r>
                      </m:e>
                      <m:sup>
                        <m:r>
                          <m:rPr>
                            <m:nor/>
                          </m:rPr>
                          <a:rPr lang="en-IN" sz="3600" dirty="0"/>
                          <m:t>t</m:t>
                        </m:r>
                        <m:r>
                          <m:rPr>
                            <m:nor/>
                          </m:rPr>
                          <a:rPr lang="en-US" sz="3600" b="0" i="0" baseline="-25000" dirty="0" smtClean="0"/>
                          <m:t>2</m:t>
                        </m:r>
                        <m:r>
                          <m:rPr>
                            <m:nor/>
                          </m:rPr>
                          <a:rPr lang="en-IN" sz="3600" dirty="0"/>
                          <m:t>/</m:t>
                        </m:r>
                        <m:r>
                          <m:rPr>
                            <m:nor/>
                          </m:rPr>
                          <a:rPr lang="en-IN" sz="3600" dirty="0"/>
                          <m:t>RC</m:t>
                        </m:r>
                      </m:sup>
                    </m:sSup>
                  </m:oMath>
                </a14:m>
                <a:r>
                  <a:rPr lang="en-IN" sz="3600" dirty="0"/>
                  <a:t> </a:t>
                </a:r>
                <a:endParaRPr lang="en-IN" sz="3600" dirty="0">
                  <a:solidFill>
                    <a:schemeClr val="tx1"/>
                  </a:solidFill>
                </a:endParaRPr>
              </a:p>
              <a:p>
                <a:pPr marL="0" indent="0" algn="ctr">
                  <a:buNone/>
                </a:pPr>
                <a:r>
                  <a:rPr lang="en-IN" sz="5000" b="1" dirty="0">
                    <a:solidFill>
                      <a:srgbClr val="FF0000"/>
                    </a:solidFill>
                  </a:rPr>
                  <a:t>t</a:t>
                </a:r>
                <a:r>
                  <a:rPr lang="en-IN" sz="5000" b="1" baseline="-25000" dirty="0">
                    <a:solidFill>
                      <a:srgbClr val="FF0000"/>
                    </a:solidFill>
                  </a:rPr>
                  <a:t>2</a:t>
                </a:r>
                <a:r>
                  <a:rPr lang="en-IN" sz="5000" b="1" dirty="0">
                    <a:solidFill>
                      <a:srgbClr val="FF0000"/>
                    </a:solidFill>
                  </a:rPr>
                  <a:t> = RC </a:t>
                </a:r>
                <a:r>
                  <a:rPr lang="en-US" sz="5000" b="1" dirty="0">
                    <a:solidFill>
                      <a:srgbClr val="FF0000"/>
                    </a:solidFill>
                  </a:rPr>
                  <a:t>ln </a:t>
                </a:r>
                <a14:m>
                  <m:oMath xmlns:m="http://schemas.openxmlformats.org/officeDocument/2006/math">
                    <m:d>
                      <m:dPr>
                        <m:ctrlPr>
                          <a:rPr lang="en-US" sz="5000" b="1" i="1" smtClean="0">
                            <a:solidFill>
                              <a:srgbClr val="FF0000"/>
                            </a:solidFill>
                            <a:latin typeface="Cambria Math" panose="02040503050406030204" pitchFamily="18" charset="0"/>
                          </a:rPr>
                        </m:ctrlPr>
                      </m:dPr>
                      <m:e>
                        <m:f>
                          <m:fPr>
                            <m:ctrlPr>
                              <a:rPr lang="en-US" sz="5000" b="1" i="1" smtClean="0">
                                <a:solidFill>
                                  <a:srgbClr val="FF0000"/>
                                </a:solidFill>
                                <a:latin typeface="Cambria Math" panose="02040503050406030204" pitchFamily="18" charset="0"/>
                              </a:rPr>
                            </m:ctrlPr>
                          </m:fPr>
                          <m:num>
                            <m:r>
                              <a:rPr lang="en-US" sz="5000" b="1" i="1" smtClean="0">
                                <a:solidFill>
                                  <a:srgbClr val="FF0000"/>
                                </a:solidFill>
                                <a:latin typeface="Cambria Math" panose="02040503050406030204" pitchFamily="18" charset="0"/>
                              </a:rPr>
                              <m:t>𝟏</m:t>
                            </m:r>
                            <m:r>
                              <a:rPr lang="en-US" sz="5000" b="1" i="1" smtClean="0">
                                <a:solidFill>
                                  <a:srgbClr val="FF0000"/>
                                </a:solidFill>
                                <a:latin typeface="Cambria Math" panose="02040503050406030204" pitchFamily="18" charset="0"/>
                              </a:rPr>
                              <m:t>+</m:t>
                            </m:r>
                            <m:r>
                              <a:rPr lang="el-GR" sz="5000" b="1" i="1" smtClean="0">
                                <a:solidFill>
                                  <a:srgbClr val="FF0000"/>
                                </a:solidFill>
                                <a:latin typeface="Cambria Math" panose="02040503050406030204" pitchFamily="18" charset="0"/>
                              </a:rPr>
                              <m:t>𝜷</m:t>
                            </m:r>
                          </m:num>
                          <m:den>
                            <m:r>
                              <a:rPr lang="en-US" sz="5000" b="1" i="1" smtClean="0">
                                <a:solidFill>
                                  <a:srgbClr val="FF0000"/>
                                </a:solidFill>
                                <a:latin typeface="Cambria Math" panose="02040503050406030204" pitchFamily="18" charset="0"/>
                              </a:rPr>
                              <m:t>𝟏</m:t>
                            </m:r>
                            <m:r>
                              <a:rPr lang="en-US" sz="5000" b="1" i="1" smtClean="0">
                                <a:solidFill>
                                  <a:srgbClr val="FF0000"/>
                                </a:solidFill>
                                <a:latin typeface="Cambria Math" panose="02040503050406030204" pitchFamily="18" charset="0"/>
                              </a:rPr>
                              <m:t>−</m:t>
                            </m:r>
                            <m:r>
                              <a:rPr lang="el-GR" sz="5000" b="1" i="1" smtClean="0">
                                <a:solidFill>
                                  <a:srgbClr val="FF0000"/>
                                </a:solidFill>
                                <a:latin typeface="Cambria Math" panose="02040503050406030204" pitchFamily="18" charset="0"/>
                              </a:rPr>
                              <m:t>𝜷</m:t>
                            </m:r>
                          </m:den>
                        </m:f>
                      </m:e>
                    </m:d>
                  </m:oMath>
                </a14:m>
                <a:endParaRPr lang="en-IN" sz="5000" b="1" dirty="0"/>
              </a:p>
            </p:txBody>
          </p:sp>
        </mc:Choice>
        <mc:Fallback xmlns="">
          <p:sp>
            <p:nvSpPr>
              <p:cNvPr id="3" name="Content Placeholder 2">
                <a:extLst>
                  <a:ext uri="{FF2B5EF4-FFF2-40B4-BE49-F238E27FC236}">
                    <a16:creationId xmlns:a16="http://schemas.microsoft.com/office/drawing/2014/main" id="{2EFECE4E-1FAF-54FE-F90B-94DACF95EEE9}"/>
                  </a:ext>
                </a:extLst>
              </p:cNvPr>
              <p:cNvSpPr>
                <a:spLocks noGrp="1" noRot="1" noChangeAspect="1" noMove="1" noResize="1" noEditPoints="1" noAdjustHandles="1" noChangeArrowheads="1" noChangeShapeType="1" noTextEdit="1"/>
              </p:cNvSpPr>
              <p:nvPr>
                <p:ph idx="1"/>
              </p:nvPr>
            </p:nvSpPr>
            <p:spPr>
              <a:xfrm>
                <a:off x="838200" y="1426130"/>
                <a:ext cx="10515600" cy="4965792"/>
              </a:xfrm>
              <a:blipFill>
                <a:blip r:embed="rId3"/>
                <a:stretch>
                  <a:fillRect l="-1797" t="-859"/>
                </a:stretch>
              </a:blipFill>
            </p:spPr>
            <p:txBody>
              <a:bodyPr/>
              <a:lstStyle/>
              <a:p>
                <a:r>
                  <a:rPr lang="en-IN">
                    <a:noFill/>
                  </a:rPr>
                  <a:t> </a:t>
                </a:r>
              </a:p>
            </p:txBody>
          </p:sp>
        </mc:Fallback>
      </mc:AlternateContent>
    </p:spTree>
    <p:extLst>
      <p:ext uri="{BB962C8B-B14F-4D97-AF65-F5344CB8AC3E}">
        <p14:creationId xmlns:p14="http://schemas.microsoft.com/office/powerpoint/2010/main" val="3816691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DC96-2969-C452-B645-DCAB53516B8B}"/>
              </a:ext>
            </a:extLst>
          </p:cNvPr>
          <p:cNvSpPr>
            <a:spLocks noGrp="1"/>
          </p:cNvSpPr>
          <p:nvPr>
            <p:ph type="title"/>
          </p:nvPr>
        </p:nvSpPr>
        <p:spPr/>
        <p:txBody>
          <a:bodyPr/>
          <a:lstStyle/>
          <a:p>
            <a:r>
              <a:rPr lang="en-US" b="1" dirty="0"/>
              <a:t>Time period of square wave T = t</a:t>
            </a:r>
            <a:r>
              <a:rPr lang="en-US" b="1" baseline="-25000" dirty="0"/>
              <a:t>1 </a:t>
            </a:r>
            <a:r>
              <a:rPr lang="en-US" b="1" dirty="0"/>
              <a:t>+ t</a:t>
            </a:r>
            <a:r>
              <a:rPr lang="en-US" b="1" baseline="-25000" dirty="0"/>
              <a:t>2</a:t>
            </a:r>
            <a:endParaRPr lang="en-IN"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DC4005-D93D-F489-1113-BBAC43DBD770}"/>
                  </a:ext>
                </a:extLst>
              </p:cNvPr>
              <p:cNvSpPr>
                <a:spLocks noGrp="1"/>
              </p:cNvSpPr>
              <p:nvPr>
                <p:ph idx="1"/>
              </p:nvPr>
            </p:nvSpPr>
            <p:spPr/>
            <p:txBody>
              <a:bodyPr>
                <a:normAutofit/>
              </a:bodyPr>
              <a:lstStyle/>
              <a:p>
                <a:pPr marL="0" indent="0" algn="ctr">
                  <a:buNone/>
                </a:pPr>
                <a:r>
                  <a:rPr lang="en-US" sz="5000" b="1" dirty="0">
                    <a:solidFill>
                      <a:srgbClr val="FF0000"/>
                    </a:solidFill>
                  </a:rPr>
                  <a:t>T = 2RC ln </a:t>
                </a:r>
                <a14:m>
                  <m:oMath xmlns:m="http://schemas.openxmlformats.org/officeDocument/2006/math">
                    <m:d>
                      <m:dPr>
                        <m:ctrlPr>
                          <a:rPr lang="en-US" sz="5000" b="1" i="1" smtClean="0">
                            <a:solidFill>
                              <a:srgbClr val="FF0000"/>
                            </a:solidFill>
                            <a:latin typeface="Cambria Math" panose="02040503050406030204" pitchFamily="18" charset="0"/>
                          </a:rPr>
                        </m:ctrlPr>
                      </m:dPr>
                      <m:e>
                        <m:f>
                          <m:fPr>
                            <m:ctrlPr>
                              <a:rPr lang="en-US" sz="5000" b="1" i="1" smtClean="0">
                                <a:solidFill>
                                  <a:srgbClr val="FF0000"/>
                                </a:solidFill>
                                <a:latin typeface="Cambria Math" panose="02040503050406030204" pitchFamily="18" charset="0"/>
                              </a:rPr>
                            </m:ctrlPr>
                          </m:fPr>
                          <m:num>
                            <m:r>
                              <a:rPr lang="en-US" sz="5000" b="1" i="1" smtClean="0">
                                <a:solidFill>
                                  <a:srgbClr val="FF0000"/>
                                </a:solidFill>
                                <a:latin typeface="Cambria Math" panose="02040503050406030204" pitchFamily="18" charset="0"/>
                              </a:rPr>
                              <m:t>𝟏</m:t>
                            </m:r>
                            <m:r>
                              <a:rPr lang="en-US" sz="5000" b="1" i="1" smtClean="0">
                                <a:solidFill>
                                  <a:srgbClr val="FF0000"/>
                                </a:solidFill>
                                <a:latin typeface="Cambria Math" panose="02040503050406030204" pitchFamily="18" charset="0"/>
                              </a:rPr>
                              <m:t>+</m:t>
                            </m:r>
                            <m:r>
                              <a:rPr lang="el-GR" sz="5000" b="1" i="1" smtClean="0">
                                <a:solidFill>
                                  <a:srgbClr val="FF0000"/>
                                </a:solidFill>
                                <a:latin typeface="Cambria Math" panose="02040503050406030204" pitchFamily="18" charset="0"/>
                              </a:rPr>
                              <m:t>𝜷</m:t>
                            </m:r>
                          </m:num>
                          <m:den>
                            <m:r>
                              <a:rPr lang="en-US" sz="5000" b="1" i="1" smtClean="0">
                                <a:solidFill>
                                  <a:srgbClr val="FF0000"/>
                                </a:solidFill>
                                <a:latin typeface="Cambria Math" panose="02040503050406030204" pitchFamily="18" charset="0"/>
                              </a:rPr>
                              <m:t>𝟏</m:t>
                            </m:r>
                            <m:r>
                              <a:rPr lang="en-US" sz="5000" b="1" i="1" smtClean="0">
                                <a:solidFill>
                                  <a:srgbClr val="FF0000"/>
                                </a:solidFill>
                                <a:latin typeface="Cambria Math" panose="02040503050406030204" pitchFamily="18" charset="0"/>
                              </a:rPr>
                              <m:t>−</m:t>
                            </m:r>
                            <m:r>
                              <a:rPr lang="el-GR" sz="5000" b="1" i="1" smtClean="0">
                                <a:solidFill>
                                  <a:srgbClr val="FF0000"/>
                                </a:solidFill>
                                <a:latin typeface="Cambria Math" panose="02040503050406030204" pitchFamily="18" charset="0"/>
                              </a:rPr>
                              <m:t>𝜷</m:t>
                            </m:r>
                          </m:den>
                        </m:f>
                      </m:e>
                    </m:d>
                  </m:oMath>
                </a14:m>
                <a:r>
                  <a:rPr lang="en-IN" sz="5000" b="1" dirty="0">
                    <a:solidFill>
                      <a:srgbClr val="FF0000"/>
                    </a:solidFill>
                  </a:rPr>
                  <a:t>   </a:t>
                </a:r>
              </a:p>
              <a:p>
                <a:pPr marL="0" indent="0">
                  <a:buNone/>
                </a:pPr>
                <a:endParaRPr lang="en-IN" sz="3600" dirty="0"/>
              </a:p>
              <a:p>
                <a:pPr marL="0" indent="0">
                  <a:buNone/>
                </a:pPr>
                <a:r>
                  <a:rPr lang="en-IN" sz="3600" dirty="0"/>
                  <a:t>o/p swings from +</a:t>
                </a:r>
                <a:r>
                  <a:rPr lang="en-IN" sz="3600" dirty="0" err="1"/>
                  <a:t>V</a:t>
                </a:r>
                <a:r>
                  <a:rPr lang="en-IN" sz="3600" baseline="-25000" dirty="0" err="1"/>
                  <a:t>sat</a:t>
                </a:r>
                <a:r>
                  <a:rPr lang="en-IN" sz="3600" baseline="-25000" dirty="0"/>
                  <a:t> </a:t>
                </a:r>
                <a:r>
                  <a:rPr lang="en-IN" sz="3600" dirty="0"/>
                  <a:t> to –</a:t>
                </a:r>
                <a:r>
                  <a:rPr lang="en-IN" sz="3600" dirty="0" err="1"/>
                  <a:t>V</a:t>
                </a:r>
                <a:r>
                  <a:rPr lang="en-IN" sz="3600" baseline="-25000" dirty="0" err="1"/>
                  <a:t>sat</a:t>
                </a:r>
                <a:r>
                  <a:rPr lang="en-IN" sz="3600" dirty="0"/>
                  <a:t>. </a:t>
                </a:r>
              </a:p>
              <a:p>
                <a:pPr marL="0" indent="0">
                  <a:buNone/>
                </a:pPr>
                <a:r>
                  <a:rPr lang="en-IN" sz="3600" dirty="0"/>
                  <a:t>So V</a:t>
                </a:r>
                <a:r>
                  <a:rPr lang="en-IN" sz="3600" baseline="-25000" dirty="0"/>
                  <a:t>0ut</a:t>
                </a:r>
                <a:r>
                  <a:rPr lang="en-IN" sz="3600" dirty="0"/>
                  <a:t> (peak to peak) = 2V</a:t>
                </a:r>
                <a:r>
                  <a:rPr lang="en-IN" sz="3600" baseline="-25000" dirty="0"/>
                  <a:t>sat</a:t>
                </a:r>
                <a:r>
                  <a:rPr lang="en-IN" sz="3600" dirty="0"/>
                  <a:t> . </a:t>
                </a:r>
              </a:p>
              <a:p>
                <a:pPr marL="0" indent="0">
                  <a:buNone/>
                </a:pPr>
                <a:r>
                  <a:rPr lang="en-IN" sz="3600" dirty="0"/>
                  <a:t>For R</a:t>
                </a:r>
                <a:r>
                  <a:rPr lang="en-IN" sz="3600" baseline="-25000" dirty="0"/>
                  <a:t>1</a:t>
                </a:r>
                <a:r>
                  <a:rPr lang="en-IN" sz="3600" dirty="0"/>
                  <a:t> = 1.16R</a:t>
                </a:r>
                <a:r>
                  <a:rPr lang="en-IN" sz="3600" baseline="-25000" dirty="0"/>
                  <a:t>2</a:t>
                </a:r>
                <a:r>
                  <a:rPr lang="en-IN" sz="3600" dirty="0"/>
                  <a:t> , we get T =2RC   and f</a:t>
                </a:r>
                <a:r>
                  <a:rPr lang="en-IN" sz="3600" baseline="-25000" dirty="0"/>
                  <a:t>0</a:t>
                </a:r>
                <a:r>
                  <a:rPr lang="en-IN" sz="3600" dirty="0"/>
                  <a:t>= 1/2RC.</a:t>
                </a:r>
              </a:p>
              <a:p>
                <a:pPr algn="just"/>
                <a:endParaRPr lang="en-IN" sz="3600" dirty="0"/>
              </a:p>
            </p:txBody>
          </p:sp>
        </mc:Choice>
        <mc:Fallback xmlns="">
          <p:sp>
            <p:nvSpPr>
              <p:cNvPr id="3" name="Content Placeholder 2">
                <a:extLst>
                  <a:ext uri="{FF2B5EF4-FFF2-40B4-BE49-F238E27FC236}">
                    <a16:creationId xmlns:a16="http://schemas.microsoft.com/office/drawing/2014/main" id="{6CDC4005-D93D-F489-1113-BBAC43DBD770}"/>
                  </a:ext>
                </a:extLst>
              </p:cNvPr>
              <p:cNvSpPr>
                <a:spLocks noGrp="1" noRot="1" noChangeAspect="1" noMove="1" noResize="1" noEditPoints="1" noAdjustHandles="1" noChangeArrowheads="1" noChangeShapeType="1" noTextEdit="1"/>
              </p:cNvSpPr>
              <p:nvPr>
                <p:ph idx="1"/>
              </p:nvPr>
            </p:nvSpPr>
            <p:spPr>
              <a:blipFill>
                <a:blip r:embed="rId2"/>
                <a:stretch>
                  <a:fillRect l="-1797" t="-700"/>
                </a:stretch>
              </a:blipFill>
            </p:spPr>
            <p:txBody>
              <a:bodyPr/>
              <a:lstStyle/>
              <a:p>
                <a:r>
                  <a:rPr lang="en-IN">
                    <a:noFill/>
                  </a:rPr>
                  <a:t> </a:t>
                </a:r>
              </a:p>
            </p:txBody>
          </p:sp>
        </mc:Fallback>
      </mc:AlternateContent>
    </p:spTree>
    <p:extLst>
      <p:ext uri="{BB962C8B-B14F-4D97-AF65-F5344CB8AC3E}">
        <p14:creationId xmlns:p14="http://schemas.microsoft.com/office/powerpoint/2010/main" val="3007346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B53F2-43F9-D70E-91BA-47B1A2BFE7FA}"/>
              </a:ext>
            </a:extLst>
          </p:cNvPr>
          <p:cNvSpPr>
            <a:spLocks noGrp="1"/>
          </p:cNvSpPr>
          <p:nvPr>
            <p:ph type="title"/>
          </p:nvPr>
        </p:nvSpPr>
        <p:spPr/>
        <p:txBody>
          <a:bodyPr/>
          <a:lstStyle/>
          <a:p>
            <a:r>
              <a:rPr lang="en-US" b="1" dirty="0">
                <a:solidFill>
                  <a:srgbClr val="FF0000"/>
                </a:solidFill>
              </a:rPr>
              <a:t>Q: Design astable MV having </a:t>
            </a:r>
            <a:r>
              <a:rPr lang="en-US" b="1" dirty="0" err="1">
                <a:solidFill>
                  <a:srgbClr val="FF0000"/>
                </a:solidFill>
              </a:rPr>
              <a:t>freq</a:t>
            </a:r>
            <a:r>
              <a:rPr lang="en-US" b="1" dirty="0">
                <a:solidFill>
                  <a:srgbClr val="FF0000"/>
                </a:solidFill>
              </a:rPr>
              <a:t> of 1 KHz.</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6C8307-456E-5B34-1FC5-893B56590448}"/>
                  </a:ext>
                </a:extLst>
              </p:cNvPr>
              <p:cNvSpPr>
                <a:spLocks noGrp="1"/>
              </p:cNvSpPr>
              <p:nvPr>
                <p:ph idx="1"/>
              </p:nvPr>
            </p:nvSpPr>
            <p:spPr/>
            <p:txBody>
              <a:bodyPr/>
              <a:lstStyle/>
              <a:p>
                <a:r>
                  <a:rPr lang="en-US" dirty="0"/>
                  <a:t>R1</a:t>
                </a:r>
                <a:r>
                  <a:rPr lang="en-US"/>
                  <a:t>=R2</a:t>
                </a:r>
                <a:endParaRPr lang="en-US" dirty="0"/>
              </a:p>
              <a:p>
                <a:r>
                  <a:rPr lang="en-US" dirty="0"/>
                  <a:t>T=1ms</a:t>
                </a:r>
              </a:p>
              <a:p>
                <a:r>
                  <a:rPr lang="en-US" dirty="0"/>
                  <a:t>β = ?</a:t>
                </a:r>
              </a:p>
              <a:p>
                <a:r>
                  <a:rPr lang="en-US" dirty="0"/>
                  <a:t>C = 0.1 µF</a:t>
                </a:r>
              </a:p>
              <a:p>
                <a:r>
                  <a:rPr lang="en-US" dirty="0"/>
                  <a:t>R=4.5 K</a:t>
                </a:r>
                <a14:m>
                  <m:oMath xmlns:m="http://schemas.openxmlformats.org/officeDocument/2006/math">
                    <m:r>
                      <a:rPr lang="en-US" i="1" smtClean="0">
                        <a:latin typeface="Cambria Math" panose="02040503050406030204" pitchFamily="18" charset="0"/>
                      </a:rPr>
                      <m:t>𝛺</m:t>
                    </m:r>
                  </m:oMath>
                </a14:m>
                <a:endParaRPr lang="en-IN" dirty="0"/>
              </a:p>
              <a:p>
                <a:r>
                  <a:rPr lang="en-IN" dirty="0"/>
                  <a:t>R1=R2=10 K</a:t>
                </a:r>
                <a14:m>
                  <m:oMath xmlns:m="http://schemas.openxmlformats.org/officeDocument/2006/math">
                    <m:r>
                      <a:rPr lang="en-US" i="1" smtClean="0">
                        <a:latin typeface="Cambria Math" panose="02040503050406030204" pitchFamily="18" charset="0"/>
                      </a:rPr>
                      <m:t>𝛺</m:t>
                    </m:r>
                  </m:oMath>
                </a14:m>
                <a:endParaRPr lang="en-IN" dirty="0"/>
              </a:p>
            </p:txBody>
          </p:sp>
        </mc:Choice>
        <mc:Fallback xmlns="">
          <p:sp>
            <p:nvSpPr>
              <p:cNvPr id="3" name="Content Placeholder 2">
                <a:extLst>
                  <a:ext uri="{FF2B5EF4-FFF2-40B4-BE49-F238E27FC236}">
                    <a16:creationId xmlns:a16="http://schemas.microsoft.com/office/drawing/2014/main" id="{E56C8307-456E-5B34-1FC5-893B56590448}"/>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465365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A0645-0CF5-7B50-C34E-536467157402}"/>
              </a:ext>
            </a:extLst>
          </p:cNvPr>
          <p:cNvSpPr>
            <a:spLocks noGrp="1"/>
          </p:cNvSpPr>
          <p:nvPr>
            <p:ph type="title"/>
          </p:nvPr>
        </p:nvSpPr>
        <p:spPr/>
        <p:txBody>
          <a:bodyPr/>
          <a:lstStyle/>
          <a:p>
            <a:pPr algn="ctr"/>
            <a:r>
              <a:rPr lang="en-US" b="1" i="0" dirty="0">
                <a:solidFill>
                  <a:srgbClr val="FF0000"/>
                </a:solidFill>
                <a:effectLst/>
                <a:latin typeface="Roboto" panose="02000000000000000000" pitchFamily="2" charset="0"/>
              </a:rPr>
              <a:t>Monostable Multivibrator</a:t>
            </a:r>
            <a:endParaRPr lang="en-IN" b="1" dirty="0">
              <a:solidFill>
                <a:srgbClr val="FF0000"/>
              </a:solidFill>
            </a:endParaRPr>
          </a:p>
        </p:txBody>
      </p:sp>
      <p:sp>
        <p:nvSpPr>
          <p:cNvPr id="3" name="Content Placeholder 2">
            <a:extLst>
              <a:ext uri="{FF2B5EF4-FFF2-40B4-BE49-F238E27FC236}">
                <a16:creationId xmlns:a16="http://schemas.microsoft.com/office/drawing/2014/main" id="{651711B6-E6B2-ACEB-6E4B-06BDB7350D28}"/>
              </a:ext>
            </a:extLst>
          </p:cNvPr>
          <p:cNvSpPr>
            <a:spLocks noGrp="1"/>
          </p:cNvSpPr>
          <p:nvPr>
            <p:ph idx="1"/>
          </p:nvPr>
        </p:nvSpPr>
        <p:spPr/>
        <p:txBody>
          <a:bodyPr>
            <a:normAutofit/>
          </a:bodyPr>
          <a:lstStyle/>
          <a:p>
            <a:pPr algn="just"/>
            <a:r>
              <a:rPr lang="en-US" sz="3600" dirty="0">
                <a:solidFill>
                  <a:srgbClr val="131313"/>
                </a:solidFill>
              </a:rPr>
              <a:t>T</a:t>
            </a:r>
            <a:r>
              <a:rPr lang="en-US" sz="3600" b="0" i="0" dirty="0">
                <a:solidFill>
                  <a:srgbClr val="131313"/>
                </a:solidFill>
                <a:effectLst/>
              </a:rPr>
              <a:t>here is one stable state. </a:t>
            </a:r>
          </a:p>
          <a:p>
            <a:pPr algn="just"/>
            <a:r>
              <a:rPr lang="en-US" sz="3600" b="0" i="0" dirty="0">
                <a:solidFill>
                  <a:srgbClr val="131313"/>
                </a:solidFill>
                <a:effectLst/>
              </a:rPr>
              <a:t>When the trigger signal is applied then momentarily the output goes into the unstable state and once again comes back into the stable state.</a:t>
            </a:r>
          </a:p>
          <a:p>
            <a:pPr algn="just"/>
            <a:endParaRPr lang="en-IN" sz="3600" dirty="0"/>
          </a:p>
        </p:txBody>
      </p:sp>
    </p:spTree>
    <p:extLst>
      <p:ext uri="{BB962C8B-B14F-4D97-AF65-F5344CB8AC3E}">
        <p14:creationId xmlns:p14="http://schemas.microsoft.com/office/powerpoint/2010/main" val="270913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A2E67D2-DD2B-BDA1-53D3-29BFD9697B47}"/>
              </a:ext>
            </a:extLst>
          </p:cNvPr>
          <p:cNvPicPr>
            <a:picLocks noGrp="1" noChangeAspect="1"/>
          </p:cNvPicPr>
          <p:nvPr>
            <p:ph sz="half" idx="2"/>
          </p:nvPr>
        </p:nvPicPr>
        <p:blipFill>
          <a:blip r:embed="rId2"/>
          <a:stretch>
            <a:fillRect/>
          </a:stretch>
        </p:blipFill>
        <p:spPr>
          <a:xfrm>
            <a:off x="6095999" y="2068497"/>
            <a:ext cx="5932415" cy="3534929"/>
          </a:xfrm>
        </p:spPr>
      </p:pic>
      <p:pic>
        <p:nvPicPr>
          <p:cNvPr id="9" name="Content Placeholder 8">
            <a:extLst>
              <a:ext uri="{FF2B5EF4-FFF2-40B4-BE49-F238E27FC236}">
                <a16:creationId xmlns:a16="http://schemas.microsoft.com/office/drawing/2014/main" id="{DC1047C3-A73F-50F8-726F-75A54E2A5FC4}"/>
              </a:ext>
            </a:extLst>
          </p:cNvPr>
          <p:cNvPicPr>
            <a:picLocks noGrp="1" noChangeAspect="1"/>
          </p:cNvPicPr>
          <p:nvPr>
            <p:ph sz="half" idx="1"/>
          </p:nvPr>
        </p:nvPicPr>
        <p:blipFill rotWithShape="1">
          <a:blip r:embed="rId3"/>
          <a:srcRect l="4977" t="9124" r="6803"/>
          <a:stretch/>
        </p:blipFill>
        <p:spPr>
          <a:xfrm>
            <a:off x="87386" y="2068497"/>
            <a:ext cx="5860654" cy="3534929"/>
          </a:xfrm>
          <a:prstGeom prst="rect">
            <a:avLst/>
          </a:prstGeom>
        </p:spPr>
      </p:pic>
    </p:spTree>
    <p:extLst>
      <p:ext uri="{BB962C8B-B14F-4D97-AF65-F5344CB8AC3E}">
        <p14:creationId xmlns:p14="http://schemas.microsoft.com/office/powerpoint/2010/main" val="1235094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07BE9A3-A1AA-A005-8376-D7E3A021AA61}"/>
              </a:ext>
            </a:extLst>
          </p:cNvPr>
          <p:cNvPicPr>
            <a:picLocks noGrp="1" noChangeAspect="1"/>
          </p:cNvPicPr>
          <p:nvPr>
            <p:ph idx="1"/>
          </p:nvPr>
        </p:nvPicPr>
        <p:blipFill>
          <a:blip r:embed="rId2"/>
          <a:stretch>
            <a:fillRect/>
          </a:stretch>
        </p:blipFill>
        <p:spPr>
          <a:xfrm>
            <a:off x="1827281" y="390353"/>
            <a:ext cx="7742848" cy="6077294"/>
          </a:xfrm>
        </p:spPr>
      </p:pic>
    </p:spTree>
    <p:extLst>
      <p:ext uri="{BB962C8B-B14F-4D97-AF65-F5344CB8AC3E}">
        <p14:creationId xmlns:p14="http://schemas.microsoft.com/office/powerpoint/2010/main" val="868826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5243D-0C5A-AC85-3E41-92D9B4B4D1F4}"/>
              </a:ext>
            </a:extLst>
          </p:cNvPr>
          <p:cNvSpPr>
            <a:spLocks noGrp="1"/>
          </p:cNvSpPr>
          <p:nvPr>
            <p:ph type="title"/>
          </p:nvPr>
        </p:nvSpPr>
        <p:spPr/>
        <p:txBody>
          <a:bodyPr/>
          <a:lstStyle/>
          <a:p>
            <a:r>
              <a:rPr lang="en-US" b="1" dirty="0">
                <a:solidFill>
                  <a:srgbClr val="FF0000"/>
                </a:solidFill>
              </a:rPr>
              <a:t>Working Principle</a:t>
            </a:r>
            <a:endParaRPr lang="en-IN" b="1" dirty="0">
              <a:solidFill>
                <a:srgbClr val="FF000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E16500-55EB-37E9-39D0-524C1A8D7146}"/>
                  </a:ext>
                </a:extLst>
              </p:cNvPr>
              <p:cNvSpPr>
                <a:spLocks noGrp="1"/>
              </p:cNvSpPr>
              <p:nvPr>
                <p:ph sz="half" idx="1"/>
              </p:nvPr>
            </p:nvSpPr>
            <p:spPr/>
            <p:txBody>
              <a:bodyPr>
                <a:normAutofit/>
              </a:bodyPr>
              <a:lstStyle/>
              <a:p>
                <a:pPr algn="just"/>
                <a:r>
                  <a:rPr lang="en-US" sz="3600" dirty="0"/>
                  <a:t>Diode parallel to </a:t>
                </a:r>
                <a:r>
                  <a:rPr lang="en-US" sz="3600" dirty="0" err="1"/>
                  <a:t>capr</a:t>
                </a:r>
                <a:r>
                  <a:rPr lang="en-US" sz="3600" dirty="0"/>
                  <a:t>.</a:t>
                </a:r>
              </a:p>
              <a:p>
                <a:pPr algn="just"/>
                <a:r>
                  <a:rPr lang="en-US" sz="3600" dirty="0"/>
                  <a:t>Trigger s/g is applied at node a.</a:t>
                </a:r>
              </a:p>
              <a:p>
                <a:pPr algn="just"/>
                <a:r>
                  <a:rPr lang="en-US" sz="3600" dirty="0"/>
                  <a:t>Initially lets assume o/p of </a:t>
                </a:r>
                <a:r>
                  <a:rPr lang="en-US" sz="3600" dirty="0" err="1"/>
                  <a:t>ckt</a:t>
                </a:r>
                <a:r>
                  <a:rPr lang="en-US" sz="3600" dirty="0"/>
                  <a:t> +</a:t>
                </a:r>
                <a:r>
                  <a:rPr lang="en-US" sz="3600" dirty="0" err="1"/>
                  <a:t>V</a:t>
                </a:r>
                <a:r>
                  <a:rPr lang="en-US" sz="3600" baseline="-25000" dirty="0" err="1"/>
                  <a:t>sat</a:t>
                </a:r>
                <a:r>
                  <a:rPr lang="en-US" sz="3600" dirty="0"/>
                  <a:t> and it is a stable state of the </a:t>
                </a:r>
                <a:r>
                  <a:rPr lang="en-US" sz="3600" dirty="0" err="1"/>
                  <a:t>ckt</a:t>
                </a:r>
                <a:r>
                  <a:rPr lang="en-US" sz="3600" dirty="0"/>
                  <a:t>.</a:t>
                </a:r>
              </a:p>
              <a:p>
                <a:pPr algn="just"/>
                <a:r>
                  <a:rPr lang="en-US" sz="3600" dirty="0">
                    <a:solidFill>
                      <a:srgbClr val="FF0000"/>
                    </a:solidFill>
                  </a:rPr>
                  <a:t>V</a:t>
                </a:r>
                <a:r>
                  <a:rPr lang="en-US" sz="3600" baseline="-25000" dirty="0">
                    <a:solidFill>
                      <a:srgbClr val="FF0000"/>
                    </a:solidFill>
                  </a:rPr>
                  <a:t>a</a:t>
                </a:r>
                <a:r>
                  <a:rPr lang="en-US" sz="3600" dirty="0">
                    <a:solidFill>
                      <a:srgbClr val="FF0000"/>
                    </a:solidFill>
                  </a:rPr>
                  <a:t> = V</a:t>
                </a:r>
                <a:r>
                  <a:rPr lang="en-US" sz="3600" baseline="-25000" dirty="0" err="1">
                    <a:solidFill>
                      <a:srgbClr val="FF0000"/>
                    </a:solidFill>
                  </a:rPr>
                  <a:t>sat</a:t>
                </a:r>
                <a:r>
                  <a:rPr lang="en-US" sz="3600" dirty="0">
                    <a:solidFill>
                      <a:srgbClr val="FF0000"/>
                    </a:solidFill>
                  </a:rPr>
                  <a:t> </a:t>
                </a:r>
                <a14:m>
                  <m:oMath xmlns:m="http://schemas.openxmlformats.org/officeDocument/2006/math">
                    <m:f>
                      <m:fPr>
                        <m:ctrlPr>
                          <a:rPr lang="en-US" sz="3600" i="1" smtClean="0">
                            <a:solidFill>
                              <a:srgbClr val="FF0000"/>
                            </a:solidFill>
                            <a:latin typeface="Cambria Math" panose="02040503050406030204" pitchFamily="18" charset="0"/>
                          </a:rPr>
                        </m:ctrlPr>
                      </m:fPr>
                      <m:num>
                        <m:r>
                          <m:rPr>
                            <m:nor/>
                          </m:rPr>
                          <a:rPr lang="en-US" sz="3600" dirty="0">
                            <a:solidFill>
                              <a:srgbClr val="FF0000"/>
                            </a:solidFill>
                          </a:rPr>
                          <m:t>R</m:t>
                        </m:r>
                        <m:r>
                          <m:rPr>
                            <m:nor/>
                          </m:rPr>
                          <a:rPr lang="en-US" sz="3600" baseline="-25000" dirty="0">
                            <a:solidFill>
                              <a:srgbClr val="FF0000"/>
                            </a:solidFill>
                          </a:rPr>
                          <m:t>2</m:t>
                        </m:r>
                      </m:num>
                      <m:den>
                        <m:r>
                          <m:rPr>
                            <m:nor/>
                          </m:rPr>
                          <a:rPr lang="en-US" sz="3600" dirty="0">
                            <a:solidFill>
                              <a:srgbClr val="FF0000"/>
                            </a:solidFill>
                          </a:rPr>
                          <m:t>R</m:t>
                        </m:r>
                        <m:r>
                          <m:rPr>
                            <m:nor/>
                          </m:rPr>
                          <a:rPr lang="en-US" sz="3600" b="0" i="0" baseline="-25000" dirty="0" smtClean="0">
                            <a:solidFill>
                              <a:srgbClr val="FF0000"/>
                            </a:solidFill>
                          </a:rPr>
                          <m:t>1</m:t>
                        </m:r>
                        <m:r>
                          <m:rPr>
                            <m:nor/>
                          </m:rPr>
                          <a:rPr lang="en-US" sz="3600" b="0" i="0" smtClean="0">
                            <a:solidFill>
                              <a:srgbClr val="FF0000"/>
                            </a:solidFill>
                          </a:rPr>
                          <m:t>+</m:t>
                        </m:r>
                        <m:r>
                          <m:rPr>
                            <m:nor/>
                          </m:rPr>
                          <a:rPr lang="en-US" sz="3600" dirty="0">
                            <a:solidFill>
                              <a:srgbClr val="FF0000"/>
                            </a:solidFill>
                          </a:rPr>
                          <m:t>R</m:t>
                        </m:r>
                        <m:r>
                          <m:rPr>
                            <m:nor/>
                          </m:rPr>
                          <a:rPr lang="en-US" sz="3600" baseline="-25000" dirty="0">
                            <a:solidFill>
                              <a:srgbClr val="FF0000"/>
                            </a:solidFill>
                          </a:rPr>
                          <m:t>2</m:t>
                        </m:r>
                      </m:den>
                    </m:f>
                  </m:oMath>
                </a14:m>
                <a:r>
                  <a:rPr lang="en-IN" sz="3600" dirty="0">
                    <a:solidFill>
                      <a:srgbClr val="FF0000"/>
                    </a:solidFill>
                  </a:rPr>
                  <a:t> = </a:t>
                </a:r>
                <a:r>
                  <a:rPr lang="el-GR" sz="3600" dirty="0">
                    <a:solidFill>
                      <a:srgbClr val="FF0000"/>
                    </a:solidFill>
                  </a:rPr>
                  <a:t>β</a:t>
                </a:r>
                <a:r>
                  <a:rPr lang="en-US" sz="3600" dirty="0">
                    <a:solidFill>
                      <a:srgbClr val="FF0000"/>
                    </a:solidFill>
                  </a:rPr>
                  <a:t> </a:t>
                </a:r>
                <a:r>
                  <a:rPr lang="en-US" sz="3600" dirty="0" err="1">
                    <a:solidFill>
                      <a:srgbClr val="FF0000"/>
                    </a:solidFill>
                  </a:rPr>
                  <a:t>V</a:t>
                </a:r>
                <a:r>
                  <a:rPr lang="en-US" sz="3600" baseline="-25000" dirty="0" err="1">
                    <a:solidFill>
                      <a:srgbClr val="FF0000"/>
                    </a:solidFill>
                  </a:rPr>
                  <a:t>sat</a:t>
                </a:r>
                <a:r>
                  <a:rPr lang="en-US" sz="3600" dirty="0">
                    <a:solidFill>
                      <a:srgbClr val="FF0000"/>
                    </a:solidFill>
                  </a:rPr>
                  <a:t> </a:t>
                </a:r>
              </a:p>
              <a:p>
                <a:pPr algn="just"/>
                <a:endParaRPr lang="en-US" sz="3600" dirty="0"/>
              </a:p>
              <a:p>
                <a:pPr algn="just"/>
                <a:endParaRPr lang="en-IN" sz="3600" dirty="0"/>
              </a:p>
            </p:txBody>
          </p:sp>
        </mc:Choice>
        <mc:Fallback xmlns="">
          <p:sp>
            <p:nvSpPr>
              <p:cNvPr id="3" name="Content Placeholder 2">
                <a:extLst>
                  <a:ext uri="{FF2B5EF4-FFF2-40B4-BE49-F238E27FC236}">
                    <a16:creationId xmlns:a16="http://schemas.microsoft.com/office/drawing/2014/main" id="{CAE16500-55EB-37E9-39D0-524C1A8D7146}"/>
                  </a:ext>
                </a:extLst>
              </p:cNvPr>
              <p:cNvSpPr>
                <a:spLocks noGrp="1" noRot="1" noChangeAspect="1" noMove="1" noResize="1" noEditPoints="1" noAdjustHandles="1" noChangeArrowheads="1" noChangeShapeType="1" noTextEdit="1"/>
              </p:cNvSpPr>
              <p:nvPr>
                <p:ph sz="half" idx="1"/>
              </p:nvPr>
            </p:nvSpPr>
            <p:spPr>
              <a:blipFill>
                <a:blip r:embed="rId2"/>
                <a:stretch>
                  <a:fillRect l="-3294" t="-3361" r="-3529"/>
                </a:stretch>
              </a:blipFill>
            </p:spPr>
            <p:txBody>
              <a:bodyPr/>
              <a:lstStyle/>
              <a:p>
                <a:r>
                  <a:rPr lang="en-IN">
                    <a:noFill/>
                  </a:rPr>
                  <a:t> </a:t>
                </a:r>
              </a:p>
            </p:txBody>
          </p:sp>
        </mc:Fallback>
      </mc:AlternateContent>
      <p:pic>
        <p:nvPicPr>
          <p:cNvPr id="13" name="Content Placeholder 12">
            <a:extLst>
              <a:ext uri="{FF2B5EF4-FFF2-40B4-BE49-F238E27FC236}">
                <a16:creationId xmlns:a16="http://schemas.microsoft.com/office/drawing/2014/main" id="{D27E5503-D139-39F9-B919-675D7942F438}"/>
              </a:ext>
            </a:extLst>
          </p:cNvPr>
          <p:cNvPicPr>
            <a:picLocks noGrp="1" noChangeAspect="1"/>
          </p:cNvPicPr>
          <p:nvPr>
            <p:ph sz="half" idx="2"/>
          </p:nvPr>
        </p:nvPicPr>
        <p:blipFill>
          <a:blip r:embed="rId3"/>
          <a:stretch>
            <a:fillRect/>
          </a:stretch>
        </p:blipFill>
        <p:spPr>
          <a:xfrm>
            <a:off x="6548437" y="1977231"/>
            <a:ext cx="4429125" cy="4048125"/>
          </a:xfrm>
        </p:spPr>
      </p:pic>
    </p:spTree>
    <p:extLst>
      <p:ext uri="{BB962C8B-B14F-4D97-AF65-F5344CB8AC3E}">
        <p14:creationId xmlns:p14="http://schemas.microsoft.com/office/powerpoint/2010/main" val="192195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0F2E051-B958-48C2-7EB5-0294EBF97A70}"/>
              </a:ext>
            </a:extLst>
          </p:cNvPr>
          <p:cNvSpPr>
            <a:spLocks noGrp="1"/>
          </p:cNvSpPr>
          <p:nvPr>
            <p:ph idx="1"/>
          </p:nvPr>
        </p:nvSpPr>
        <p:spPr>
          <a:xfrm>
            <a:off x="944732" y="875713"/>
            <a:ext cx="10515600" cy="5613863"/>
          </a:xfrm>
        </p:spPr>
        <p:txBody>
          <a:bodyPr>
            <a:noAutofit/>
          </a:bodyPr>
          <a:lstStyle/>
          <a:p>
            <a:pPr algn="just"/>
            <a:r>
              <a:rPr lang="en-US" sz="3600" dirty="0"/>
              <a:t>Whenever o/p is +</a:t>
            </a:r>
            <a:r>
              <a:rPr lang="en-US" sz="3600" dirty="0" err="1"/>
              <a:t>V</a:t>
            </a:r>
            <a:r>
              <a:rPr lang="en-US" sz="3600" baseline="-25000" dirty="0" err="1"/>
              <a:t>sat</a:t>
            </a:r>
            <a:r>
              <a:rPr lang="en-US" sz="3600" dirty="0"/>
              <a:t> , diode is FB.</a:t>
            </a:r>
          </a:p>
          <a:p>
            <a:pPr algn="just"/>
            <a:r>
              <a:rPr lang="en-US" sz="3600" dirty="0"/>
              <a:t>V across </a:t>
            </a:r>
            <a:r>
              <a:rPr lang="en-US" sz="3600" dirty="0" err="1"/>
              <a:t>capr</a:t>
            </a:r>
            <a:r>
              <a:rPr lang="en-US" sz="3600" dirty="0"/>
              <a:t> will be forward V drop of diode.</a:t>
            </a:r>
          </a:p>
          <a:p>
            <a:pPr algn="just"/>
            <a:r>
              <a:rPr lang="en-US" sz="3600" dirty="0"/>
              <a:t>So inv node V = forward V drop of diode.</a:t>
            </a:r>
          </a:p>
          <a:p>
            <a:pPr algn="just"/>
            <a:r>
              <a:rPr lang="en-IN" sz="3600" dirty="0"/>
              <a:t>As </a:t>
            </a:r>
            <a:r>
              <a:rPr lang="el-GR" sz="3600" dirty="0"/>
              <a:t>β</a:t>
            </a:r>
            <a:r>
              <a:rPr lang="en-US" sz="3600" dirty="0"/>
              <a:t> </a:t>
            </a:r>
            <a:r>
              <a:rPr lang="en-US" sz="3600" dirty="0" err="1"/>
              <a:t>V</a:t>
            </a:r>
            <a:r>
              <a:rPr lang="en-US" sz="3600" baseline="-25000" dirty="0" err="1"/>
              <a:t>sat</a:t>
            </a:r>
            <a:r>
              <a:rPr lang="en-US" sz="3600" dirty="0"/>
              <a:t> &gt; forward V drop of diode, o/p remains at +</a:t>
            </a:r>
            <a:r>
              <a:rPr lang="en-US" sz="3600" dirty="0" err="1"/>
              <a:t>V</a:t>
            </a:r>
            <a:r>
              <a:rPr lang="en-US" sz="3600" baseline="-25000" dirty="0" err="1"/>
              <a:t>sat</a:t>
            </a:r>
            <a:r>
              <a:rPr lang="en-US" sz="3600" dirty="0"/>
              <a:t>.</a:t>
            </a:r>
          </a:p>
          <a:p>
            <a:pPr algn="just"/>
            <a:r>
              <a:rPr lang="en-US" sz="3600" dirty="0"/>
              <a:t>Now, lets say after a certain time the trigger s/g is applied at this node.</a:t>
            </a:r>
          </a:p>
          <a:p>
            <a:pPr algn="just"/>
            <a:r>
              <a:rPr lang="en-US" sz="3600" dirty="0"/>
              <a:t>When a –</a:t>
            </a:r>
            <a:r>
              <a:rPr lang="en-US" sz="3600" dirty="0" err="1"/>
              <a:t>ve</a:t>
            </a:r>
            <a:r>
              <a:rPr lang="en-US" sz="3600" dirty="0"/>
              <a:t> trigger is applied, then momentarily o/p at non inv node will be less than V at inv node.</a:t>
            </a:r>
            <a:endParaRPr lang="en-IN" sz="3600" dirty="0"/>
          </a:p>
        </p:txBody>
      </p:sp>
    </p:spTree>
    <p:extLst>
      <p:ext uri="{BB962C8B-B14F-4D97-AF65-F5344CB8AC3E}">
        <p14:creationId xmlns:p14="http://schemas.microsoft.com/office/powerpoint/2010/main" val="266622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038722-3BC3-3866-6A6E-05A0DA3AB628}"/>
                  </a:ext>
                </a:extLst>
              </p:cNvPr>
              <p:cNvSpPr>
                <a:spLocks noGrp="1"/>
              </p:cNvSpPr>
              <p:nvPr>
                <p:ph idx="1"/>
              </p:nvPr>
            </p:nvSpPr>
            <p:spPr>
              <a:xfrm>
                <a:off x="909222" y="591629"/>
                <a:ext cx="10515600" cy="5986724"/>
              </a:xfrm>
            </p:spPr>
            <p:txBody>
              <a:bodyPr>
                <a:normAutofit/>
              </a:bodyPr>
              <a:lstStyle/>
              <a:p>
                <a:pPr algn="just"/>
                <a:r>
                  <a:rPr lang="en-US" sz="3900" dirty="0"/>
                  <a:t>So o/p of op amp will now switch from +</a:t>
                </a:r>
                <a:r>
                  <a:rPr lang="en-US" sz="3900" dirty="0" err="1"/>
                  <a:t>ve</a:t>
                </a:r>
                <a:r>
                  <a:rPr lang="en-US" sz="3900" dirty="0"/>
                  <a:t> to –</a:t>
                </a:r>
                <a:r>
                  <a:rPr lang="en-US" sz="3900" dirty="0" err="1"/>
                  <a:t>ve</a:t>
                </a:r>
                <a:r>
                  <a:rPr lang="en-US" sz="3900" dirty="0"/>
                  <a:t> sat voltage.</a:t>
                </a:r>
              </a:p>
              <a:p>
                <a:pPr algn="just"/>
                <a:r>
                  <a:rPr lang="en-US" sz="3900" dirty="0"/>
                  <a:t>The </a:t>
                </a:r>
                <a:r>
                  <a:rPr lang="en-US" sz="3900" dirty="0" err="1"/>
                  <a:t>ckt</a:t>
                </a:r>
                <a:r>
                  <a:rPr lang="en-US" sz="3900" dirty="0"/>
                  <a:t> goes into unstable state.</a:t>
                </a:r>
              </a:p>
              <a:p>
                <a:pPr marL="0" indent="0" algn="ctr">
                  <a:buNone/>
                </a:pPr>
                <a:r>
                  <a:rPr lang="en-US" sz="3900" dirty="0">
                    <a:solidFill>
                      <a:srgbClr val="FF0000"/>
                    </a:solidFill>
                  </a:rPr>
                  <a:t>V</a:t>
                </a:r>
                <a:r>
                  <a:rPr lang="en-US" sz="3900" baseline="-25000" dirty="0">
                    <a:solidFill>
                      <a:srgbClr val="FF0000"/>
                    </a:solidFill>
                  </a:rPr>
                  <a:t>a</a:t>
                </a:r>
                <a:r>
                  <a:rPr lang="en-US" sz="3900" dirty="0">
                    <a:solidFill>
                      <a:srgbClr val="FF0000"/>
                    </a:solidFill>
                  </a:rPr>
                  <a:t> = -</a:t>
                </a:r>
                <a:r>
                  <a:rPr lang="en-US" sz="3900" dirty="0" err="1">
                    <a:solidFill>
                      <a:srgbClr val="FF0000"/>
                    </a:solidFill>
                  </a:rPr>
                  <a:t>V</a:t>
                </a:r>
                <a:r>
                  <a:rPr lang="en-US" sz="3900" baseline="-25000" dirty="0" err="1">
                    <a:solidFill>
                      <a:srgbClr val="FF0000"/>
                    </a:solidFill>
                  </a:rPr>
                  <a:t>sat</a:t>
                </a:r>
                <a:r>
                  <a:rPr lang="en-US" sz="3900" dirty="0">
                    <a:solidFill>
                      <a:srgbClr val="FF0000"/>
                    </a:solidFill>
                  </a:rPr>
                  <a:t> </a:t>
                </a:r>
                <a14:m>
                  <m:oMath xmlns:m="http://schemas.openxmlformats.org/officeDocument/2006/math">
                    <m:f>
                      <m:fPr>
                        <m:ctrlPr>
                          <a:rPr lang="en-US" sz="3900" i="1" smtClean="0">
                            <a:solidFill>
                              <a:srgbClr val="FF0000"/>
                            </a:solidFill>
                            <a:latin typeface="Cambria Math" panose="02040503050406030204" pitchFamily="18" charset="0"/>
                          </a:rPr>
                        </m:ctrlPr>
                      </m:fPr>
                      <m:num>
                        <m:r>
                          <m:rPr>
                            <m:nor/>
                          </m:rPr>
                          <a:rPr lang="en-US" sz="3900" dirty="0">
                            <a:solidFill>
                              <a:srgbClr val="FF0000"/>
                            </a:solidFill>
                          </a:rPr>
                          <m:t>R</m:t>
                        </m:r>
                        <m:r>
                          <m:rPr>
                            <m:nor/>
                          </m:rPr>
                          <a:rPr lang="en-US" sz="3900" baseline="-25000" dirty="0">
                            <a:solidFill>
                              <a:srgbClr val="FF0000"/>
                            </a:solidFill>
                          </a:rPr>
                          <m:t>2</m:t>
                        </m:r>
                      </m:num>
                      <m:den>
                        <m:r>
                          <m:rPr>
                            <m:nor/>
                          </m:rPr>
                          <a:rPr lang="en-US" sz="3900" dirty="0">
                            <a:solidFill>
                              <a:srgbClr val="FF0000"/>
                            </a:solidFill>
                          </a:rPr>
                          <m:t>R</m:t>
                        </m:r>
                        <m:r>
                          <m:rPr>
                            <m:nor/>
                          </m:rPr>
                          <a:rPr lang="en-US" sz="3900" b="0" i="0" baseline="-25000" dirty="0" smtClean="0">
                            <a:solidFill>
                              <a:srgbClr val="FF0000"/>
                            </a:solidFill>
                          </a:rPr>
                          <m:t>1</m:t>
                        </m:r>
                        <m:r>
                          <m:rPr>
                            <m:nor/>
                          </m:rPr>
                          <a:rPr lang="en-US" sz="3900" b="0" i="0" smtClean="0">
                            <a:solidFill>
                              <a:srgbClr val="FF0000"/>
                            </a:solidFill>
                          </a:rPr>
                          <m:t>+</m:t>
                        </m:r>
                        <m:r>
                          <m:rPr>
                            <m:nor/>
                          </m:rPr>
                          <a:rPr lang="en-US" sz="3900" dirty="0">
                            <a:solidFill>
                              <a:srgbClr val="FF0000"/>
                            </a:solidFill>
                          </a:rPr>
                          <m:t>R</m:t>
                        </m:r>
                        <m:r>
                          <m:rPr>
                            <m:nor/>
                          </m:rPr>
                          <a:rPr lang="en-US" sz="3900" baseline="-25000" dirty="0">
                            <a:solidFill>
                              <a:srgbClr val="FF0000"/>
                            </a:solidFill>
                          </a:rPr>
                          <m:t>2</m:t>
                        </m:r>
                      </m:den>
                    </m:f>
                  </m:oMath>
                </a14:m>
                <a:r>
                  <a:rPr lang="en-IN" sz="3900" dirty="0">
                    <a:solidFill>
                      <a:srgbClr val="FF0000"/>
                    </a:solidFill>
                  </a:rPr>
                  <a:t> = -</a:t>
                </a:r>
                <a:r>
                  <a:rPr lang="el-GR" sz="3900" dirty="0">
                    <a:solidFill>
                      <a:srgbClr val="FF0000"/>
                    </a:solidFill>
                  </a:rPr>
                  <a:t>β</a:t>
                </a:r>
                <a:r>
                  <a:rPr lang="en-US" sz="3900" dirty="0">
                    <a:solidFill>
                      <a:srgbClr val="FF0000"/>
                    </a:solidFill>
                  </a:rPr>
                  <a:t> </a:t>
                </a:r>
                <a:r>
                  <a:rPr lang="en-US" sz="3900" dirty="0" err="1">
                    <a:solidFill>
                      <a:srgbClr val="FF0000"/>
                    </a:solidFill>
                  </a:rPr>
                  <a:t>V</a:t>
                </a:r>
                <a:r>
                  <a:rPr lang="en-US" sz="3900" baseline="-25000" dirty="0" err="1">
                    <a:solidFill>
                      <a:srgbClr val="FF0000"/>
                    </a:solidFill>
                  </a:rPr>
                  <a:t>sat</a:t>
                </a:r>
                <a:r>
                  <a:rPr lang="en-US" sz="3900" dirty="0">
                    <a:solidFill>
                      <a:srgbClr val="FF0000"/>
                    </a:solidFill>
                  </a:rPr>
                  <a:t> </a:t>
                </a:r>
              </a:p>
              <a:p>
                <a:pPr algn="just"/>
                <a:r>
                  <a:rPr lang="en-US" sz="3900" dirty="0"/>
                  <a:t>Diode RB.</a:t>
                </a:r>
              </a:p>
              <a:p>
                <a:pPr algn="just"/>
                <a:r>
                  <a:rPr lang="en-US" sz="3900" dirty="0"/>
                  <a:t>Cap starts charging to –</a:t>
                </a:r>
                <a:r>
                  <a:rPr lang="en-US" sz="3900" dirty="0" err="1"/>
                  <a:t>V</a:t>
                </a:r>
                <a:r>
                  <a:rPr lang="en-US" sz="3900" baseline="-25000" dirty="0" err="1"/>
                  <a:t>sat</a:t>
                </a:r>
                <a:r>
                  <a:rPr lang="en-US" sz="3900" dirty="0"/>
                  <a:t> .</a:t>
                </a:r>
              </a:p>
              <a:p>
                <a:pPr algn="just"/>
                <a:r>
                  <a:rPr lang="en-US" sz="3900" dirty="0"/>
                  <a:t>Whenever the voltage at inv node goes below this </a:t>
                </a:r>
                <a:r>
                  <a:rPr lang="en-IN" sz="3900" dirty="0"/>
                  <a:t>-</a:t>
                </a:r>
                <a:r>
                  <a:rPr lang="el-GR" sz="3900" dirty="0"/>
                  <a:t>β</a:t>
                </a:r>
                <a:r>
                  <a:rPr lang="en-US" sz="3900" dirty="0"/>
                  <a:t> </a:t>
                </a:r>
                <a:r>
                  <a:rPr lang="en-US" sz="3900" dirty="0" err="1"/>
                  <a:t>V</a:t>
                </a:r>
                <a:r>
                  <a:rPr lang="en-US" sz="3900" baseline="-25000" dirty="0" err="1"/>
                  <a:t>sat</a:t>
                </a:r>
                <a:r>
                  <a:rPr lang="en-US" sz="3900" baseline="-25000" dirty="0"/>
                  <a:t> </a:t>
                </a:r>
                <a:r>
                  <a:rPr lang="en-US" sz="3900" dirty="0"/>
                  <a:t>, o/p of op amp will go to </a:t>
                </a:r>
                <a:r>
                  <a:rPr lang="en-IN" sz="3900" dirty="0"/>
                  <a:t>+</a:t>
                </a:r>
                <a:r>
                  <a:rPr lang="en-US" sz="3900" dirty="0"/>
                  <a:t> </a:t>
                </a:r>
                <a:r>
                  <a:rPr lang="en-US" sz="3900" dirty="0" err="1"/>
                  <a:t>V</a:t>
                </a:r>
                <a:r>
                  <a:rPr lang="en-US" sz="3900" baseline="-25000" dirty="0" err="1"/>
                  <a:t>sat</a:t>
                </a:r>
                <a:r>
                  <a:rPr lang="en-US" sz="3900" dirty="0"/>
                  <a:t> .</a:t>
                </a:r>
              </a:p>
              <a:p>
                <a:pPr algn="just"/>
                <a:endParaRPr lang="en-US" sz="3900" dirty="0"/>
              </a:p>
              <a:p>
                <a:pPr algn="just"/>
                <a:endParaRPr lang="en-US" dirty="0"/>
              </a:p>
            </p:txBody>
          </p:sp>
        </mc:Choice>
        <mc:Fallback xmlns="">
          <p:sp>
            <p:nvSpPr>
              <p:cNvPr id="3" name="Content Placeholder 2">
                <a:extLst>
                  <a:ext uri="{FF2B5EF4-FFF2-40B4-BE49-F238E27FC236}">
                    <a16:creationId xmlns:a16="http://schemas.microsoft.com/office/drawing/2014/main" id="{13038722-3BC3-3866-6A6E-05A0DA3AB628}"/>
                  </a:ext>
                </a:extLst>
              </p:cNvPr>
              <p:cNvSpPr>
                <a:spLocks noGrp="1" noRot="1" noChangeAspect="1" noMove="1" noResize="1" noEditPoints="1" noAdjustHandles="1" noChangeArrowheads="1" noChangeShapeType="1" noTextEdit="1"/>
              </p:cNvSpPr>
              <p:nvPr>
                <p:ph idx="1"/>
              </p:nvPr>
            </p:nvSpPr>
            <p:spPr>
              <a:xfrm>
                <a:off x="909222" y="591629"/>
                <a:ext cx="10515600" cy="5986724"/>
              </a:xfrm>
              <a:blipFill>
                <a:blip r:embed="rId2"/>
                <a:stretch>
                  <a:fillRect l="-1739" t="-2648" r="-1971"/>
                </a:stretch>
              </a:blipFill>
            </p:spPr>
            <p:txBody>
              <a:bodyPr/>
              <a:lstStyle/>
              <a:p>
                <a:r>
                  <a:rPr lang="en-IN">
                    <a:noFill/>
                  </a:rPr>
                  <a:t> </a:t>
                </a:r>
              </a:p>
            </p:txBody>
          </p:sp>
        </mc:Fallback>
      </mc:AlternateContent>
    </p:spTree>
    <p:extLst>
      <p:ext uri="{BB962C8B-B14F-4D97-AF65-F5344CB8AC3E}">
        <p14:creationId xmlns:p14="http://schemas.microsoft.com/office/powerpoint/2010/main" val="651856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09B08449-BA96-A247-77A6-B6C536979DE4}"/>
              </a:ext>
            </a:extLst>
          </p:cNvPr>
          <p:cNvPicPr>
            <a:picLocks noGrp="1" noChangeAspect="1"/>
          </p:cNvPicPr>
          <p:nvPr>
            <p:ph idx="1"/>
          </p:nvPr>
        </p:nvPicPr>
        <p:blipFill rotWithShape="1">
          <a:blip r:embed="rId2"/>
          <a:srcRect r="1151" b="347"/>
          <a:stretch/>
        </p:blipFill>
        <p:spPr>
          <a:xfrm>
            <a:off x="2003257" y="463858"/>
            <a:ext cx="8392495" cy="5930283"/>
          </a:xfrm>
        </p:spPr>
      </p:pic>
    </p:spTree>
    <p:extLst>
      <p:ext uri="{BB962C8B-B14F-4D97-AF65-F5344CB8AC3E}">
        <p14:creationId xmlns:p14="http://schemas.microsoft.com/office/powerpoint/2010/main" val="70548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FA47D7-20A9-5528-32BB-C188D9F2EA2F}"/>
              </a:ext>
            </a:extLst>
          </p:cNvPr>
          <p:cNvSpPr>
            <a:spLocks noGrp="1"/>
          </p:cNvSpPr>
          <p:nvPr>
            <p:ph idx="1"/>
          </p:nvPr>
        </p:nvSpPr>
        <p:spPr/>
        <p:txBody>
          <a:bodyPr>
            <a:normAutofit/>
          </a:bodyPr>
          <a:lstStyle/>
          <a:p>
            <a:pPr algn="just"/>
            <a:r>
              <a:rPr lang="en-US" sz="3600" dirty="0"/>
              <a:t>Only for this time T, the o/p will remain in unstable state.</a:t>
            </a:r>
          </a:p>
          <a:p>
            <a:pPr algn="just"/>
            <a:r>
              <a:rPr lang="en-US" sz="3600" dirty="0"/>
              <a:t>Now again in stable state. </a:t>
            </a:r>
            <a:r>
              <a:rPr lang="en-US" sz="3600" dirty="0" err="1"/>
              <a:t>Capr</a:t>
            </a:r>
            <a:r>
              <a:rPr lang="en-US" sz="3600" dirty="0"/>
              <a:t> voltage = forward V drop of diode.</a:t>
            </a:r>
          </a:p>
          <a:p>
            <a:pPr algn="just"/>
            <a:r>
              <a:rPr lang="en-IN" sz="3600" dirty="0"/>
              <a:t>Here T is only time duration of pulse (Not a time period).</a:t>
            </a:r>
          </a:p>
        </p:txBody>
      </p:sp>
    </p:spTree>
    <p:extLst>
      <p:ext uri="{BB962C8B-B14F-4D97-AF65-F5344CB8AC3E}">
        <p14:creationId xmlns:p14="http://schemas.microsoft.com/office/powerpoint/2010/main" val="161022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40F-F2C8-27A4-5CFC-3BCED278B638}"/>
              </a:ext>
            </a:extLst>
          </p:cNvPr>
          <p:cNvSpPr>
            <a:spLocks noGrp="1"/>
          </p:cNvSpPr>
          <p:nvPr>
            <p:ph type="title"/>
          </p:nvPr>
        </p:nvSpPr>
        <p:spPr/>
        <p:txBody>
          <a:bodyPr/>
          <a:lstStyle/>
          <a:p>
            <a:r>
              <a:rPr lang="en-US" b="1" dirty="0"/>
              <a:t>Derivation</a:t>
            </a:r>
            <a:endParaRPr lang="en-IN" b="1" dirty="0"/>
          </a:p>
        </p:txBody>
      </p:sp>
      <p:sp>
        <p:nvSpPr>
          <p:cNvPr id="4" name="Content Placeholder 3">
            <a:extLst>
              <a:ext uri="{FF2B5EF4-FFF2-40B4-BE49-F238E27FC236}">
                <a16:creationId xmlns:a16="http://schemas.microsoft.com/office/drawing/2014/main" id="{4DC27165-0965-BA3B-F166-072586D0B273}"/>
              </a:ext>
            </a:extLst>
          </p:cNvPr>
          <p:cNvSpPr>
            <a:spLocks noGrp="1"/>
          </p:cNvSpPr>
          <p:nvPr>
            <p:ph sz="half" idx="1"/>
          </p:nvPr>
        </p:nvSpPr>
        <p:spPr/>
        <p:txBody>
          <a:bodyPr/>
          <a:lstStyle/>
          <a:p>
            <a:pPr algn="just"/>
            <a:r>
              <a:rPr lang="en-US" sz="3600" dirty="0"/>
              <a:t>Assumed that diode which is used in the </a:t>
            </a:r>
            <a:r>
              <a:rPr lang="en-US" sz="3600" dirty="0" err="1"/>
              <a:t>ckt</a:t>
            </a:r>
            <a:r>
              <a:rPr lang="en-US" sz="3600" dirty="0"/>
              <a:t> is an ideal diode.</a:t>
            </a:r>
          </a:p>
          <a:p>
            <a:pPr algn="just"/>
            <a:r>
              <a:rPr lang="en-US" sz="3600" dirty="0"/>
              <a:t>So drop across diode =0V</a:t>
            </a:r>
          </a:p>
          <a:p>
            <a:pPr algn="just"/>
            <a:r>
              <a:rPr lang="en-IN" sz="3600" dirty="0"/>
              <a:t>So whenever the –</a:t>
            </a:r>
            <a:r>
              <a:rPr lang="en-IN" sz="3600" dirty="0" err="1"/>
              <a:t>ve</a:t>
            </a:r>
            <a:r>
              <a:rPr lang="en-IN" sz="3600" dirty="0"/>
              <a:t> trigger is applied to MMV, cap starts charging from 0 to –</a:t>
            </a:r>
            <a:r>
              <a:rPr lang="en-IN" sz="3600" dirty="0" err="1"/>
              <a:t>V</a:t>
            </a:r>
            <a:r>
              <a:rPr lang="en-IN" sz="3600" baseline="-25000" dirty="0" err="1"/>
              <a:t>sat</a:t>
            </a:r>
            <a:r>
              <a:rPr lang="en-IN" sz="3600" dirty="0"/>
              <a:t>. </a:t>
            </a:r>
          </a:p>
          <a:p>
            <a:endParaRPr lang="en-IN" dirty="0"/>
          </a:p>
          <a:p>
            <a:endParaRPr lang="en-IN" dirty="0"/>
          </a:p>
        </p:txBody>
      </p:sp>
      <p:pic>
        <p:nvPicPr>
          <p:cNvPr id="7" name="Content Placeholder 6">
            <a:extLst>
              <a:ext uri="{FF2B5EF4-FFF2-40B4-BE49-F238E27FC236}">
                <a16:creationId xmlns:a16="http://schemas.microsoft.com/office/drawing/2014/main" id="{FE07844E-AD9D-7DD7-6BEE-78E79F73F564}"/>
              </a:ext>
            </a:extLst>
          </p:cNvPr>
          <p:cNvPicPr>
            <a:picLocks noGrp="1" noChangeAspect="1"/>
          </p:cNvPicPr>
          <p:nvPr>
            <p:ph sz="half" idx="2"/>
          </p:nvPr>
        </p:nvPicPr>
        <p:blipFill rotWithShape="1">
          <a:blip r:embed="rId2"/>
          <a:srcRect t="5941" r="9923"/>
          <a:stretch/>
        </p:blipFill>
        <p:spPr>
          <a:xfrm>
            <a:off x="6340875" y="257452"/>
            <a:ext cx="5688367" cy="3665983"/>
          </a:xfrm>
        </p:spPr>
      </p:pic>
    </p:spTree>
    <p:extLst>
      <p:ext uri="{BB962C8B-B14F-4D97-AF65-F5344CB8AC3E}">
        <p14:creationId xmlns:p14="http://schemas.microsoft.com/office/powerpoint/2010/main" val="2014830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AF921F3-6BD1-2987-A405-D47F7E9FAFF2}"/>
                  </a:ext>
                </a:extLst>
              </p:cNvPr>
              <p:cNvSpPr>
                <a:spLocks noGrp="1"/>
              </p:cNvSpPr>
              <p:nvPr>
                <p:ph type="title"/>
              </p:nvPr>
            </p:nvSpPr>
            <p:spPr/>
            <p:txBody>
              <a:bodyPr>
                <a:normAutofit fontScale="90000"/>
              </a:bodyPr>
              <a:lstStyle/>
              <a:p>
                <a:r>
                  <a:rPr lang="en-IN" sz="4400" b="1" dirty="0">
                    <a:solidFill>
                      <a:srgbClr val="FF0000"/>
                    </a:solidFill>
                  </a:rPr>
                  <a:t>V</a:t>
                </a:r>
                <a:r>
                  <a:rPr lang="en-IN" sz="4400" b="1" baseline="-25000" dirty="0" err="1">
                    <a:solidFill>
                      <a:srgbClr val="FF0000"/>
                    </a:solidFill>
                  </a:rPr>
                  <a:t>c</a:t>
                </a:r>
                <a:r>
                  <a:rPr lang="en-IN" sz="4400" b="1" dirty="0">
                    <a:solidFill>
                      <a:srgbClr val="FF0000"/>
                    </a:solidFill>
                  </a:rPr>
                  <a:t>(t) = </a:t>
                </a:r>
                <a:r>
                  <a:rPr lang="en-IN" sz="4400" b="1" dirty="0" err="1">
                    <a:solidFill>
                      <a:srgbClr val="FF0000"/>
                    </a:solidFill>
                  </a:rPr>
                  <a:t>V</a:t>
                </a:r>
                <a:r>
                  <a:rPr lang="en-IN" sz="4400" b="1" baseline="-25000" dirty="0" err="1">
                    <a:solidFill>
                      <a:srgbClr val="FF0000"/>
                    </a:solidFill>
                  </a:rPr>
                  <a:t>final</a:t>
                </a:r>
                <a:r>
                  <a:rPr lang="en-IN" sz="4400" b="1" baseline="-25000" dirty="0">
                    <a:solidFill>
                      <a:srgbClr val="FF0000"/>
                    </a:solidFill>
                  </a:rPr>
                  <a:t> </a:t>
                </a:r>
                <a:r>
                  <a:rPr lang="en-IN" sz="4400" b="1" dirty="0">
                    <a:solidFill>
                      <a:srgbClr val="FF0000"/>
                    </a:solidFill>
                  </a:rPr>
                  <a:t>+ [ </a:t>
                </a:r>
                <a:r>
                  <a:rPr lang="en-IN" sz="4400" b="1" dirty="0" err="1">
                    <a:solidFill>
                      <a:srgbClr val="FF0000"/>
                    </a:solidFill>
                  </a:rPr>
                  <a:t>V</a:t>
                </a:r>
                <a:r>
                  <a:rPr lang="en-IN" sz="4400" b="1" baseline="-25000" dirty="0" err="1">
                    <a:solidFill>
                      <a:srgbClr val="FF0000"/>
                    </a:solidFill>
                  </a:rPr>
                  <a:t>initial</a:t>
                </a:r>
                <a:r>
                  <a:rPr lang="en-IN" sz="4400" b="1" dirty="0">
                    <a:solidFill>
                      <a:srgbClr val="FF0000"/>
                    </a:solidFill>
                  </a:rPr>
                  <a:t> – </a:t>
                </a:r>
                <a:r>
                  <a:rPr lang="en-IN" sz="4400" b="1" dirty="0" err="1">
                    <a:solidFill>
                      <a:srgbClr val="FF0000"/>
                    </a:solidFill>
                  </a:rPr>
                  <a:t>V</a:t>
                </a:r>
                <a:r>
                  <a:rPr lang="en-IN" sz="4400" b="1" baseline="-25000" dirty="0" err="1">
                    <a:solidFill>
                      <a:srgbClr val="FF0000"/>
                    </a:solidFill>
                  </a:rPr>
                  <a:t>final</a:t>
                </a:r>
                <a:r>
                  <a:rPr lang="en-IN" sz="4400" b="1" dirty="0">
                    <a:solidFill>
                      <a:srgbClr val="FF0000"/>
                    </a:solidFill>
                  </a:rPr>
                  <a:t> ] </a:t>
                </a:r>
                <a14:m>
                  <m:oMath xmlns:m="http://schemas.openxmlformats.org/officeDocument/2006/math">
                    <m:sSup>
                      <m:sSupPr>
                        <m:ctrlPr>
                          <a:rPr lang="en-IN" sz="4400" b="1" i="1" smtClean="0">
                            <a:solidFill>
                              <a:srgbClr val="FF0000"/>
                            </a:solidFill>
                            <a:latin typeface="Cambria Math" panose="02040503050406030204" pitchFamily="18" charset="0"/>
                          </a:rPr>
                        </m:ctrlPr>
                      </m:sSupPr>
                      <m:e>
                        <m:r>
                          <a:rPr lang="en-US" sz="4400" b="1" i="1" smtClean="0">
                            <a:solidFill>
                              <a:srgbClr val="FF0000"/>
                            </a:solidFill>
                            <a:latin typeface="Cambria Math" panose="02040503050406030204" pitchFamily="18" charset="0"/>
                          </a:rPr>
                          <m:t>𝒆</m:t>
                        </m:r>
                      </m:e>
                      <m:sup>
                        <m:r>
                          <m:rPr>
                            <m:nor/>
                          </m:rPr>
                          <a:rPr lang="en-IN" sz="4400" b="1" dirty="0">
                            <a:solidFill>
                              <a:srgbClr val="FF0000"/>
                            </a:solidFill>
                          </a:rPr>
                          <m:t>–</m:t>
                        </m:r>
                        <m:r>
                          <m:rPr>
                            <m:nor/>
                          </m:rPr>
                          <a:rPr lang="en-IN" sz="4400" b="1" dirty="0">
                            <a:solidFill>
                              <a:srgbClr val="FF0000"/>
                            </a:solidFill>
                          </a:rPr>
                          <m:t>t</m:t>
                        </m:r>
                        <m:r>
                          <m:rPr>
                            <m:nor/>
                          </m:rPr>
                          <a:rPr lang="en-IN" sz="4400" b="1" dirty="0">
                            <a:solidFill>
                              <a:srgbClr val="FF0000"/>
                            </a:solidFill>
                          </a:rPr>
                          <m:t>/</m:t>
                        </m:r>
                        <m:r>
                          <m:rPr>
                            <m:nor/>
                          </m:rPr>
                          <a:rPr lang="en-IN" sz="4400" b="1" dirty="0">
                            <a:solidFill>
                              <a:srgbClr val="FF0000"/>
                            </a:solidFill>
                          </a:rPr>
                          <m:t>RC</m:t>
                        </m:r>
                      </m:sup>
                    </m:sSup>
                  </m:oMath>
                </a14:m>
                <a:r>
                  <a:rPr lang="en-IN" sz="4400" b="1" dirty="0">
                    <a:solidFill>
                      <a:srgbClr val="FF0000"/>
                    </a:solidFill>
                  </a:rPr>
                  <a:t> </a:t>
                </a:r>
                <a:br>
                  <a:rPr lang="en-IN" sz="4400" b="1" dirty="0">
                    <a:solidFill>
                      <a:srgbClr val="FF0000"/>
                    </a:solidFill>
                  </a:rPr>
                </a:br>
                <a:endParaRPr lang="en-IN" dirty="0"/>
              </a:p>
            </p:txBody>
          </p:sp>
        </mc:Choice>
        <mc:Fallback xmlns="">
          <p:sp>
            <p:nvSpPr>
              <p:cNvPr id="2" name="Title 1">
                <a:extLst>
                  <a:ext uri="{FF2B5EF4-FFF2-40B4-BE49-F238E27FC236}">
                    <a16:creationId xmlns:a16="http://schemas.microsoft.com/office/drawing/2014/main" id="{2AF921F3-6BD1-2987-A405-D47F7E9FAFF2}"/>
                  </a:ext>
                </a:extLst>
              </p:cNvPr>
              <p:cNvSpPr>
                <a:spLocks noGrp="1" noRot="1" noChangeAspect="1" noMove="1" noResize="1" noEditPoints="1" noAdjustHandles="1" noChangeArrowheads="1" noChangeShapeType="1" noTextEdit="1"/>
              </p:cNvSpPr>
              <p:nvPr>
                <p:ph type="title"/>
              </p:nvPr>
            </p:nvSpPr>
            <p:spPr>
              <a:blipFill>
                <a:blip r:embed="rId2"/>
                <a:stretch>
                  <a:fillRect l="-2087" t="-27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2B97BCC-27C4-C840-B7D7-E17748B24A56}"/>
                  </a:ext>
                </a:extLst>
              </p:cNvPr>
              <p:cNvSpPr>
                <a:spLocks noGrp="1"/>
              </p:cNvSpPr>
              <p:nvPr>
                <p:ph idx="1"/>
              </p:nvPr>
            </p:nvSpPr>
            <p:spPr>
              <a:xfrm>
                <a:off x="740545" y="1381741"/>
                <a:ext cx="11128900" cy="4351338"/>
              </a:xfrm>
            </p:spPr>
            <p:txBody>
              <a:bodyPr>
                <a:noAutofit/>
              </a:bodyPr>
              <a:lstStyle/>
              <a:p>
                <a:pPr marL="0" indent="0" algn="just">
                  <a:buNone/>
                </a:pPr>
                <a:r>
                  <a:rPr lang="en-IN" sz="3600" dirty="0" err="1"/>
                  <a:t>V</a:t>
                </a:r>
                <a:r>
                  <a:rPr lang="en-IN" sz="3600" baseline="-25000" dirty="0" err="1"/>
                  <a:t>final</a:t>
                </a:r>
                <a:r>
                  <a:rPr lang="en-IN" sz="3600" baseline="-25000" dirty="0"/>
                  <a:t> </a:t>
                </a:r>
                <a:r>
                  <a:rPr lang="en-IN" sz="3600" dirty="0"/>
                  <a:t> = -</a:t>
                </a:r>
                <a:r>
                  <a:rPr lang="en-IN" sz="3600" dirty="0" err="1"/>
                  <a:t>V</a:t>
                </a:r>
                <a:r>
                  <a:rPr lang="en-IN" sz="3600" baseline="-25000" dirty="0" err="1"/>
                  <a:t>sat</a:t>
                </a:r>
                <a:r>
                  <a:rPr lang="en-IN" sz="3600" dirty="0"/>
                  <a:t> </a:t>
                </a:r>
              </a:p>
              <a:p>
                <a:pPr marL="0" indent="0" algn="just">
                  <a:buNone/>
                </a:pPr>
                <a:r>
                  <a:rPr lang="en-IN" sz="3600" dirty="0" err="1"/>
                  <a:t>V</a:t>
                </a:r>
                <a:r>
                  <a:rPr lang="en-IN" sz="3600" baseline="-25000" dirty="0" err="1"/>
                  <a:t>initial</a:t>
                </a:r>
                <a:r>
                  <a:rPr lang="en-IN" sz="3600" baseline="-25000" dirty="0"/>
                  <a:t> </a:t>
                </a:r>
                <a:r>
                  <a:rPr lang="en-IN" sz="3600" dirty="0"/>
                  <a:t> = 0 V</a:t>
                </a:r>
              </a:p>
              <a:p>
                <a:pPr algn="just"/>
                <a:r>
                  <a:rPr lang="en-IN" sz="3600" dirty="0"/>
                  <a:t>We need to find time T required to reach -</a:t>
                </a:r>
                <a:r>
                  <a:rPr lang="el-GR" sz="3600" dirty="0"/>
                  <a:t>β</a:t>
                </a:r>
                <a:r>
                  <a:rPr lang="en-IN" sz="3600" dirty="0" err="1"/>
                  <a:t>V</a:t>
                </a:r>
                <a:r>
                  <a:rPr lang="en-IN" sz="3600" baseline="-25000" dirty="0" err="1"/>
                  <a:t>sat</a:t>
                </a:r>
                <a:r>
                  <a:rPr lang="en-IN" sz="3600" dirty="0"/>
                  <a:t> from 0.</a:t>
                </a:r>
              </a:p>
              <a:p>
                <a:pPr algn="just"/>
                <a:endParaRPr lang="en-IN" sz="3600" dirty="0"/>
              </a:p>
              <a:p>
                <a:pPr marL="0" indent="0" algn="just">
                  <a:buNone/>
                </a:pPr>
                <a:r>
                  <a:rPr lang="en-IN" sz="3600" dirty="0">
                    <a:solidFill>
                      <a:schemeClr val="tx1"/>
                    </a:solidFill>
                  </a:rPr>
                  <a:t>V</a:t>
                </a:r>
                <a:r>
                  <a:rPr lang="en-IN" sz="3600" baseline="-25000" dirty="0" err="1">
                    <a:solidFill>
                      <a:schemeClr val="tx1"/>
                    </a:solidFill>
                  </a:rPr>
                  <a:t>c</a:t>
                </a:r>
                <a:r>
                  <a:rPr lang="en-IN" sz="3600" dirty="0">
                    <a:solidFill>
                      <a:schemeClr val="tx1"/>
                    </a:solidFill>
                  </a:rPr>
                  <a:t>(T) = -</a:t>
                </a:r>
                <a:r>
                  <a:rPr lang="en-IN" sz="3600" dirty="0" err="1">
                    <a:solidFill>
                      <a:schemeClr val="tx1"/>
                    </a:solidFill>
                  </a:rPr>
                  <a:t>V</a:t>
                </a:r>
                <a:r>
                  <a:rPr lang="en-IN" sz="3600" baseline="-25000" dirty="0" err="1">
                    <a:solidFill>
                      <a:schemeClr val="tx1"/>
                    </a:solidFill>
                  </a:rPr>
                  <a:t>sat</a:t>
                </a:r>
                <a:r>
                  <a:rPr lang="en-IN" sz="3600" baseline="-25000" dirty="0">
                    <a:solidFill>
                      <a:schemeClr val="tx1"/>
                    </a:solidFill>
                  </a:rPr>
                  <a:t> </a:t>
                </a:r>
                <a:r>
                  <a:rPr lang="en-IN" sz="3600" dirty="0">
                    <a:solidFill>
                      <a:schemeClr val="tx1"/>
                    </a:solidFill>
                  </a:rPr>
                  <a:t>+ [ 0 + </a:t>
                </a:r>
                <a:r>
                  <a:rPr lang="en-IN" sz="3600" dirty="0" err="1">
                    <a:solidFill>
                      <a:schemeClr val="tx1"/>
                    </a:solidFill>
                  </a:rPr>
                  <a:t>V</a:t>
                </a:r>
                <a:r>
                  <a:rPr lang="en-IN" sz="3600" baseline="-25000" dirty="0" err="1">
                    <a:solidFill>
                      <a:schemeClr val="tx1"/>
                    </a:solidFill>
                  </a:rPr>
                  <a:t>sat</a:t>
                </a:r>
                <a:r>
                  <a:rPr lang="en-IN" sz="3600" dirty="0">
                    <a:solidFill>
                      <a:schemeClr val="tx1"/>
                    </a:solidFill>
                  </a:rPr>
                  <a:t>  ] </a:t>
                </a:r>
                <a14:m>
                  <m:oMath xmlns:m="http://schemas.openxmlformats.org/officeDocument/2006/math">
                    <m:sSup>
                      <m:sSupPr>
                        <m:ctrlPr>
                          <a:rPr lang="en-IN" sz="360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𝑒</m:t>
                        </m:r>
                      </m:e>
                      <m:sup>
                        <m:r>
                          <m:rPr>
                            <m:nor/>
                          </m:rPr>
                          <a:rPr lang="en-IN" sz="3600" dirty="0">
                            <a:solidFill>
                              <a:schemeClr val="tx1"/>
                            </a:solidFill>
                          </a:rPr>
                          <m:t>–</m:t>
                        </m:r>
                        <m:r>
                          <m:rPr>
                            <m:nor/>
                          </m:rPr>
                          <a:rPr lang="en-US" sz="3600" i="0" dirty="0" smtClean="0">
                            <a:solidFill>
                              <a:schemeClr val="tx1"/>
                            </a:solidFill>
                          </a:rPr>
                          <m:t>T</m:t>
                        </m:r>
                        <m:r>
                          <m:rPr>
                            <m:nor/>
                          </m:rPr>
                          <a:rPr lang="en-IN" sz="3600" dirty="0">
                            <a:solidFill>
                              <a:schemeClr val="tx1"/>
                            </a:solidFill>
                          </a:rPr>
                          <m:t>/</m:t>
                        </m:r>
                        <m:r>
                          <m:rPr>
                            <m:nor/>
                          </m:rPr>
                          <a:rPr lang="en-IN" sz="3600" dirty="0">
                            <a:solidFill>
                              <a:schemeClr val="tx1"/>
                            </a:solidFill>
                          </a:rPr>
                          <m:t>RC</m:t>
                        </m:r>
                      </m:sup>
                    </m:sSup>
                  </m:oMath>
                </a14:m>
                <a:endParaRPr lang="en-IN" sz="3600" dirty="0"/>
              </a:p>
              <a:p>
                <a:pPr marL="0" indent="0" algn="just">
                  <a:buNone/>
                </a:pPr>
                <a:r>
                  <a:rPr lang="en-IN" sz="3600" dirty="0"/>
                  <a:t>-</a:t>
                </a:r>
                <a:r>
                  <a:rPr lang="el-GR" sz="3600" dirty="0"/>
                  <a:t>β</a:t>
                </a:r>
                <a:r>
                  <a:rPr lang="en-IN" sz="3600" dirty="0" err="1"/>
                  <a:t>V</a:t>
                </a:r>
                <a:r>
                  <a:rPr lang="en-IN" sz="3600" baseline="-25000" dirty="0" err="1"/>
                  <a:t>sat</a:t>
                </a:r>
                <a:r>
                  <a:rPr lang="en-IN" sz="3600" baseline="-25000" dirty="0"/>
                  <a:t> </a:t>
                </a:r>
                <a:r>
                  <a:rPr lang="en-IN" sz="3600" dirty="0"/>
                  <a:t>= </a:t>
                </a:r>
                <a:r>
                  <a:rPr lang="en-IN" sz="3600" dirty="0" err="1">
                    <a:solidFill>
                      <a:schemeClr val="tx1"/>
                    </a:solidFill>
                  </a:rPr>
                  <a:t>V</a:t>
                </a:r>
                <a:r>
                  <a:rPr lang="en-IN" sz="3600" baseline="-25000" dirty="0" err="1">
                    <a:solidFill>
                      <a:schemeClr val="tx1"/>
                    </a:solidFill>
                  </a:rPr>
                  <a:t>sat</a:t>
                </a:r>
                <a:r>
                  <a:rPr lang="en-IN" sz="3600" baseline="-25000" dirty="0">
                    <a:solidFill>
                      <a:schemeClr val="tx1"/>
                    </a:solidFill>
                  </a:rPr>
                  <a:t> </a:t>
                </a:r>
                <a:r>
                  <a:rPr lang="en-IN" sz="3600" dirty="0">
                    <a:solidFill>
                      <a:schemeClr val="tx1"/>
                    </a:solidFill>
                  </a:rPr>
                  <a:t>[</a:t>
                </a:r>
                <a14:m>
                  <m:oMath xmlns:m="http://schemas.openxmlformats.org/officeDocument/2006/math">
                    <m:sSup>
                      <m:sSupPr>
                        <m:ctrlPr>
                          <a:rPr lang="en-IN" sz="360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𝑒</m:t>
                        </m:r>
                      </m:e>
                      <m:sup>
                        <m:r>
                          <m:rPr>
                            <m:nor/>
                          </m:rPr>
                          <a:rPr lang="en-IN" sz="3600" dirty="0">
                            <a:solidFill>
                              <a:schemeClr val="tx1"/>
                            </a:solidFill>
                          </a:rPr>
                          <m:t>–</m:t>
                        </m:r>
                        <m:r>
                          <m:rPr>
                            <m:nor/>
                          </m:rPr>
                          <a:rPr lang="en-US" sz="3600" i="0" dirty="0" smtClean="0">
                            <a:solidFill>
                              <a:schemeClr val="tx1"/>
                            </a:solidFill>
                          </a:rPr>
                          <m:t>T</m:t>
                        </m:r>
                        <m:r>
                          <m:rPr>
                            <m:nor/>
                          </m:rPr>
                          <a:rPr lang="en-IN" sz="3600" dirty="0">
                            <a:solidFill>
                              <a:schemeClr val="tx1"/>
                            </a:solidFill>
                          </a:rPr>
                          <m:t>/</m:t>
                        </m:r>
                        <m:r>
                          <m:rPr>
                            <m:nor/>
                          </m:rPr>
                          <a:rPr lang="en-IN" sz="3600" dirty="0">
                            <a:solidFill>
                              <a:schemeClr val="tx1"/>
                            </a:solidFill>
                          </a:rPr>
                          <m:t>RC</m:t>
                        </m:r>
                      </m:sup>
                    </m:sSup>
                  </m:oMath>
                </a14:m>
                <a:r>
                  <a:rPr lang="en-IN" sz="3600" dirty="0"/>
                  <a:t> -1]</a:t>
                </a:r>
              </a:p>
              <a:p>
                <a:pPr marL="0" indent="0" algn="just">
                  <a:buNone/>
                </a:pPr>
                <a:r>
                  <a:rPr lang="en-IN" sz="3600" dirty="0"/>
                  <a:t>1-</a:t>
                </a:r>
                <a:r>
                  <a:rPr lang="el-GR" sz="3600" dirty="0"/>
                  <a:t> β</a:t>
                </a:r>
                <a:r>
                  <a:rPr lang="en-US" sz="3600" dirty="0"/>
                  <a:t> = </a:t>
                </a:r>
                <a14:m>
                  <m:oMath xmlns:m="http://schemas.openxmlformats.org/officeDocument/2006/math">
                    <m:sSup>
                      <m:sSupPr>
                        <m:ctrlPr>
                          <a:rPr lang="en-IN" sz="360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𝑒</m:t>
                        </m:r>
                      </m:e>
                      <m:sup>
                        <m:r>
                          <m:rPr>
                            <m:nor/>
                          </m:rPr>
                          <a:rPr lang="en-IN" sz="3600" dirty="0">
                            <a:solidFill>
                              <a:schemeClr val="tx1"/>
                            </a:solidFill>
                          </a:rPr>
                          <m:t>–</m:t>
                        </m:r>
                        <m:r>
                          <m:rPr>
                            <m:nor/>
                          </m:rPr>
                          <a:rPr lang="en-US" sz="3600" i="0" dirty="0" smtClean="0">
                            <a:solidFill>
                              <a:schemeClr val="tx1"/>
                            </a:solidFill>
                          </a:rPr>
                          <m:t>T</m:t>
                        </m:r>
                        <m:r>
                          <m:rPr>
                            <m:nor/>
                          </m:rPr>
                          <a:rPr lang="en-IN" sz="3600" dirty="0">
                            <a:solidFill>
                              <a:schemeClr val="tx1"/>
                            </a:solidFill>
                          </a:rPr>
                          <m:t>/</m:t>
                        </m:r>
                        <m:r>
                          <m:rPr>
                            <m:nor/>
                          </m:rPr>
                          <a:rPr lang="en-IN" sz="3600" dirty="0">
                            <a:solidFill>
                              <a:schemeClr val="tx1"/>
                            </a:solidFill>
                          </a:rPr>
                          <m:t>RC</m:t>
                        </m:r>
                      </m:sup>
                    </m:sSup>
                  </m:oMath>
                </a14:m>
                <a:endParaRPr lang="en-IN" sz="3600" dirty="0"/>
              </a:p>
              <a:p>
                <a:pPr algn="just"/>
                <a:endParaRPr lang="en-IN" sz="3600" dirty="0"/>
              </a:p>
              <a:p>
                <a:pPr algn="just"/>
                <a:endParaRPr lang="en-IN" sz="3600" dirty="0"/>
              </a:p>
            </p:txBody>
          </p:sp>
        </mc:Choice>
        <mc:Fallback xmlns="">
          <p:sp>
            <p:nvSpPr>
              <p:cNvPr id="5" name="Content Placeholder 4">
                <a:extLst>
                  <a:ext uri="{FF2B5EF4-FFF2-40B4-BE49-F238E27FC236}">
                    <a16:creationId xmlns:a16="http://schemas.microsoft.com/office/drawing/2014/main" id="{D2B97BCC-27C4-C840-B7D7-E17748B24A56}"/>
                  </a:ext>
                </a:extLst>
              </p:cNvPr>
              <p:cNvSpPr>
                <a:spLocks noGrp="1" noRot="1" noChangeAspect="1" noMove="1" noResize="1" noEditPoints="1" noAdjustHandles="1" noChangeArrowheads="1" noChangeShapeType="1" noTextEdit="1"/>
              </p:cNvSpPr>
              <p:nvPr>
                <p:ph idx="1"/>
              </p:nvPr>
            </p:nvSpPr>
            <p:spPr>
              <a:xfrm>
                <a:off x="740545" y="1381741"/>
                <a:ext cx="11128900" cy="4351338"/>
              </a:xfrm>
              <a:blipFill>
                <a:blip r:embed="rId3"/>
                <a:stretch>
                  <a:fillRect l="-1643" t="-3506" b="-11781"/>
                </a:stretch>
              </a:blipFill>
            </p:spPr>
            <p:txBody>
              <a:bodyPr/>
              <a:lstStyle/>
              <a:p>
                <a:r>
                  <a:rPr lang="en-IN">
                    <a:noFill/>
                  </a:rPr>
                  <a:t> </a:t>
                </a:r>
              </a:p>
            </p:txBody>
          </p:sp>
        </mc:Fallback>
      </mc:AlternateContent>
    </p:spTree>
    <p:extLst>
      <p:ext uri="{BB962C8B-B14F-4D97-AF65-F5344CB8AC3E}">
        <p14:creationId xmlns:p14="http://schemas.microsoft.com/office/powerpoint/2010/main" val="2984803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063D5A8-8BFE-8872-6290-5126DCB22821}"/>
                  </a:ext>
                </a:extLst>
              </p:cNvPr>
              <p:cNvSpPr>
                <a:spLocks noGrp="1"/>
              </p:cNvSpPr>
              <p:nvPr>
                <p:ph type="title"/>
              </p:nvPr>
            </p:nvSpPr>
            <p:spPr/>
            <p:txBody>
              <a:bodyPr>
                <a:noAutofit/>
              </a:bodyPr>
              <a:lstStyle/>
              <a:p>
                <a:pPr algn="ctr"/>
                <a:r>
                  <a:rPr lang="en-US" sz="6000" b="1" dirty="0">
                    <a:solidFill>
                      <a:srgbClr val="FF0000"/>
                    </a:solidFill>
                    <a:latin typeface="+mn-lt"/>
                  </a:rPr>
                  <a:t>T = RC ln(</a:t>
                </a:r>
                <a14:m>
                  <m:oMath xmlns:m="http://schemas.openxmlformats.org/officeDocument/2006/math">
                    <m:f>
                      <m:fPr>
                        <m:ctrlPr>
                          <a:rPr lang="en-US" sz="6000" b="1" i="1" smtClean="0">
                            <a:solidFill>
                              <a:srgbClr val="FF0000"/>
                            </a:solidFill>
                            <a:latin typeface="Cambria Math" panose="02040503050406030204" pitchFamily="18" charset="0"/>
                          </a:rPr>
                        </m:ctrlPr>
                      </m:fPr>
                      <m:num>
                        <m:r>
                          <m:rPr>
                            <m:nor/>
                          </m:rPr>
                          <a:rPr lang="en-US" sz="6000" b="1" i="0" smtClean="0">
                            <a:solidFill>
                              <a:srgbClr val="FF0000"/>
                            </a:solidFill>
                            <a:latin typeface="+mn-lt"/>
                          </a:rPr>
                          <m:t>1</m:t>
                        </m:r>
                      </m:num>
                      <m:den>
                        <m:r>
                          <m:rPr>
                            <m:nor/>
                          </m:rPr>
                          <a:rPr lang="en-US" sz="6000" b="1" i="0" dirty="0" smtClean="0">
                            <a:solidFill>
                              <a:srgbClr val="FF0000"/>
                            </a:solidFill>
                            <a:latin typeface="+mn-lt"/>
                          </a:rPr>
                          <m:t>1−</m:t>
                        </m:r>
                        <m:r>
                          <a:rPr lang="el-GR" sz="6000" b="1" i="1" dirty="0" smtClean="0">
                            <a:solidFill>
                              <a:srgbClr val="FF0000"/>
                            </a:solidFill>
                            <a:latin typeface="Cambria Math" panose="02040503050406030204" pitchFamily="18" charset="0"/>
                          </a:rPr>
                          <m:t>𝜷</m:t>
                        </m:r>
                      </m:den>
                    </m:f>
                  </m:oMath>
                </a14:m>
                <a:r>
                  <a:rPr lang="en-US" sz="6000" b="1" dirty="0">
                    <a:solidFill>
                      <a:srgbClr val="FF0000"/>
                    </a:solidFill>
                    <a:latin typeface="+mn-lt"/>
                  </a:rPr>
                  <a:t>) </a:t>
                </a:r>
                <a:endParaRPr lang="en-IN" sz="6000" b="1" dirty="0">
                  <a:solidFill>
                    <a:srgbClr val="FF0000"/>
                  </a:solidFill>
                  <a:latin typeface="+mn-lt"/>
                </a:endParaRPr>
              </a:p>
            </p:txBody>
          </p:sp>
        </mc:Choice>
        <mc:Fallback xmlns="">
          <p:sp>
            <p:nvSpPr>
              <p:cNvPr id="2" name="Title 1">
                <a:extLst>
                  <a:ext uri="{FF2B5EF4-FFF2-40B4-BE49-F238E27FC236}">
                    <a16:creationId xmlns:a16="http://schemas.microsoft.com/office/drawing/2014/main" id="{9063D5A8-8BFE-8872-6290-5126DCB22821}"/>
                  </a:ext>
                </a:extLst>
              </p:cNvPr>
              <p:cNvSpPr>
                <a:spLocks noGrp="1" noRot="1" noChangeAspect="1" noMove="1" noResize="1" noEditPoints="1" noAdjustHandles="1" noChangeArrowheads="1" noChangeShapeType="1" noTextEdit="1"/>
              </p:cNvSpPr>
              <p:nvPr>
                <p:ph type="title"/>
              </p:nvPr>
            </p:nvSpPr>
            <p:spPr>
              <a:blipFill>
                <a:blip r:embed="rId2"/>
                <a:stretch>
                  <a:fillRect t="-5069" b="-161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AA5A53-2048-A1B1-263C-B37252D1A1D7}"/>
                  </a:ext>
                </a:extLst>
              </p:cNvPr>
              <p:cNvSpPr>
                <a:spLocks noGrp="1"/>
              </p:cNvSpPr>
              <p:nvPr>
                <p:ph idx="1"/>
              </p:nvPr>
            </p:nvSpPr>
            <p:spPr/>
            <p:txBody>
              <a:bodyPr>
                <a:normAutofit/>
              </a:bodyPr>
              <a:lstStyle/>
              <a:p>
                <a:r>
                  <a:rPr lang="en-US" sz="4000" dirty="0"/>
                  <a:t>If R</a:t>
                </a:r>
                <a:r>
                  <a:rPr lang="en-US" sz="4000" baseline="-25000" dirty="0"/>
                  <a:t>1</a:t>
                </a:r>
                <a:r>
                  <a:rPr lang="en-US" sz="4000" dirty="0"/>
                  <a:t>=R</a:t>
                </a:r>
                <a:r>
                  <a:rPr lang="en-US" sz="4000" baseline="-25000" dirty="0"/>
                  <a:t>2</a:t>
                </a:r>
                <a:r>
                  <a:rPr lang="en-US" sz="4000" dirty="0"/>
                  <a:t>, T=0.693RC</a:t>
                </a:r>
              </a:p>
              <a:p>
                <a:pPr marL="0" indent="0">
                  <a:buNone/>
                </a:pPr>
                <a:endParaRPr lang="en-US" sz="4000" dirty="0"/>
              </a:p>
              <a:p>
                <a:r>
                  <a:rPr lang="en-US" sz="4000" dirty="0"/>
                  <a:t>If drop across diode = V</a:t>
                </a:r>
                <a:r>
                  <a:rPr lang="en-US" sz="4000" baseline="-25000" dirty="0"/>
                  <a:t>D</a:t>
                </a:r>
                <a:r>
                  <a:rPr lang="en-US" sz="4000" dirty="0"/>
                  <a:t>, then </a:t>
                </a:r>
                <a:r>
                  <a:rPr lang="en-IN" sz="4000" b="1" dirty="0" err="1"/>
                  <a:t>V</a:t>
                </a:r>
                <a:r>
                  <a:rPr lang="en-IN" sz="4000" b="1" baseline="-25000" dirty="0" err="1"/>
                  <a:t>initial</a:t>
                </a:r>
                <a:r>
                  <a:rPr lang="en-IN" sz="4000" b="1" dirty="0"/>
                  <a:t> = V</a:t>
                </a:r>
                <a:r>
                  <a:rPr lang="en-IN" sz="4000" b="1" baseline="-25000" dirty="0"/>
                  <a:t>D</a:t>
                </a:r>
                <a:r>
                  <a:rPr lang="en-IN" sz="4000" b="1" dirty="0"/>
                  <a:t>.</a:t>
                </a:r>
              </a:p>
              <a:p>
                <a:pPr marL="0" indent="0" algn="ctr">
                  <a:buNone/>
                </a:pPr>
                <a:r>
                  <a:rPr lang="en-US" sz="4000" dirty="0"/>
                  <a:t> </a:t>
                </a:r>
                <a:r>
                  <a:rPr lang="en-US" sz="5000" b="1" dirty="0">
                    <a:solidFill>
                      <a:srgbClr val="FF0000"/>
                    </a:solidFill>
                  </a:rPr>
                  <a:t>T = RC ln(</a:t>
                </a:r>
                <a14:m>
                  <m:oMath xmlns:m="http://schemas.openxmlformats.org/officeDocument/2006/math">
                    <m:f>
                      <m:fPr>
                        <m:ctrlPr>
                          <a:rPr lang="en-US" sz="5000" b="1" i="1" smtClean="0">
                            <a:solidFill>
                              <a:srgbClr val="FF0000"/>
                            </a:solidFill>
                            <a:latin typeface="Cambria Math" panose="02040503050406030204" pitchFamily="18" charset="0"/>
                          </a:rPr>
                        </m:ctrlPr>
                      </m:fPr>
                      <m:num>
                        <m:r>
                          <m:rPr>
                            <m:nor/>
                          </m:rPr>
                          <a:rPr lang="en-US" sz="5000" b="1" i="0" smtClean="0">
                            <a:solidFill>
                              <a:srgbClr val="FF0000"/>
                            </a:solidFill>
                          </a:rPr>
                          <m:t>1+</m:t>
                        </m:r>
                        <m:f>
                          <m:fPr>
                            <m:ctrlPr>
                              <a:rPr lang="en-US" sz="5000" b="1" i="1" smtClean="0">
                                <a:solidFill>
                                  <a:srgbClr val="FF0000"/>
                                </a:solidFill>
                                <a:latin typeface="Cambria Math" panose="02040503050406030204" pitchFamily="18" charset="0"/>
                              </a:rPr>
                            </m:ctrlPr>
                          </m:fPr>
                          <m:num>
                            <m:r>
                              <m:rPr>
                                <m:nor/>
                              </m:rPr>
                              <a:rPr lang="en-IN" sz="5000" b="1" dirty="0">
                                <a:solidFill>
                                  <a:srgbClr val="FF0000"/>
                                </a:solidFill>
                              </a:rPr>
                              <m:t>V</m:t>
                            </m:r>
                            <m:r>
                              <m:rPr>
                                <m:nor/>
                              </m:rPr>
                              <a:rPr lang="en-IN" sz="5000" b="1" baseline="-25000" dirty="0">
                                <a:solidFill>
                                  <a:srgbClr val="FF0000"/>
                                </a:solidFill>
                              </a:rPr>
                              <m:t>D</m:t>
                            </m:r>
                          </m:num>
                          <m:den>
                            <m:r>
                              <m:rPr>
                                <m:nor/>
                              </m:rPr>
                              <a:rPr lang="en-IN" sz="5000" b="1" dirty="0">
                                <a:solidFill>
                                  <a:srgbClr val="FF0000"/>
                                </a:solidFill>
                              </a:rPr>
                              <m:t>V</m:t>
                            </m:r>
                            <m:r>
                              <a:rPr lang="en-US" sz="5000" b="1" i="1" baseline="-25000" dirty="0">
                                <a:solidFill>
                                  <a:srgbClr val="FF0000"/>
                                </a:solidFill>
                                <a:latin typeface="Cambria Math" panose="02040503050406030204" pitchFamily="18" charset="0"/>
                              </a:rPr>
                              <m:t>𝒔𝒂𝒕</m:t>
                            </m:r>
                          </m:den>
                        </m:f>
                      </m:num>
                      <m:den>
                        <m:r>
                          <m:rPr>
                            <m:nor/>
                          </m:rPr>
                          <a:rPr lang="en-US" sz="5000" b="1" i="0" dirty="0" smtClean="0">
                            <a:solidFill>
                              <a:srgbClr val="FF0000"/>
                            </a:solidFill>
                          </a:rPr>
                          <m:t>1−</m:t>
                        </m:r>
                        <m:r>
                          <a:rPr lang="el-GR" sz="5000" b="1" i="1" dirty="0" smtClean="0">
                            <a:solidFill>
                              <a:srgbClr val="FF0000"/>
                            </a:solidFill>
                            <a:latin typeface="Cambria Math" panose="02040503050406030204" pitchFamily="18" charset="0"/>
                          </a:rPr>
                          <m:t>𝜷</m:t>
                        </m:r>
                      </m:den>
                    </m:f>
                  </m:oMath>
                </a14:m>
                <a:r>
                  <a:rPr lang="en-US" sz="5000" b="1" dirty="0">
                    <a:solidFill>
                      <a:srgbClr val="FF0000"/>
                    </a:solidFill>
                  </a:rPr>
                  <a:t>)</a:t>
                </a:r>
                <a:endParaRPr lang="en-IN" sz="5000" dirty="0"/>
              </a:p>
            </p:txBody>
          </p:sp>
        </mc:Choice>
        <mc:Fallback xmlns="">
          <p:sp>
            <p:nvSpPr>
              <p:cNvPr id="3" name="Content Placeholder 2">
                <a:extLst>
                  <a:ext uri="{FF2B5EF4-FFF2-40B4-BE49-F238E27FC236}">
                    <a16:creationId xmlns:a16="http://schemas.microsoft.com/office/drawing/2014/main" id="{C4AA5A53-2048-A1B1-263C-B37252D1A1D7}"/>
                  </a:ext>
                </a:extLst>
              </p:cNvPr>
              <p:cNvSpPr>
                <a:spLocks noGrp="1" noRot="1" noChangeAspect="1" noMove="1" noResize="1" noEditPoints="1" noAdjustHandles="1" noChangeArrowheads="1" noChangeShapeType="1" noTextEdit="1"/>
              </p:cNvSpPr>
              <p:nvPr>
                <p:ph idx="1"/>
              </p:nvPr>
            </p:nvSpPr>
            <p:spPr>
              <a:blipFill>
                <a:blip r:embed="rId3"/>
                <a:stretch>
                  <a:fillRect l="-1855" t="-3922"/>
                </a:stretch>
              </a:blipFill>
            </p:spPr>
            <p:txBody>
              <a:bodyPr/>
              <a:lstStyle/>
              <a:p>
                <a:r>
                  <a:rPr lang="en-IN">
                    <a:noFill/>
                  </a:rPr>
                  <a:t> </a:t>
                </a:r>
              </a:p>
            </p:txBody>
          </p:sp>
        </mc:Fallback>
      </mc:AlternateContent>
    </p:spTree>
    <p:extLst>
      <p:ext uri="{BB962C8B-B14F-4D97-AF65-F5344CB8AC3E}">
        <p14:creationId xmlns:p14="http://schemas.microsoft.com/office/powerpoint/2010/main" val="1423241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BB34B7-CD17-53BE-525E-23FB96C4E082}"/>
                  </a:ext>
                </a:extLst>
              </p:cNvPr>
              <p:cNvSpPr>
                <a:spLocks noGrp="1"/>
              </p:cNvSpPr>
              <p:nvPr>
                <p:ph idx="1"/>
              </p:nvPr>
            </p:nvSpPr>
            <p:spPr>
              <a:xfrm>
                <a:off x="838200" y="680405"/>
                <a:ext cx="10515600" cy="5791416"/>
              </a:xfrm>
            </p:spPr>
            <p:txBody>
              <a:bodyPr>
                <a:normAutofit/>
              </a:bodyPr>
              <a:lstStyle/>
              <a:p>
                <a:pPr marL="0" indent="0">
                  <a:buNone/>
                </a:pPr>
                <a:r>
                  <a:rPr lang="en-US" sz="3600" dirty="0"/>
                  <a:t>1- </a:t>
                </a:r>
                <a14:m>
                  <m:oMath xmlns:m="http://schemas.openxmlformats.org/officeDocument/2006/math">
                    <m:f>
                      <m:fPr>
                        <m:ctrlPr>
                          <a:rPr lang="en-US" sz="3600" i="1" smtClean="0">
                            <a:solidFill>
                              <a:srgbClr val="FF0000"/>
                            </a:solidFill>
                            <a:latin typeface="Cambria Math" panose="02040503050406030204" pitchFamily="18" charset="0"/>
                          </a:rPr>
                        </m:ctrlPr>
                      </m:fPr>
                      <m:num>
                        <m:r>
                          <m:rPr>
                            <m:nor/>
                          </m:rPr>
                          <a:rPr lang="en-US" sz="3600" dirty="0">
                            <a:solidFill>
                              <a:srgbClr val="FF0000"/>
                            </a:solidFill>
                          </a:rPr>
                          <m:t>R</m:t>
                        </m:r>
                        <m:r>
                          <m:rPr>
                            <m:nor/>
                          </m:rPr>
                          <a:rPr lang="en-US" sz="3600" baseline="-25000" dirty="0">
                            <a:solidFill>
                              <a:srgbClr val="FF0000"/>
                            </a:solidFill>
                          </a:rPr>
                          <m:t>2</m:t>
                        </m:r>
                      </m:num>
                      <m:den>
                        <m:r>
                          <m:rPr>
                            <m:nor/>
                          </m:rPr>
                          <a:rPr lang="en-US" sz="3600" dirty="0">
                            <a:solidFill>
                              <a:srgbClr val="FF0000"/>
                            </a:solidFill>
                          </a:rPr>
                          <m:t>R</m:t>
                        </m:r>
                        <m:r>
                          <m:rPr>
                            <m:nor/>
                          </m:rPr>
                          <a:rPr lang="en-US" sz="3600" b="0" i="0" baseline="-25000" dirty="0" smtClean="0">
                            <a:solidFill>
                              <a:srgbClr val="FF0000"/>
                            </a:solidFill>
                          </a:rPr>
                          <m:t>1</m:t>
                        </m:r>
                        <m:r>
                          <m:rPr>
                            <m:nor/>
                          </m:rPr>
                          <a:rPr lang="en-US" sz="3600" b="0" i="0" smtClean="0">
                            <a:solidFill>
                              <a:srgbClr val="FF0000"/>
                            </a:solidFill>
                          </a:rPr>
                          <m:t>+</m:t>
                        </m:r>
                        <m:r>
                          <m:rPr>
                            <m:nor/>
                          </m:rPr>
                          <a:rPr lang="en-US" sz="3600" dirty="0">
                            <a:solidFill>
                              <a:srgbClr val="FF0000"/>
                            </a:solidFill>
                          </a:rPr>
                          <m:t>R</m:t>
                        </m:r>
                        <m:r>
                          <m:rPr>
                            <m:nor/>
                          </m:rPr>
                          <a:rPr lang="en-US" sz="3600" baseline="-25000" dirty="0">
                            <a:solidFill>
                              <a:srgbClr val="FF0000"/>
                            </a:solidFill>
                          </a:rPr>
                          <m:t>2</m:t>
                        </m:r>
                      </m:den>
                    </m:f>
                  </m:oMath>
                </a14:m>
                <a:r>
                  <a:rPr lang="en-US" sz="3600" dirty="0"/>
                  <a:t> = </a:t>
                </a:r>
                <a14:m>
                  <m:oMath xmlns:m="http://schemas.openxmlformats.org/officeDocument/2006/math">
                    <m:sSup>
                      <m:sSupPr>
                        <m:ctrlPr>
                          <a:rPr lang="en-IN" sz="3600" i="1">
                            <a:latin typeface="Cambria Math" panose="02040503050406030204" pitchFamily="18" charset="0"/>
                          </a:rPr>
                        </m:ctrlPr>
                      </m:sSupPr>
                      <m:e>
                        <m:r>
                          <a:rPr lang="en-US" sz="3600" i="1">
                            <a:latin typeface="Cambria Math" panose="02040503050406030204" pitchFamily="18" charset="0"/>
                          </a:rPr>
                          <m:t>𝑒</m:t>
                        </m:r>
                      </m:e>
                      <m:sup>
                        <m:r>
                          <m:rPr>
                            <m:nor/>
                          </m:rPr>
                          <a:rPr lang="en-IN" sz="3600" dirty="0"/>
                          <m:t>–</m:t>
                        </m:r>
                        <m:r>
                          <m:rPr>
                            <m:nor/>
                          </m:rPr>
                          <a:rPr lang="en-US" sz="3600" dirty="0"/>
                          <m:t>T</m:t>
                        </m:r>
                        <m:r>
                          <m:rPr>
                            <m:nor/>
                          </m:rPr>
                          <a:rPr lang="en-IN" sz="3600" dirty="0"/>
                          <m:t>/</m:t>
                        </m:r>
                        <m:r>
                          <m:rPr>
                            <m:nor/>
                          </m:rPr>
                          <a:rPr lang="en-IN" sz="3600" dirty="0"/>
                          <m:t>RC</m:t>
                        </m:r>
                      </m:sup>
                    </m:sSup>
                  </m:oMath>
                </a14:m>
                <a:r>
                  <a:rPr lang="en-US" sz="3600" dirty="0"/>
                  <a:t>    (  from </a:t>
                </a:r>
                <a:r>
                  <a:rPr lang="en-IN" sz="3600" dirty="0"/>
                  <a:t>1-</a:t>
                </a:r>
                <a:r>
                  <a:rPr lang="el-GR" sz="3600" dirty="0"/>
                  <a:t> β</a:t>
                </a:r>
                <a:r>
                  <a:rPr lang="en-US" sz="3600" dirty="0"/>
                  <a:t> = </a:t>
                </a:r>
                <a14:m>
                  <m:oMath xmlns:m="http://schemas.openxmlformats.org/officeDocument/2006/math">
                    <m:sSup>
                      <m:sSupPr>
                        <m:ctrlPr>
                          <a:rPr lang="en-IN" sz="3600" i="1">
                            <a:latin typeface="Cambria Math" panose="02040503050406030204" pitchFamily="18" charset="0"/>
                          </a:rPr>
                        </m:ctrlPr>
                      </m:sSupPr>
                      <m:e>
                        <m:r>
                          <a:rPr lang="en-US" sz="3600" i="1">
                            <a:latin typeface="Cambria Math" panose="02040503050406030204" pitchFamily="18" charset="0"/>
                          </a:rPr>
                          <m:t>𝑒</m:t>
                        </m:r>
                      </m:e>
                      <m:sup>
                        <m:r>
                          <m:rPr>
                            <m:nor/>
                          </m:rPr>
                          <a:rPr lang="en-IN" sz="3600" dirty="0"/>
                          <m:t>–</m:t>
                        </m:r>
                        <m:r>
                          <m:rPr>
                            <m:nor/>
                          </m:rPr>
                          <a:rPr lang="en-US" sz="3600" dirty="0"/>
                          <m:t>T</m:t>
                        </m:r>
                        <m:r>
                          <m:rPr>
                            <m:nor/>
                          </m:rPr>
                          <a:rPr lang="en-IN" sz="3600" dirty="0"/>
                          <m:t>/</m:t>
                        </m:r>
                        <m:r>
                          <m:rPr>
                            <m:nor/>
                          </m:rPr>
                          <a:rPr lang="en-IN" sz="3600" dirty="0"/>
                          <m:t>RC</m:t>
                        </m:r>
                      </m:sup>
                    </m:sSup>
                    <m:r>
                      <a:rPr lang="en-US" sz="3600" b="0" i="1" dirty="0" smtClean="0">
                        <a:latin typeface="Cambria Math" panose="02040503050406030204" pitchFamily="18" charset="0"/>
                      </a:rPr>
                      <m:t> )</m:t>
                    </m:r>
                  </m:oMath>
                </a14:m>
                <a:endParaRPr lang="en-US" sz="3600" dirty="0"/>
              </a:p>
              <a:p>
                <a:pPr marL="0" indent="0">
                  <a:buNone/>
                </a:pPr>
                <a:r>
                  <a:rPr lang="en-US" sz="3600" dirty="0"/>
                  <a:t> </a:t>
                </a:r>
                <a14:m>
                  <m:oMath xmlns:m="http://schemas.openxmlformats.org/officeDocument/2006/math">
                    <m:f>
                      <m:fPr>
                        <m:ctrlPr>
                          <a:rPr lang="en-US" sz="3600" i="1" smtClean="0">
                            <a:solidFill>
                              <a:schemeClr val="tx1"/>
                            </a:solidFill>
                            <a:latin typeface="Cambria Math" panose="02040503050406030204" pitchFamily="18" charset="0"/>
                          </a:rPr>
                        </m:ctrlPr>
                      </m:fPr>
                      <m:num>
                        <m:r>
                          <m:rPr>
                            <m:nor/>
                          </m:rPr>
                          <a:rPr lang="en-US" sz="3600" dirty="0">
                            <a:solidFill>
                              <a:schemeClr val="tx1"/>
                            </a:solidFill>
                          </a:rPr>
                          <m:t>R</m:t>
                        </m:r>
                        <m:r>
                          <a:rPr lang="en-US" sz="3600" b="0" i="1" baseline="-25000" dirty="0" smtClean="0">
                            <a:solidFill>
                              <a:schemeClr val="tx1"/>
                            </a:solidFill>
                            <a:latin typeface="Cambria Math" panose="02040503050406030204" pitchFamily="18" charset="0"/>
                          </a:rPr>
                          <m:t>1</m:t>
                        </m:r>
                      </m:num>
                      <m:den>
                        <m:r>
                          <m:rPr>
                            <m:nor/>
                          </m:rPr>
                          <a:rPr lang="en-US" sz="3600" dirty="0">
                            <a:solidFill>
                              <a:schemeClr val="tx1"/>
                            </a:solidFill>
                          </a:rPr>
                          <m:t>R</m:t>
                        </m:r>
                        <m:r>
                          <m:rPr>
                            <m:nor/>
                          </m:rPr>
                          <a:rPr lang="en-US" sz="3600" b="0" i="0" baseline="-25000" dirty="0" smtClean="0">
                            <a:solidFill>
                              <a:schemeClr val="tx1"/>
                            </a:solidFill>
                          </a:rPr>
                          <m:t>1</m:t>
                        </m:r>
                        <m:r>
                          <m:rPr>
                            <m:nor/>
                          </m:rPr>
                          <a:rPr lang="en-US" sz="3600" b="0" i="0" smtClean="0">
                            <a:solidFill>
                              <a:schemeClr val="tx1"/>
                            </a:solidFill>
                          </a:rPr>
                          <m:t>+</m:t>
                        </m:r>
                        <m:r>
                          <m:rPr>
                            <m:nor/>
                          </m:rPr>
                          <a:rPr lang="en-US" sz="3600" dirty="0">
                            <a:solidFill>
                              <a:schemeClr val="tx1"/>
                            </a:solidFill>
                          </a:rPr>
                          <m:t>R</m:t>
                        </m:r>
                        <m:r>
                          <m:rPr>
                            <m:nor/>
                          </m:rPr>
                          <a:rPr lang="en-US" sz="3600" baseline="-25000" dirty="0">
                            <a:solidFill>
                              <a:schemeClr val="tx1"/>
                            </a:solidFill>
                          </a:rPr>
                          <m:t>2</m:t>
                        </m:r>
                      </m:den>
                    </m:f>
                  </m:oMath>
                </a14:m>
                <a:r>
                  <a:rPr lang="en-US" sz="3600" dirty="0">
                    <a:solidFill>
                      <a:schemeClr val="tx1"/>
                    </a:solidFill>
                  </a:rPr>
                  <a:t> = </a:t>
                </a:r>
                <a14:m>
                  <m:oMath xmlns:m="http://schemas.openxmlformats.org/officeDocument/2006/math">
                    <m:sSup>
                      <m:sSupPr>
                        <m:ctrlPr>
                          <a:rPr lang="en-IN"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𝑒</m:t>
                        </m:r>
                      </m:e>
                      <m:sup>
                        <m:r>
                          <m:rPr>
                            <m:nor/>
                          </m:rPr>
                          <a:rPr lang="en-IN" sz="3600" dirty="0">
                            <a:solidFill>
                              <a:schemeClr val="tx1"/>
                            </a:solidFill>
                          </a:rPr>
                          <m:t>–</m:t>
                        </m:r>
                        <m:r>
                          <m:rPr>
                            <m:nor/>
                          </m:rPr>
                          <a:rPr lang="en-US" sz="3600" dirty="0">
                            <a:solidFill>
                              <a:schemeClr val="tx1"/>
                            </a:solidFill>
                          </a:rPr>
                          <m:t>T</m:t>
                        </m:r>
                        <m:r>
                          <m:rPr>
                            <m:nor/>
                          </m:rPr>
                          <a:rPr lang="en-IN" sz="3600" dirty="0">
                            <a:solidFill>
                              <a:schemeClr val="tx1"/>
                            </a:solidFill>
                          </a:rPr>
                          <m:t>/</m:t>
                        </m:r>
                        <m:r>
                          <m:rPr>
                            <m:nor/>
                          </m:rPr>
                          <a:rPr lang="en-IN" sz="3600" dirty="0">
                            <a:solidFill>
                              <a:schemeClr val="tx1"/>
                            </a:solidFill>
                          </a:rPr>
                          <m:t>RC</m:t>
                        </m:r>
                      </m:sup>
                    </m:sSup>
                  </m:oMath>
                </a14:m>
                <a:endParaRPr lang="en-IN" sz="5000" dirty="0"/>
              </a:p>
              <a:p>
                <a:pPr marL="0" indent="0" algn="ctr">
                  <a:buNone/>
                </a:pPr>
                <a:r>
                  <a:rPr lang="en-IN" sz="5000" b="1" dirty="0">
                    <a:solidFill>
                      <a:srgbClr val="FF0000"/>
                    </a:solidFill>
                  </a:rPr>
                  <a:t>T = -RC ln [</a:t>
                </a:r>
                <a14:m>
                  <m:oMath xmlns:m="http://schemas.openxmlformats.org/officeDocument/2006/math">
                    <m:f>
                      <m:fPr>
                        <m:ctrlPr>
                          <a:rPr lang="en-US" sz="5000" b="1" i="1" smtClean="0">
                            <a:solidFill>
                              <a:srgbClr val="FF0000"/>
                            </a:solidFill>
                            <a:latin typeface="Cambria Math" panose="02040503050406030204" pitchFamily="18" charset="0"/>
                          </a:rPr>
                        </m:ctrlPr>
                      </m:fPr>
                      <m:num>
                        <m:r>
                          <m:rPr>
                            <m:nor/>
                          </m:rPr>
                          <a:rPr lang="en-US" sz="5000" b="1" dirty="0">
                            <a:solidFill>
                              <a:srgbClr val="FF0000"/>
                            </a:solidFill>
                          </a:rPr>
                          <m:t>R</m:t>
                        </m:r>
                        <m:r>
                          <a:rPr lang="en-US" sz="5000" b="1" i="1" baseline="-25000" dirty="0" smtClean="0">
                            <a:solidFill>
                              <a:srgbClr val="FF0000"/>
                            </a:solidFill>
                            <a:latin typeface="Cambria Math" panose="02040503050406030204" pitchFamily="18" charset="0"/>
                          </a:rPr>
                          <m:t>𝟏</m:t>
                        </m:r>
                      </m:num>
                      <m:den>
                        <m:r>
                          <m:rPr>
                            <m:nor/>
                          </m:rPr>
                          <a:rPr lang="en-US" sz="5000" b="1" dirty="0">
                            <a:solidFill>
                              <a:srgbClr val="FF0000"/>
                            </a:solidFill>
                          </a:rPr>
                          <m:t>R</m:t>
                        </m:r>
                        <m:r>
                          <m:rPr>
                            <m:nor/>
                          </m:rPr>
                          <a:rPr lang="en-US" sz="5000" b="1" i="0" baseline="-25000" dirty="0" smtClean="0">
                            <a:solidFill>
                              <a:srgbClr val="FF0000"/>
                            </a:solidFill>
                          </a:rPr>
                          <m:t>1</m:t>
                        </m:r>
                        <m:r>
                          <m:rPr>
                            <m:nor/>
                          </m:rPr>
                          <a:rPr lang="en-US" sz="5000" b="1" i="0" smtClean="0">
                            <a:solidFill>
                              <a:srgbClr val="FF0000"/>
                            </a:solidFill>
                          </a:rPr>
                          <m:t>+</m:t>
                        </m:r>
                        <m:r>
                          <m:rPr>
                            <m:nor/>
                          </m:rPr>
                          <a:rPr lang="en-US" sz="5000" b="1" dirty="0">
                            <a:solidFill>
                              <a:srgbClr val="FF0000"/>
                            </a:solidFill>
                          </a:rPr>
                          <m:t>R</m:t>
                        </m:r>
                        <m:r>
                          <m:rPr>
                            <m:nor/>
                          </m:rPr>
                          <a:rPr lang="en-US" sz="5000" b="1" baseline="-25000" dirty="0">
                            <a:solidFill>
                              <a:srgbClr val="FF0000"/>
                            </a:solidFill>
                          </a:rPr>
                          <m:t>2</m:t>
                        </m:r>
                      </m:den>
                    </m:f>
                  </m:oMath>
                </a14:m>
                <a:r>
                  <a:rPr lang="en-IN" sz="5000" b="1" dirty="0">
                    <a:solidFill>
                      <a:srgbClr val="FF0000"/>
                    </a:solidFill>
                  </a:rPr>
                  <a:t>]</a:t>
                </a:r>
              </a:p>
              <a:p>
                <a:pPr marL="0" indent="0" algn="ctr">
                  <a:buNone/>
                </a:pPr>
                <a:r>
                  <a:rPr lang="en-IN" sz="5000" b="1" dirty="0">
                    <a:solidFill>
                      <a:srgbClr val="FF0000"/>
                    </a:solidFill>
                  </a:rPr>
                  <a:t>T = RC ln [</a:t>
                </a:r>
                <a14:m>
                  <m:oMath xmlns:m="http://schemas.openxmlformats.org/officeDocument/2006/math">
                    <m:r>
                      <a:rPr lang="en-US" sz="5000" b="1" i="0" smtClean="0">
                        <a:solidFill>
                          <a:srgbClr val="FF0000"/>
                        </a:solidFill>
                        <a:latin typeface="Cambria Math" panose="02040503050406030204" pitchFamily="18" charset="0"/>
                      </a:rPr>
                      <m:t>𝟏</m:t>
                    </m:r>
                    <m:r>
                      <a:rPr lang="en-US" sz="5000" b="1" i="0" smtClean="0">
                        <a:solidFill>
                          <a:srgbClr val="FF0000"/>
                        </a:solidFill>
                        <a:latin typeface="Cambria Math" panose="02040503050406030204" pitchFamily="18" charset="0"/>
                      </a:rPr>
                      <m:t>+</m:t>
                    </m:r>
                    <m:f>
                      <m:fPr>
                        <m:ctrlPr>
                          <a:rPr lang="en-US" sz="5000" b="1" i="1" smtClean="0">
                            <a:solidFill>
                              <a:srgbClr val="FF0000"/>
                            </a:solidFill>
                            <a:latin typeface="Cambria Math" panose="02040503050406030204" pitchFamily="18" charset="0"/>
                          </a:rPr>
                        </m:ctrlPr>
                      </m:fPr>
                      <m:num>
                        <m:r>
                          <m:rPr>
                            <m:nor/>
                          </m:rPr>
                          <a:rPr lang="en-US" sz="5000" b="1" dirty="0">
                            <a:solidFill>
                              <a:srgbClr val="FF0000"/>
                            </a:solidFill>
                          </a:rPr>
                          <m:t>R</m:t>
                        </m:r>
                        <m:r>
                          <m:rPr>
                            <m:nor/>
                          </m:rPr>
                          <a:rPr lang="en-US" sz="5000" b="1" baseline="-25000" dirty="0">
                            <a:solidFill>
                              <a:srgbClr val="FF0000"/>
                            </a:solidFill>
                          </a:rPr>
                          <m:t>2</m:t>
                        </m:r>
                      </m:num>
                      <m:den>
                        <m:r>
                          <m:rPr>
                            <m:nor/>
                          </m:rPr>
                          <a:rPr lang="en-US" sz="5000" b="1" dirty="0">
                            <a:solidFill>
                              <a:srgbClr val="FF0000"/>
                            </a:solidFill>
                          </a:rPr>
                          <m:t>R</m:t>
                        </m:r>
                        <m:r>
                          <m:rPr>
                            <m:nor/>
                          </m:rPr>
                          <a:rPr lang="en-US" sz="5000" b="1" i="0" baseline="-25000" dirty="0" smtClean="0">
                            <a:solidFill>
                              <a:srgbClr val="FF0000"/>
                            </a:solidFill>
                          </a:rPr>
                          <m:t>1</m:t>
                        </m:r>
                      </m:den>
                    </m:f>
                    <m:r>
                      <a:rPr lang="en-US" sz="5000" b="1" i="1" baseline="-25000" dirty="0" smtClean="0">
                        <a:solidFill>
                          <a:srgbClr val="FF0000"/>
                        </a:solidFill>
                        <a:latin typeface="Cambria Math" panose="02040503050406030204" pitchFamily="18" charset="0"/>
                      </a:rPr>
                      <m:t> </m:t>
                    </m:r>
                  </m:oMath>
                </a14:m>
                <a:r>
                  <a:rPr lang="en-IN" sz="5000" b="1" dirty="0">
                    <a:solidFill>
                      <a:srgbClr val="FF0000"/>
                    </a:solidFill>
                  </a:rPr>
                  <a:t>]</a:t>
                </a:r>
              </a:p>
              <a:p>
                <a:pPr marL="0" indent="0" algn="ctr">
                  <a:buNone/>
                </a:pPr>
                <a:endParaRPr lang="en-IN" sz="3600" b="1" dirty="0">
                  <a:solidFill>
                    <a:srgbClr val="FF0000"/>
                  </a:solidFill>
                </a:endParaRPr>
              </a:p>
              <a:p>
                <a:pPr marL="0" indent="0">
                  <a:buNone/>
                </a:pPr>
                <a:r>
                  <a:rPr lang="en-IN" sz="3600" dirty="0"/>
                  <a:t>This is the time for which o/p becomes unstable.</a:t>
                </a:r>
              </a:p>
            </p:txBody>
          </p:sp>
        </mc:Choice>
        <mc:Fallback xmlns="">
          <p:sp>
            <p:nvSpPr>
              <p:cNvPr id="3" name="Content Placeholder 2">
                <a:extLst>
                  <a:ext uri="{FF2B5EF4-FFF2-40B4-BE49-F238E27FC236}">
                    <a16:creationId xmlns:a16="http://schemas.microsoft.com/office/drawing/2014/main" id="{D1BB34B7-CD17-53BE-525E-23FB96C4E082}"/>
                  </a:ext>
                </a:extLst>
              </p:cNvPr>
              <p:cNvSpPr>
                <a:spLocks noGrp="1" noRot="1" noChangeAspect="1" noMove="1" noResize="1" noEditPoints="1" noAdjustHandles="1" noChangeArrowheads="1" noChangeShapeType="1" noTextEdit="1"/>
              </p:cNvSpPr>
              <p:nvPr>
                <p:ph idx="1"/>
              </p:nvPr>
            </p:nvSpPr>
            <p:spPr>
              <a:xfrm>
                <a:off x="838200" y="680405"/>
                <a:ext cx="10515600" cy="5791416"/>
              </a:xfrm>
              <a:blipFill>
                <a:blip r:embed="rId2"/>
                <a:stretch>
                  <a:fillRect l="-1797"/>
                </a:stretch>
              </a:blipFill>
            </p:spPr>
            <p:txBody>
              <a:bodyPr/>
              <a:lstStyle/>
              <a:p>
                <a:r>
                  <a:rPr lang="en-IN">
                    <a:noFill/>
                  </a:rPr>
                  <a:t> </a:t>
                </a:r>
              </a:p>
            </p:txBody>
          </p:sp>
        </mc:Fallback>
      </mc:AlternateContent>
    </p:spTree>
    <p:extLst>
      <p:ext uri="{BB962C8B-B14F-4D97-AF65-F5344CB8AC3E}">
        <p14:creationId xmlns:p14="http://schemas.microsoft.com/office/powerpoint/2010/main" val="6600675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6BC4EC-9920-AE21-F4FE-BA3EE900C81F}"/>
              </a:ext>
            </a:extLst>
          </p:cNvPr>
          <p:cNvSpPr>
            <a:spLocks noGrp="1"/>
          </p:cNvSpPr>
          <p:nvPr>
            <p:ph idx="1"/>
          </p:nvPr>
        </p:nvSpPr>
        <p:spPr>
          <a:xfrm>
            <a:off x="838200" y="334176"/>
            <a:ext cx="10515600" cy="4351338"/>
          </a:xfrm>
        </p:spPr>
        <p:txBody>
          <a:bodyPr>
            <a:normAutofit/>
          </a:bodyPr>
          <a:lstStyle/>
          <a:p>
            <a:pPr algn="just"/>
            <a:r>
              <a:rPr lang="en-US" sz="3600" dirty="0"/>
              <a:t>Trigger s/g required to change the state of MMV.</a:t>
            </a:r>
          </a:p>
          <a:p>
            <a:pPr algn="just"/>
            <a:r>
              <a:rPr lang="en-US" sz="3600" dirty="0"/>
              <a:t>Duration of trigger s/g </a:t>
            </a:r>
            <a:r>
              <a:rPr lang="en-US" sz="3600" dirty="0" err="1"/>
              <a:t>shud</a:t>
            </a:r>
            <a:r>
              <a:rPr lang="en-US" sz="3600" dirty="0"/>
              <a:t> be much &lt; time period for which MMV to go into unstable state. </a:t>
            </a:r>
          </a:p>
          <a:p>
            <a:pPr algn="just"/>
            <a:r>
              <a:rPr lang="en-US" sz="3600" dirty="0"/>
              <a:t>One way to get this trigger s/g is using differentiator </a:t>
            </a:r>
            <a:r>
              <a:rPr lang="en-US" sz="3600" dirty="0" err="1"/>
              <a:t>ckt</a:t>
            </a:r>
            <a:r>
              <a:rPr lang="en-US" sz="3600" dirty="0"/>
              <a:t> .</a:t>
            </a:r>
            <a:endParaRPr lang="en-IN" sz="3600" dirty="0"/>
          </a:p>
        </p:txBody>
      </p:sp>
      <p:pic>
        <p:nvPicPr>
          <p:cNvPr id="5" name="Picture 4">
            <a:extLst>
              <a:ext uri="{FF2B5EF4-FFF2-40B4-BE49-F238E27FC236}">
                <a16:creationId xmlns:a16="http://schemas.microsoft.com/office/drawing/2014/main" id="{6592061C-573F-BC0D-2EC7-F1177C16AC4F}"/>
              </a:ext>
            </a:extLst>
          </p:cNvPr>
          <p:cNvPicPr>
            <a:picLocks noChangeAspect="1"/>
          </p:cNvPicPr>
          <p:nvPr/>
        </p:nvPicPr>
        <p:blipFill>
          <a:blip r:embed="rId2"/>
          <a:stretch>
            <a:fillRect/>
          </a:stretch>
        </p:blipFill>
        <p:spPr>
          <a:xfrm>
            <a:off x="6221851" y="3259930"/>
            <a:ext cx="5549199" cy="2726879"/>
          </a:xfrm>
          <a:prstGeom prst="rect">
            <a:avLst/>
          </a:prstGeom>
        </p:spPr>
      </p:pic>
      <p:sp>
        <p:nvSpPr>
          <p:cNvPr id="6" name="TextBox 5">
            <a:extLst>
              <a:ext uri="{FF2B5EF4-FFF2-40B4-BE49-F238E27FC236}">
                <a16:creationId xmlns:a16="http://schemas.microsoft.com/office/drawing/2014/main" id="{85D78EF2-59D3-9830-8E54-BD426A8E7D56}"/>
              </a:ext>
            </a:extLst>
          </p:cNvPr>
          <p:cNvSpPr txBox="1"/>
          <p:nvPr/>
        </p:nvSpPr>
        <p:spPr>
          <a:xfrm>
            <a:off x="1028414" y="3046866"/>
            <a:ext cx="4678532" cy="3970318"/>
          </a:xfrm>
          <a:prstGeom prst="rect">
            <a:avLst/>
          </a:prstGeom>
          <a:noFill/>
        </p:spPr>
        <p:txBody>
          <a:bodyPr wrap="square" rtlCol="0">
            <a:spAutoFit/>
          </a:bodyPr>
          <a:lstStyle/>
          <a:p>
            <a:pPr marL="571500" indent="-571500" algn="just">
              <a:buFont typeface="Arial" panose="020B0604020202020204" pitchFamily="34" charset="0"/>
              <a:buChar char="•"/>
            </a:pPr>
            <a:r>
              <a:rPr lang="en-US" sz="3600" dirty="0"/>
              <a:t>When we give a  pulse going from 0 to V, we get 2 spikes like this. But we need only (–</a:t>
            </a:r>
            <a:r>
              <a:rPr lang="en-US" sz="3600" dirty="0" err="1"/>
              <a:t>ve</a:t>
            </a:r>
            <a:r>
              <a:rPr lang="en-US" sz="3600" dirty="0"/>
              <a:t>) spike. So we go for next fig.</a:t>
            </a:r>
            <a:endParaRPr lang="en-IN" sz="3600" dirty="0"/>
          </a:p>
        </p:txBody>
      </p:sp>
    </p:spTree>
    <p:extLst>
      <p:ext uri="{BB962C8B-B14F-4D97-AF65-F5344CB8AC3E}">
        <p14:creationId xmlns:p14="http://schemas.microsoft.com/office/powerpoint/2010/main" val="792059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0F61F2-9A03-0CB4-0359-A58A1051478F}"/>
              </a:ext>
            </a:extLst>
          </p:cNvPr>
          <p:cNvSpPr>
            <a:spLocks noGrp="1"/>
          </p:cNvSpPr>
          <p:nvPr>
            <p:ph type="title"/>
          </p:nvPr>
        </p:nvSpPr>
        <p:spPr/>
        <p:txBody>
          <a:bodyPr>
            <a:normAutofit fontScale="90000"/>
          </a:bodyPr>
          <a:lstStyle/>
          <a:p>
            <a:pPr algn="just"/>
            <a:r>
              <a:rPr lang="en-US" dirty="0">
                <a:latin typeface="+mn-lt"/>
              </a:rPr>
              <a:t>T</a:t>
            </a:r>
            <a:r>
              <a:rPr lang="en-US" sz="4400" dirty="0">
                <a:latin typeface="+mn-lt"/>
              </a:rPr>
              <a:t>o get only the –</a:t>
            </a:r>
            <a:r>
              <a:rPr lang="en-US" sz="4400" dirty="0" err="1">
                <a:latin typeface="+mn-lt"/>
              </a:rPr>
              <a:t>ve</a:t>
            </a:r>
            <a:r>
              <a:rPr lang="en-US" sz="4400" dirty="0">
                <a:latin typeface="+mn-lt"/>
              </a:rPr>
              <a:t> spike as trigger s/g, use the following </a:t>
            </a:r>
            <a:r>
              <a:rPr lang="en-US" sz="4400" dirty="0" err="1">
                <a:latin typeface="+mn-lt"/>
              </a:rPr>
              <a:t>ckt</a:t>
            </a:r>
            <a:r>
              <a:rPr lang="en-US" sz="4400" dirty="0">
                <a:latin typeface="+mn-lt"/>
              </a:rPr>
              <a:t> with a diode (to eliminate +</a:t>
            </a:r>
            <a:r>
              <a:rPr lang="en-US" sz="4400" dirty="0" err="1">
                <a:latin typeface="+mn-lt"/>
              </a:rPr>
              <a:t>ve</a:t>
            </a:r>
            <a:r>
              <a:rPr lang="en-US" sz="4400" dirty="0">
                <a:latin typeface="+mn-lt"/>
              </a:rPr>
              <a:t> spike). </a:t>
            </a:r>
            <a:endParaRPr lang="en-IN" dirty="0">
              <a:latin typeface="+mn-lt"/>
            </a:endParaRPr>
          </a:p>
        </p:txBody>
      </p:sp>
      <p:pic>
        <p:nvPicPr>
          <p:cNvPr id="8" name="Content Placeholder 7">
            <a:extLst>
              <a:ext uri="{FF2B5EF4-FFF2-40B4-BE49-F238E27FC236}">
                <a16:creationId xmlns:a16="http://schemas.microsoft.com/office/drawing/2014/main" id="{3EA77CBF-42B2-A443-9ADB-6453436FC63F}"/>
              </a:ext>
            </a:extLst>
          </p:cNvPr>
          <p:cNvPicPr>
            <a:picLocks noGrp="1" noChangeAspect="1"/>
          </p:cNvPicPr>
          <p:nvPr>
            <p:ph sz="half" idx="1"/>
          </p:nvPr>
        </p:nvPicPr>
        <p:blipFill>
          <a:blip r:embed="rId2"/>
          <a:stretch>
            <a:fillRect/>
          </a:stretch>
        </p:blipFill>
        <p:spPr>
          <a:xfrm>
            <a:off x="838200" y="3033327"/>
            <a:ext cx="5181600" cy="1935933"/>
          </a:xfrm>
        </p:spPr>
      </p:pic>
      <p:pic>
        <p:nvPicPr>
          <p:cNvPr id="10" name="Content Placeholder 9">
            <a:extLst>
              <a:ext uri="{FF2B5EF4-FFF2-40B4-BE49-F238E27FC236}">
                <a16:creationId xmlns:a16="http://schemas.microsoft.com/office/drawing/2014/main" id="{10164F25-125A-DA38-112A-1E9DE37D5D37}"/>
              </a:ext>
            </a:extLst>
          </p:cNvPr>
          <p:cNvPicPr>
            <a:picLocks noGrp="1" noChangeAspect="1"/>
          </p:cNvPicPr>
          <p:nvPr>
            <p:ph sz="half" idx="2"/>
          </p:nvPr>
        </p:nvPicPr>
        <p:blipFill>
          <a:blip r:embed="rId3"/>
          <a:stretch>
            <a:fillRect/>
          </a:stretch>
        </p:blipFill>
        <p:spPr>
          <a:xfrm>
            <a:off x="6172200" y="2957940"/>
            <a:ext cx="5181600" cy="2086707"/>
          </a:xfrm>
        </p:spPr>
      </p:pic>
    </p:spTree>
    <p:extLst>
      <p:ext uri="{BB962C8B-B14F-4D97-AF65-F5344CB8AC3E}">
        <p14:creationId xmlns:p14="http://schemas.microsoft.com/office/powerpoint/2010/main" val="16504836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554C42CC-8E40-CFCE-F9FF-74B1B2EDCF0A}"/>
              </a:ext>
            </a:extLst>
          </p:cNvPr>
          <p:cNvPicPr>
            <a:picLocks noGrp="1" noChangeAspect="1"/>
          </p:cNvPicPr>
          <p:nvPr>
            <p:ph idx="1"/>
          </p:nvPr>
        </p:nvPicPr>
        <p:blipFill>
          <a:blip r:embed="rId2"/>
          <a:stretch>
            <a:fillRect/>
          </a:stretch>
        </p:blipFill>
        <p:spPr>
          <a:xfrm>
            <a:off x="761548" y="261030"/>
            <a:ext cx="10668904" cy="6335940"/>
          </a:xfrm>
        </p:spPr>
      </p:pic>
    </p:spTree>
    <p:extLst>
      <p:ext uri="{BB962C8B-B14F-4D97-AF65-F5344CB8AC3E}">
        <p14:creationId xmlns:p14="http://schemas.microsoft.com/office/powerpoint/2010/main" val="2701533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1E47-955F-2B02-C3C3-0FC73F8A64E6}"/>
              </a:ext>
            </a:extLst>
          </p:cNvPr>
          <p:cNvSpPr>
            <a:spLocks noGrp="1"/>
          </p:cNvSpPr>
          <p:nvPr>
            <p:ph type="title"/>
          </p:nvPr>
        </p:nvSpPr>
        <p:spPr>
          <a:xfrm>
            <a:off x="838200" y="365125"/>
            <a:ext cx="10738282" cy="1325563"/>
          </a:xfrm>
        </p:spPr>
        <p:txBody>
          <a:bodyPr>
            <a:noAutofit/>
          </a:bodyPr>
          <a:lstStyle/>
          <a:p>
            <a:r>
              <a:rPr lang="en-US" sz="4800" b="1" dirty="0">
                <a:solidFill>
                  <a:srgbClr val="FF0000"/>
                </a:solidFill>
              </a:rPr>
              <a:t>Q: Design a monostable MV which has time T =10ms.</a:t>
            </a:r>
            <a:endParaRPr lang="en-IN" sz="4800" b="1" dirty="0">
              <a:solidFill>
                <a:srgbClr val="FF000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5F71DC-AFC7-10CF-1765-44D054D59B67}"/>
                  </a:ext>
                </a:extLst>
              </p:cNvPr>
              <p:cNvSpPr>
                <a:spLocks noGrp="1"/>
              </p:cNvSpPr>
              <p:nvPr>
                <p:ph idx="1"/>
              </p:nvPr>
            </p:nvSpPr>
            <p:spPr/>
            <p:txBody>
              <a:bodyPr/>
              <a:lstStyle/>
              <a:p>
                <a:r>
                  <a:rPr lang="en-US" dirty="0"/>
                  <a:t>R1=R2=10K</a:t>
                </a:r>
                <a14:m>
                  <m:oMath xmlns:m="http://schemas.openxmlformats.org/officeDocument/2006/math">
                    <m:r>
                      <a:rPr lang="en-US" i="1" smtClean="0">
                        <a:latin typeface="Cambria Math" panose="02040503050406030204" pitchFamily="18" charset="0"/>
                      </a:rPr>
                      <m:t>𝛺</m:t>
                    </m:r>
                  </m:oMath>
                </a14:m>
                <a:r>
                  <a:rPr lang="en-IN" dirty="0"/>
                  <a:t> </a:t>
                </a:r>
              </a:p>
              <a:p>
                <a:r>
                  <a:rPr lang="en-IN" dirty="0"/>
                  <a:t>T =0.693 RC</a:t>
                </a:r>
              </a:p>
              <a:p>
                <a:r>
                  <a:rPr lang="en-IN" dirty="0"/>
                  <a:t>Let C=1µF</a:t>
                </a:r>
              </a:p>
              <a:p>
                <a:r>
                  <a:rPr lang="en-IN" dirty="0"/>
                  <a:t>R= 14.4k</a:t>
                </a:r>
                <a14:m>
                  <m:oMath xmlns:m="http://schemas.openxmlformats.org/officeDocument/2006/math">
                    <m:r>
                      <a:rPr lang="en-US" i="1" smtClean="0">
                        <a:latin typeface="Cambria Math" panose="02040503050406030204" pitchFamily="18" charset="0"/>
                      </a:rPr>
                      <m:t>𝛺</m:t>
                    </m:r>
                    <m:r>
                      <a:rPr lang="en-US" b="0" i="1" smtClean="0">
                        <a:latin typeface="Cambria Math" panose="02040503050406030204" pitchFamily="18" charset="0"/>
                      </a:rPr>
                      <m:t>  </m:t>
                    </m:r>
                  </m:oMath>
                </a14:m>
                <a:endParaRPr lang="en-US" b="0" dirty="0"/>
              </a:p>
              <a:p>
                <a:r>
                  <a:rPr lang="en-IN" dirty="0"/>
                  <a:t>Tune a 20K</a:t>
                </a:r>
                <a14:m>
                  <m:oMath xmlns:m="http://schemas.openxmlformats.org/officeDocument/2006/math">
                    <m:r>
                      <a:rPr lang="en-US" i="1" smtClean="0">
                        <a:latin typeface="Cambria Math" panose="02040503050406030204" pitchFamily="18" charset="0"/>
                      </a:rPr>
                      <m:t>𝛺</m:t>
                    </m:r>
                  </m:oMath>
                </a14:m>
                <a:r>
                  <a:rPr lang="en-IN" dirty="0"/>
                  <a:t> potentiometer to this value. </a:t>
                </a:r>
              </a:p>
              <a:p>
                <a:r>
                  <a:rPr lang="en-IN" dirty="0"/>
                  <a:t>If not available, use 10 k</a:t>
                </a:r>
                <a14:m>
                  <m:oMath xmlns:m="http://schemas.openxmlformats.org/officeDocument/2006/math">
                    <m:r>
                      <a:rPr lang="en-US" i="1" smtClean="0">
                        <a:latin typeface="Cambria Math" panose="02040503050406030204" pitchFamily="18" charset="0"/>
                      </a:rPr>
                      <m:t>𝛺</m:t>
                    </m:r>
                  </m:oMath>
                </a14:m>
                <a:r>
                  <a:rPr lang="en-IN" dirty="0"/>
                  <a:t> pot. in series with 10K</a:t>
                </a:r>
                <a14:m>
                  <m:oMath xmlns:m="http://schemas.openxmlformats.org/officeDocument/2006/math">
                    <m:r>
                      <a:rPr lang="en-US" i="1">
                        <a:latin typeface="Cambria Math" panose="02040503050406030204" pitchFamily="18" charset="0"/>
                      </a:rPr>
                      <m:t>𝛺</m:t>
                    </m:r>
                  </m:oMath>
                </a14:m>
                <a:r>
                  <a:rPr lang="en-IN" dirty="0"/>
                  <a:t> resistor and tune pot.to 4.4k</a:t>
                </a:r>
                <a14:m>
                  <m:oMath xmlns:m="http://schemas.openxmlformats.org/officeDocument/2006/math">
                    <m:r>
                      <a:rPr lang="en-US" i="1">
                        <a:latin typeface="Cambria Math" panose="02040503050406030204" pitchFamily="18" charset="0"/>
                      </a:rPr>
                      <m:t>𝛺</m:t>
                    </m:r>
                  </m:oMath>
                </a14:m>
                <a:r>
                  <a:rPr lang="en-IN" dirty="0"/>
                  <a:t> value.</a:t>
                </a:r>
              </a:p>
            </p:txBody>
          </p:sp>
        </mc:Choice>
        <mc:Fallback xmlns="">
          <p:sp>
            <p:nvSpPr>
              <p:cNvPr id="3" name="Content Placeholder 2">
                <a:extLst>
                  <a:ext uri="{FF2B5EF4-FFF2-40B4-BE49-F238E27FC236}">
                    <a16:creationId xmlns:a16="http://schemas.microsoft.com/office/drawing/2014/main" id="{8D5F71DC-AFC7-10CF-1765-44D054D59B6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042986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1747</Words>
  <Application>Microsoft Office PowerPoint</Application>
  <PresentationFormat>Widescreen</PresentationFormat>
  <Paragraphs>162</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Cambria Math</vt:lpstr>
      <vt:lpstr>Roboto</vt:lpstr>
      <vt:lpstr>Office Theme</vt:lpstr>
      <vt:lpstr>MULTIVIBRATOR</vt:lpstr>
      <vt:lpstr>PowerPoint Presentation</vt:lpstr>
      <vt:lpstr>Astable Multivibrator</vt:lpstr>
      <vt:lpstr>PowerPoint Presentation</vt:lpstr>
      <vt:lpstr>Monostable Multivibrator (One shot MV)</vt:lpstr>
      <vt:lpstr>PowerPoint Presentation</vt:lpstr>
      <vt:lpstr>Bistable Multivibrator</vt:lpstr>
      <vt:lpstr>PowerPoint Presentation</vt:lpstr>
      <vt:lpstr>PowerPoint Presentation</vt:lpstr>
      <vt:lpstr>SQUARE WAVE GENERATOR (ASTABLE MULTIVIBRATOR)</vt:lpstr>
      <vt:lpstr>PowerPoint Presentation</vt:lpstr>
      <vt:lpstr>PowerPoint Presentation</vt:lpstr>
      <vt:lpstr>PowerPoint Presentation</vt:lpstr>
      <vt:lpstr>PowerPoint Presentation</vt:lpstr>
      <vt:lpstr>PowerPoint Presentation</vt:lpstr>
      <vt:lpstr>Working</vt:lpstr>
      <vt:lpstr>PowerPoint Presentation</vt:lpstr>
      <vt:lpstr>PowerPoint Presentation</vt:lpstr>
      <vt:lpstr>PowerPoint Presentation</vt:lpstr>
      <vt:lpstr>Derivation</vt:lpstr>
      <vt:lpstr>PowerPoint Presentation</vt:lpstr>
      <vt:lpstr>Vc(t1) = Vsat + [- β Vsat – Vsat ] e^"–t1/RC"   </vt:lpstr>
      <vt:lpstr>PowerPoint Presentation</vt:lpstr>
      <vt:lpstr>PowerPoint Presentation</vt:lpstr>
      <vt:lpstr>Vc(t2) = -Vsat + [β Vsat + Vsat ] e^"–t2/RC"   </vt:lpstr>
      <vt:lpstr>Time period of square wave T = t1 + t2</vt:lpstr>
      <vt:lpstr>Q: Design astable MV having freq of 1 KHz.</vt:lpstr>
      <vt:lpstr>Monostable Multivibrator</vt:lpstr>
      <vt:lpstr>PowerPoint Presentation</vt:lpstr>
      <vt:lpstr>PowerPoint Presentation</vt:lpstr>
      <vt:lpstr>Working Principle</vt:lpstr>
      <vt:lpstr>PowerPoint Presentation</vt:lpstr>
      <vt:lpstr>PowerPoint Presentation</vt:lpstr>
      <vt:lpstr>PowerPoint Presentation</vt:lpstr>
      <vt:lpstr>PowerPoint Presentation</vt:lpstr>
      <vt:lpstr>Derivation</vt:lpstr>
      <vt:lpstr>Vc(t) = Vfinal + [ Vinitial – Vfinal ] e^"–t/RC"   </vt:lpstr>
      <vt:lpstr>T = RC ln("1" /("1-" β)) </vt:lpstr>
      <vt:lpstr>PowerPoint Presentation</vt:lpstr>
      <vt:lpstr>PowerPoint Presentation</vt:lpstr>
      <vt:lpstr>To get only the –ve spike as trigger s/g, use the following ckt with a diode (to eliminate +ve spike). </vt:lpstr>
      <vt:lpstr>PowerPoint Presentation</vt:lpstr>
      <vt:lpstr>Q: Design a monostable MV which has time T =10ms.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MULTIVIBRATOR</dc:title>
  <dc:creator>S R</dc:creator>
  <cp:lastModifiedBy>S R</cp:lastModifiedBy>
  <cp:revision>1</cp:revision>
  <dcterms:created xsi:type="dcterms:W3CDTF">2023-11-03T16:41:55Z</dcterms:created>
  <dcterms:modified xsi:type="dcterms:W3CDTF">2023-11-03T16:42:38Z</dcterms:modified>
</cp:coreProperties>
</file>